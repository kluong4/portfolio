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9" r:id="rId3"/>
    <p:sldId id="257" r:id="rId4"/>
    <p:sldId id="271" r:id="rId5"/>
    <p:sldId id="270" r:id="rId6"/>
    <p:sldId id="259" r:id="rId7"/>
    <p:sldId id="272" r:id="rId8"/>
    <p:sldId id="273" r:id="rId9"/>
    <p:sldId id="274" r:id="rId10"/>
    <p:sldId id="260" r:id="rId11"/>
    <p:sldId id="261" r:id="rId12"/>
    <p:sldId id="275" r:id="rId13"/>
    <p:sldId id="264" r:id="rId14"/>
    <p:sldId id="265" r:id="rId15"/>
    <p:sldId id="268" r:id="rId16"/>
    <p:sldId id="266" r:id="rId17"/>
    <p:sldId id="267" r:id="rId18"/>
    <p:sldId id="27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08"/>
    <p:restoredTop sz="77182"/>
  </p:normalViewPr>
  <p:slideViewPr>
    <p:cSldViewPr snapToGrid="0" snapToObjects="1">
      <p:cViewPr varScale="1">
        <p:scale>
          <a:sx n="71" d="100"/>
          <a:sy n="71" d="100"/>
        </p:scale>
        <p:origin x="9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500" b="0" i="0" u="none" strike="noStrike">
                <a:solidFill>
                  <a:srgbClr val="1E2761"/>
                </a:solidFill>
                <a:latin typeface="Arial"/>
              </a:defRPr>
            </a:pPr>
            <a:r>
              <a:rPr lang="en-US" sz="1500" b="0" i="0" u="none" strike="noStrike">
                <a:solidFill>
                  <a:srgbClr val="1E2761"/>
                </a:solidFill>
                <a:latin typeface="Arial"/>
              </a:rPr>
              <a:t>Ancestry of GWAS Participants</a:t>
            </a:r>
          </a:p>
        </c:rich>
      </c:tx>
      <c:overlay val="0"/>
    </c:title>
    <c:autoTitleDeleted val="0"/>
    <c:plotArea>
      <c:layout/>
      <c:pieChart>
        <c:varyColors val="1"/>
        <c:ser>
          <c:idx val="0"/>
          <c:order val="0"/>
          <c:tx>
            <c:strRef>
              <c:f>Sheet1!$B$1</c:f>
              <c:strCache>
                <c:ptCount val="1"/>
                <c:pt idx="0">
                  <c:v>Ancestry</c:v>
                </c:pt>
              </c:strCache>
            </c:strRef>
          </c:tx>
          <c:spPr>
            <a:solidFill>
              <a:schemeClr val="accent1"/>
            </a:solidFill>
            <a:ln w="9525" cap="flat">
              <a:solidFill>
                <a:srgbClr val="F9F9F9"/>
              </a:solidFill>
              <a:prstDash val="solid"/>
              <a:round/>
            </a:ln>
            <a:effectLst/>
          </c:spPr>
          <c:dPt>
            <c:idx val="0"/>
            <c:bubble3D val="0"/>
            <c:spPr>
              <a:solidFill>
                <a:schemeClr val="accent6">
                  <a:lumMod val="60000"/>
                  <a:lumOff val="40000"/>
                </a:schemeClr>
              </a:solidFill>
              <a:ln>
                <a:solidFill>
                  <a:schemeClr val="tx1"/>
                </a:solidFill>
              </a:ln>
              <a:effectLst/>
            </c:spPr>
            <c:extLst>
              <c:ext xmlns:c16="http://schemas.microsoft.com/office/drawing/2014/chart" uri="{C3380CC4-5D6E-409C-BE32-E72D297353CC}">
                <c16:uniqueId val="{00000001-72EE-0D4D-AEDE-9091F4D521E8}"/>
              </c:ext>
            </c:extLst>
          </c:dPt>
          <c:dPt>
            <c:idx val="1"/>
            <c:bubble3D val="0"/>
            <c:spPr>
              <a:solidFill>
                <a:schemeClr val="accent2">
                  <a:lumMod val="60000"/>
                  <a:lumOff val="40000"/>
                </a:schemeClr>
              </a:solidFill>
              <a:ln>
                <a:solidFill>
                  <a:schemeClr val="tx1"/>
                </a:solidFill>
              </a:ln>
              <a:effectLst/>
            </c:spPr>
            <c:extLst>
              <c:ext xmlns:c16="http://schemas.microsoft.com/office/drawing/2014/chart" uri="{C3380CC4-5D6E-409C-BE32-E72D297353CC}">
                <c16:uniqueId val="{00000003-72EE-0D4D-AEDE-9091F4D521E8}"/>
              </c:ext>
            </c:extLst>
          </c:dPt>
          <c:cat>
            <c:strRef>
              <c:f>Sheet1!$A$2:$A$3</c:f>
              <c:strCache>
                <c:ptCount val="2"/>
                <c:pt idx="0">
                  <c:v>European ancestry</c:v>
                </c:pt>
                <c:pt idx="1">
                  <c:v>All other ancestries combined</c:v>
                </c:pt>
              </c:strCache>
            </c:strRef>
          </c:cat>
          <c:val>
            <c:numRef>
              <c:f>Sheet1!$B$2:$B$3</c:f>
              <c:numCache>
                <c:formatCode>General</c:formatCode>
                <c:ptCount val="2"/>
                <c:pt idx="0">
                  <c:v>91</c:v>
                </c:pt>
                <c:pt idx="1">
                  <c:v>9</c:v>
                </c:pt>
              </c:numCache>
            </c:numRef>
          </c:val>
          <c:extLst>
            <c:ext xmlns:c16="http://schemas.microsoft.com/office/drawing/2014/chart" uri="{C3380CC4-5D6E-409C-BE32-E72D297353CC}">
              <c16:uniqueId val="{00000004-72EE-0D4D-AEDE-9091F4D521E8}"/>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300">
              <a:solidFill>
                <a:srgbClr val="22222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3396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Hello, I'm Kim Luong. Today I'll present my study on why a diabetes risk score built from European genetic data performs poorly in South Asian populations, and what's actually driving that failure.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A polygenic risk score works like a weather forecast for your health. Scientists scan the genomes of thousands of people to find small genetic differences linked to a disease, then add up thousands of these signals into one number that estimates personal risk — ideally, years before diabetes develops.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Type 2 diabetes is projected to affect 783 million people by 2045, and Central and South Asian populations carry some of the highest rates in the world. Yet 91 percent of participants in the genetic studies behind these risk scores are of European ancestry. The population that needs this tool most is among the least represented in the data used to build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Two known mechanisms explain why European-built risk scores often fail elsewhere. Disease-linked variants can differ in frequency across populations, and the patterns of linkage</a:t>
            </a:r>
            <a:r>
              <a:rPr lang="en-US" dirty="0"/>
              <a:t>, </a:t>
            </a:r>
            <a:r>
              <a:rPr dirty="0"/>
              <a:t>nearby variants inherited together</a:t>
            </a:r>
            <a:r>
              <a:rPr lang="en-US" dirty="0"/>
              <a:t>, </a:t>
            </a:r>
            <a:r>
              <a:rPr dirty="0"/>
              <a:t>called linkage disequilibrium</a:t>
            </a:r>
            <a:r>
              <a:rPr lang="en-US" dirty="0"/>
              <a:t>, </a:t>
            </a:r>
            <a:r>
              <a:rPr dirty="0"/>
              <a:t>also differ by ancestry. Together, prior research attributes </a:t>
            </a:r>
            <a:r>
              <a:rPr lang="en-US" dirty="0"/>
              <a:t>70-80%</a:t>
            </a:r>
            <a:r>
              <a:rPr dirty="0"/>
              <a:t> of cross-ancestry accuracy loss to these two factors.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C4B17-CF3F-8AC6-AA84-B6385875B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5DB13-D31B-BD63-7164-655897CCB4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8301D2-E526-E203-B35F-E2EF2CF2C50D}"/>
              </a:ext>
            </a:extLst>
          </p:cNvPr>
          <p:cNvSpPr>
            <a:spLocks noGrp="1"/>
          </p:cNvSpPr>
          <p:nvPr>
            <p:ph type="body" idx="1"/>
          </p:nvPr>
        </p:nvSpPr>
        <p:spPr/>
        <p:txBody>
          <a:bodyPr/>
          <a:lstStyle/>
          <a:p>
            <a:r>
              <a:rPr dirty="0"/>
              <a:t>So why do these scores fail in South Asian populations specifically? Three possibilities: the disease biology genuinely differs, there's a technical flaw in how the score is built, or there simply isn't enough South Asian data yet. Our hypothesis: limited discovery data, not different biology, is the dominant driver — and the fix depends entirely on which is true.</a:t>
            </a:r>
          </a:p>
        </p:txBody>
      </p:sp>
      <p:sp>
        <p:nvSpPr>
          <p:cNvPr id="4" name="Slide Number Placeholder 3">
            <a:extLst>
              <a:ext uri="{FF2B5EF4-FFF2-40B4-BE49-F238E27FC236}">
                <a16:creationId xmlns:a16="http://schemas.microsoft.com/office/drawing/2014/main" id="{033A30C2-0F49-0CBC-F8F4-E3D35125936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69830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Here's the overall design: public genetic data, quality control, four score configurations, and five ways of testing whether the score transfers across populations.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502D3-13C4-C557-AB7E-6F7CA78D3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B534D-3AD4-7085-39DD-2B0B7F628B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52A146-7EB8-E859-FF4F-129C8F0130AC}"/>
              </a:ext>
            </a:extLst>
          </p:cNvPr>
          <p:cNvSpPr>
            <a:spLocks noGrp="1"/>
          </p:cNvSpPr>
          <p:nvPr>
            <p:ph type="body" idx="1"/>
          </p:nvPr>
        </p:nvSpPr>
        <p:spPr/>
        <p:txBody>
          <a:bodyPr/>
          <a:lstStyle/>
          <a:p>
            <a:r>
              <a:rPr dirty="0"/>
              <a:t>I used publicly available genetic summary data for European and South Asian groups, both defined by the same type 2 diabetes diagnosis code. Individual genotypes came from the 1000 Genomes Project, used as ancestry-matched reference samples.</a:t>
            </a:r>
          </a:p>
        </p:txBody>
      </p:sp>
      <p:sp>
        <p:nvSpPr>
          <p:cNvPr id="4" name="Slide Number Placeholder 3">
            <a:extLst>
              <a:ext uri="{FF2B5EF4-FFF2-40B4-BE49-F238E27FC236}">
                <a16:creationId xmlns:a16="http://schemas.microsoft.com/office/drawing/2014/main" id="{785C2862-69D3-C680-C69D-2CB04978929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34727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77FBB-5E45-A8A5-8E10-03599DBD4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AFD10-3E13-3703-B54C-AA8E7A488D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9B5459-FFE4-14B2-F5DC-169FEFEC250C}"/>
              </a:ext>
            </a:extLst>
          </p:cNvPr>
          <p:cNvSpPr>
            <a:spLocks noGrp="1"/>
          </p:cNvSpPr>
          <p:nvPr>
            <p:ph type="body" idx="1"/>
          </p:nvPr>
        </p:nvSpPr>
        <p:spPr/>
        <p:txBody>
          <a:bodyPr/>
          <a:lstStyle/>
          <a:p>
            <a:r>
              <a:rPr dirty="0"/>
              <a:t>Before scoring, both datasets went through quality control. I removed low-confidence variants from the summary data, leaving about 11.2 million, and filtered the genotypes separately by population, leaving 1.42 million shared variants. A principal component analysis confirmed ancestry and flagged outliers, leaving 503 European and 478 South Asian individuals for scoring.</a:t>
            </a:r>
          </a:p>
        </p:txBody>
      </p:sp>
      <p:sp>
        <p:nvSpPr>
          <p:cNvPr id="4" name="Slide Number Placeholder 3">
            <a:extLst>
              <a:ext uri="{FF2B5EF4-FFF2-40B4-BE49-F238E27FC236}">
                <a16:creationId xmlns:a16="http://schemas.microsoft.com/office/drawing/2014/main" id="{D8B4DB35-641D-5725-ADC5-7279FB9E0F1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86077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FC582-57A8-B9FC-7C6A-18A85C00F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4D4D1-B8A4-E719-0335-EAB79D244D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F40DB5-6D95-797F-3CC1-6C8F4264DB25}"/>
              </a:ext>
            </a:extLst>
          </p:cNvPr>
          <p:cNvSpPr>
            <a:spLocks noGrp="1"/>
          </p:cNvSpPr>
          <p:nvPr>
            <p:ph type="body" idx="1"/>
          </p:nvPr>
        </p:nvSpPr>
        <p:spPr/>
        <p:txBody>
          <a:bodyPr/>
          <a:lstStyle/>
          <a:p>
            <a:r>
              <a:rPr dirty="0"/>
              <a:t>I built scores two ways. Clumping and thresholding sums a set of near-independent variants. LDpred2-inf instead models all variants genome-wide at once, using each population's own linkage patterns and a heritability estimate. Critically, I built four configurations that mix effect sizes and linkage references across ancestries, so I could isolate what actually drives any miscalibration.</a:t>
            </a:r>
          </a:p>
        </p:txBody>
      </p:sp>
      <p:sp>
        <p:nvSpPr>
          <p:cNvPr id="4" name="Slide Number Placeholder 3">
            <a:extLst>
              <a:ext uri="{FF2B5EF4-FFF2-40B4-BE49-F238E27FC236}">
                <a16:creationId xmlns:a16="http://schemas.microsoft.com/office/drawing/2014/main" id="{3B35BAF7-6DEE-6418-C10E-151A9487569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39857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I evaluated transferability five ways: how far the score distribution shifts between populations; how over- or under-represented high-risk individuals are in each risk decile; how well European- and South-Asian-derived scores agree at the individual level; whether individual gene regions show different effects between populations; and whether the overall genetic architecture is shared or diverges genome-wide.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Under both methods, European-derived scores shifted the South Asian distribution up by about 1.3 standard deviations. Swapping in a South-Asian-matched linkage reference only modestly narrowed that, from 1.32 to 1.19 — so the reference panel isn't the main driver. Using South-Asian-derived effect sizes instead sent the shift to 5.55, with a much noisier spread, because those estimates come from a study of only about 1,600 cases. LDpred2-inf shows the same cause differently — its distribution collapses instead of widening, since it shrinks effects using a noisier heritability estimate. Different symptoms, same root cause: too little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947D9-91C3-45D9-4242-BEB25110CF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ADA59-215B-2F19-7037-79EDB330BA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B32EAF-0FED-8B66-BC1E-9CB180C818DD}"/>
              </a:ext>
            </a:extLst>
          </p:cNvPr>
          <p:cNvSpPr>
            <a:spLocks noGrp="1"/>
          </p:cNvSpPr>
          <p:nvPr>
            <p:ph type="body" idx="1"/>
          </p:nvPr>
        </p:nvSpPr>
        <p:spPr/>
        <p:txBody>
          <a:bodyPr/>
          <a:lstStyle/>
          <a:p>
            <a:r>
              <a:rPr dirty="0"/>
              <a:t>The clinical consequence: South Asian individuals were nearly absent from the lowest risk deciles, and about four-fold overrepresented in the highest. A clinician using this score unadjusted would flag far too many South Asian patients as high-risk, and almost none as low-risk.</a:t>
            </a:r>
          </a:p>
        </p:txBody>
      </p:sp>
      <p:sp>
        <p:nvSpPr>
          <p:cNvPr id="4" name="Slide Number Placeholder 3">
            <a:extLst>
              <a:ext uri="{FF2B5EF4-FFF2-40B4-BE49-F238E27FC236}">
                <a16:creationId xmlns:a16="http://schemas.microsoft.com/office/drawing/2014/main" id="{A106D2A9-D45A-0849-E02D-B1747FD3741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132938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If the scores disagree this completely, is the underlying biology different? I tested that directly with genome-wide genetic correlation, and it was high — 1.27, essentially indistinguishable from complete sharing — with similar heritability in both groups. The scores disagree individually, but the biology they're both trying to capture is the same.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What reconciles shared biology with such poor agreement? Statistical power. Agreement between European and South Asian effect estimates rose from 64 percent at weakly-powered loci to 100 percent at well-powered ones. Across nearly 8,800 loci — including the strongest known diabetes gene — none showed a real difference. This isn't biology; it's what happens when you estimate small effects from a small sample.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Allele frequency and linkage differences do contribute, but only partly. Most risk variants had similar frequencies across populations, though some diverged substantially. And swapping in a South-Asian-matched linkage reference narrowed the shift from 1.32 to 1.19 standard deviations — real, but nowhere near enough to close the gap.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So, here's where this lands. The miscalibration is real and consequential — the whole distribution shifted, and nearly four times too many South Asians were flagged high-risk. That's not because the biology differs: genetic correlation was 1.27, essentially fully shared, with zero real differences across nearly 8,800 loci. It's also not simply the algorithm — LDpred2-inf models linkage far more carefully than clumping and thresholding, yet transferred no better. What's left is the data. Expanding South Asian-specific genetic studies, not building a smarter model, is the most direct path to equitable diabetes risk prediction.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A few limitations: the 1000 Genomes panel has no clinical outcome data, so I measured transferability at the genotype level, not real predictive accuracy — and 'South Asian' here collapses real population diversity. Going forward, efforts like </a:t>
            </a:r>
            <a:r>
              <a:rPr lang="en-US" dirty="0"/>
              <a:t>the South Asian Type 2 Diabetes Consortium or </a:t>
            </a:r>
            <a:r>
              <a:rPr dirty="0"/>
              <a:t>the South Asia Biobank could expand South Asian case numbers well beyond what I had, paired with larger clinical cohorts to test real-world performance.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Thank you.</a:t>
            </a:r>
          </a:p>
        </p:txBody>
      </p:sp>
    </p:spTree>
    <p:extLst>
      <p:ext uri="{BB962C8B-B14F-4D97-AF65-F5344CB8AC3E}">
        <p14:creationId xmlns:p14="http://schemas.microsoft.com/office/powerpoint/2010/main" val="2188995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5C"/>
        </a:solidFill>
        <a:effectLst/>
      </p:bgPr>
    </p:bg>
    <p:spTree>
      <p:nvGrpSpPr>
        <p:cNvPr id="1" name=""/>
        <p:cNvGrpSpPr/>
        <p:nvPr/>
      </p:nvGrpSpPr>
      <p:grpSpPr>
        <a:xfrm>
          <a:off x="0" y="0"/>
          <a:ext cx="0" cy="0"/>
          <a:chOff x="0" y="0"/>
          <a:chExt cx="0" cy="0"/>
        </a:xfrm>
      </p:grpSpPr>
      <p:sp>
        <p:nvSpPr>
          <p:cNvPr id="2" name="Shape 0"/>
          <p:cNvSpPr/>
          <p:nvPr/>
        </p:nvSpPr>
        <p:spPr>
          <a:xfrm>
            <a:off x="8869680" y="548640"/>
            <a:ext cx="3108960" cy="3108960"/>
          </a:xfrm>
          <a:prstGeom prst="ellipse">
            <a:avLst/>
          </a:prstGeom>
          <a:solidFill>
            <a:srgbClr val="2F3C7E">
              <a:alpha val="70000"/>
            </a:srgbClr>
          </a:solidFill>
          <a:ln/>
        </p:spPr>
        <p:txBody>
          <a:bodyPr/>
          <a:lstStyle/>
          <a:p>
            <a:endParaRPr lang="en-US"/>
          </a:p>
        </p:txBody>
      </p:sp>
      <p:sp>
        <p:nvSpPr>
          <p:cNvPr id="3" name="Shape 1"/>
          <p:cNvSpPr/>
          <p:nvPr/>
        </p:nvSpPr>
        <p:spPr>
          <a:xfrm>
            <a:off x="10149840" y="1463040"/>
            <a:ext cx="2377440" cy="2377440"/>
          </a:xfrm>
          <a:prstGeom prst="ellipse">
            <a:avLst/>
          </a:prstGeom>
          <a:solidFill>
            <a:srgbClr val="F96167">
              <a:alpha val="85000"/>
            </a:srgbClr>
          </a:solidFill>
          <a:ln/>
        </p:spPr>
        <p:txBody>
          <a:bodyPr/>
          <a:lstStyle/>
          <a:p>
            <a:endParaRPr lang="en-US"/>
          </a:p>
        </p:txBody>
      </p:sp>
      <p:sp>
        <p:nvSpPr>
          <p:cNvPr id="4" name="Text 2"/>
          <p:cNvSpPr/>
          <p:nvPr/>
        </p:nvSpPr>
        <p:spPr>
          <a:xfrm>
            <a:off x="548640" y="640080"/>
            <a:ext cx="8686800" cy="365760"/>
          </a:xfrm>
          <a:prstGeom prst="rect">
            <a:avLst/>
          </a:prstGeom>
          <a:noFill/>
          <a:ln/>
        </p:spPr>
        <p:txBody>
          <a:bodyPr wrap="square" rtlCol="0" anchor="ctr"/>
          <a:lstStyle/>
          <a:p>
            <a:pPr marL="0" indent="0">
              <a:buNone/>
            </a:pPr>
            <a:r>
              <a:rPr lang="en-US" sz="1300" b="1" kern="0" spc="200" dirty="0">
                <a:solidFill>
                  <a:srgbClr val="F9E795"/>
                </a:solidFill>
                <a:latin typeface="Calibri" pitchFamily="34" charset="0"/>
                <a:ea typeface="Calibri" pitchFamily="34" charset="-122"/>
                <a:cs typeface="Calibri" pitchFamily="34" charset="-120"/>
              </a:rPr>
              <a:t>TYPE 2 DIABETES  •  POLYGENIC RISK SCORES  •  HEALTH EQUITY</a:t>
            </a:r>
            <a:endParaRPr lang="en-US" sz="1300" dirty="0"/>
          </a:p>
        </p:txBody>
      </p:sp>
      <p:sp>
        <p:nvSpPr>
          <p:cNvPr id="5" name="Text 3"/>
          <p:cNvSpPr/>
          <p:nvPr/>
        </p:nvSpPr>
        <p:spPr>
          <a:xfrm>
            <a:off x="548640" y="1143000"/>
            <a:ext cx="8778240" cy="2377440"/>
          </a:xfrm>
          <a:prstGeom prst="rect">
            <a:avLst/>
          </a:prstGeom>
          <a:noFill/>
          <a:ln/>
        </p:spPr>
        <p:txBody>
          <a:bodyPr wrap="square" rtlCol="0" anchor="t"/>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 Secondary Analysis: Cross-Ancestry Transferability of European Type 2 Diabetes Risk Scores to South Asian Populations</a:t>
            </a:r>
            <a:endParaRPr lang="en-US" sz="3400" dirty="0"/>
          </a:p>
        </p:txBody>
      </p:sp>
      <p:sp>
        <p:nvSpPr>
          <p:cNvPr id="6" name="Text 4"/>
          <p:cNvSpPr/>
          <p:nvPr/>
        </p:nvSpPr>
        <p:spPr>
          <a:xfrm>
            <a:off x="548640" y="5212080"/>
            <a:ext cx="7772400" cy="1097280"/>
          </a:xfrm>
          <a:prstGeom prst="rect">
            <a:avLst/>
          </a:prstGeom>
          <a:noFill/>
          <a:ln/>
        </p:spPr>
        <p:txBody>
          <a:bodyPr wrap="square" rtlCol="0" anchor="ctr"/>
          <a:lstStyle/>
          <a:p>
            <a:pPr marL="0" indent="0">
              <a:lnSpc>
                <a:spcPct val="130000"/>
              </a:lnSpc>
              <a:buNone/>
            </a:pPr>
            <a:r>
              <a:rPr lang="en-US" sz="1500" b="1" dirty="0">
                <a:solidFill>
                  <a:srgbClr val="F7F7FA"/>
                </a:solidFill>
                <a:latin typeface="Calibri" pitchFamily="34" charset="0"/>
                <a:ea typeface="Calibri" pitchFamily="34" charset="-122"/>
                <a:cs typeface="Calibri" pitchFamily="34" charset="-120"/>
              </a:rPr>
              <a:t>Kim Luong, B.S.</a:t>
            </a:r>
            <a:endParaRPr lang="en-US" sz="1500" dirty="0"/>
          </a:p>
          <a:p>
            <a:pPr marL="0" indent="0">
              <a:lnSpc>
                <a:spcPct val="130000"/>
              </a:lnSpc>
              <a:buNone/>
            </a:pPr>
            <a:r>
              <a:rPr lang="en-US" sz="1500" dirty="0">
                <a:solidFill>
                  <a:srgbClr val="F7F7FA"/>
                </a:solidFill>
                <a:latin typeface="Calibri" pitchFamily="34" charset="0"/>
                <a:ea typeface="Calibri" pitchFamily="34" charset="-122"/>
                <a:cs typeface="Calibri" pitchFamily="34" charset="-120"/>
              </a:rPr>
              <a:t>McWilliams School of Biomedical Informatics, UTHealth Houston</a:t>
            </a:r>
            <a:endParaRPr lang="en-US" sz="1500" dirty="0"/>
          </a:p>
          <a:p>
            <a:pPr marL="0" indent="0">
              <a:lnSpc>
                <a:spcPct val="130000"/>
              </a:lnSpc>
              <a:buNone/>
            </a:pPr>
            <a:r>
              <a:rPr lang="en-US" sz="1500" dirty="0">
                <a:solidFill>
                  <a:srgbClr val="F7F7FA"/>
                </a:solidFill>
                <a:latin typeface="Calibri" pitchFamily="34" charset="0"/>
                <a:ea typeface="Calibri" pitchFamily="34" charset="-122"/>
                <a:cs typeface="Calibri" pitchFamily="34" charset="-120"/>
              </a:rPr>
              <a:t>BMI 6313: Scientific Writing in Healthcare  |  Dr. Lex Frieden</a:t>
            </a:r>
            <a:endParaRPr lang="en-US" sz="1500" dirty="0"/>
          </a:p>
        </p:txBody>
      </p:sp>
      <p:pic>
        <p:nvPicPr>
          <p:cNvPr id="7" name="Picture 6">
            <a:extLst>
              <a:ext uri="{FF2B5EF4-FFF2-40B4-BE49-F238E27FC236}">
                <a16:creationId xmlns:a16="http://schemas.microsoft.com/office/drawing/2014/main" id="{1B898C3A-A3ED-F6BD-676A-1F9E089B7401}"/>
              </a:ext>
            </a:extLst>
          </p:cNvPr>
          <p:cNvPicPr>
            <a:picLocks noChangeAspect="1"/>
          </p:cNvPicPr>
          <p:nvPr/>
        </p:nvPicPr>
        <p:blipFill>
          <a:blip r:embed="rId3"/>
          <a:srcRect l="10141" t="15489" r="11472" b="16260"/>
          <a:stretch>
            <a:fillRect/>
          </a:stretch>
        </p:blipFill>
        <p:spPr>
          <a:xfrm>
            <a:off x="9235440" y="548640"/>
            <a:ext cx="2310392" cy="30137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1E2761"/>
          </a:solidFill>
          <a:ln/>
        </p:spPr>
        <p:txBody>
          <a:bodyPr/>
          <a:lstStyle/>
          <a:p>
            <a:endParaRPr lang="en-US"/>
          </a:p>
        </p:txBody>
      </p:sp>
      <p:pic>
        <p:nvPicPr>
          <p:cNvPr id="3" name="Image 0" descr="/home/claude/icon_dna.png"/>
          <p:cNvPicPr>
            <a:picLocks noChangeAspect="1"/>
          </p:cNvPicPr>
          <p:nvPr/>
        </p:nvPicPr>
        <p:blipFill>
          <a:blip r:embed="rId3"/>
          <a:stretch>
            <a:fillRect/>
          </a:stretch>
        </p:blipFill>
        <p:spPr>
          <a:xfrm>
            <a:off x="730606" y="639166"/>
            <a:ext cx="641909" cy="641909"/>
          </a:xfrm>
          <a:prstGeom prst="rect">
            <a:avLst/>
          </a:prstGeom>
        </p:spPr>
      </p:pic>
      <p:sp>
        <p:nvSpPr>
          <p:cNvPr id="4" name="Text 1"/>
          <p:cNvSpPr/>
          <p:nvPr/>
        </p:nvSpPr>
        <p:spPr>
          <a:xfrm>
            <a:off x="1737360" y="502920"/>
            <a:ext cx="9811512" cy="9144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 Genetic Weather Forecast for Disease</a:t>
            </a:r>
            <a:endParaRPr lang="en-US" sz="3000" dirty="0"/>
          </a:p>
        </p:txBody>
      </p:sp>
      <p:sp>
        <p:nvSpPr>
          <p:cNvPr id="5" name="Shape 2"/>
          <p:cNvSpPr/>
          <p:nvPr/>
        </p:nvSpPr>
        <p:spPr>
          <a:xfrm>
            <a:off x="822960" y="2148840"/>
            <a:ext cx="3246120" cy="3291840"/>
          </a:xfrm>
          <a:prstGeom prst="roundRect">
            <a:avLst>
              <a:gd name="adj" fmla="val 3380"/>
            </a:avLst>
          </a:prstGeom>
          <a:solidFill>
            <a:schemeClr val="accent4">
              <a:lumMod val="20000"/>
              <a:lumOff val="80000"/>
            </a:schemeClr>
          </a:solidFill>
          <a:ln w="12700">
            <a:solidFill>
              <a:srgbClr val="CADCFC"/>
            </a:solidFill>
            <a:prstDash val="solid"/>
          </a:ln>
        </p:spPr>
        <p:txBody>
          <a:bodyPr/>
          <a:lstStyle/>
          <a:p>
            <a:endParaRPr lang="en-US"/>
          </a:p>
        </p:txBody>
      </p:sp>
      <p:sp>
        <p:nvSpPr>
          <p:cNvPr id="6" name="Text 3"/>
          <p:cNvSpPr/>
          <p:nvPr/>
        </p:nvSpPr>
        <p:spPr>
          <a:xfrm>
            <a:off x="1051560" y="2377440"/>
            <a:ext cx="2788920" cy="365760"/>
          </a:xfrm>
          <a:prstGeom prst="rect">
            <a:avLst/>
          </a:prstGeom>
          <a:noFill/>
          <a:ln/>
        </p:spPr>
        <p:txBody>
          <a:bodyPr wrap="square" rtlCol="0" anchor="ctr"/>
          <a:lstStyle/>
          <a:p>
            <a:pPr marL="0" indent="0">
              <a:buNone/>
            </a:pPr>
            <a:r>
              <a:rPr lang="en-US" sz="2400" b="1" kern="0" spc="100" dirty="0">
                <a:solidFill>
                  <a:srgbClr val="F96167"/>
                </a:solidFill>
                <a:latin typeface="Calibri" pitchFamily="34" charset="0"/>
                <a:ea typeface="Calibri" pitchFamily="34" charset="-122"/>
                <a:cs typeface="Calibri" pitchFamily="34" charset="-120"/>
              </a:rPr>
              <a:t>STEP 1</a:t>
            </a:r>
            <a:endParaRPr lang="en-US" sz="2400" b="1" dirty="0"/>
          </a:p>
        </p:txBody>
      </p:sp>
      <p:sp>
        <p:nvSpPr>
          <p:cNvPr id="7" name="Text 4"/>
          <p:cNvSpPr/>
          <p:nvPr/>
        </p:nvSpPr>
        <p:spPr>
          <a:xfrm>
            <a:off x="1051560" y="2743200"/>
            <a:ext cx="2788920" cy="64008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Scan the genome</a:t>
            </a:r>
            <a:endParaRPr lang="en-US" sz="2000" dirty="0"/>
          </a:p>
        </p:txBody>
      </p:sp>
      <p:sp>
        <p:nvSpPr>
          <p:cNvPr id="8" name="Text 5"/>
          <p:cNvSpPr/>
          <p:nvPr/>
        </p:nvSpPr>
        <p:spPr>
          <a:xfrm>
            <a:off x="1051560" y="3429000"/>
            <a:ext cx="2788920" cy="1828800"/>
          </a:xfrm>
          <a:prstGeom prst="rect">
            <a:avLst/>
          </a:prstGeom>
          <a:noFill/>
          <a:ln/>
        </p:spPr>
        <p:txBody>
          <a:bodyPr wrap="square" rtlCol="0" anchor="t"/>
          <a:lstStyle/>
          <a:p>
            <a:pPr marL="0" indent="0">
              <a:buNone/>
            </a:pPr>
            <a:r>
              <a:rPr lang="en-US" dirty="0">
                <a:solidFill>
                  <a:srgbClr val="222222"/>
                </a:solidFill>
                <a:latin typeface="Calibri" pitchFamily="34" charset="0"/>
                <a:ea typeface="Calibri" pitchFamily="34" charset="-122"/>
                <a:cs typeface="Calibri" pitchFamily="34" charset="-120"/>
              </a:rPr>
              <a:t>Studies compare the DNA of thousands of people to find spots linked to a disease.</a:t>
            </a:r>
            <a:endParaRPr lang="en-US" dirty="0"/>
          </a:p>
        </p:txBody>
      </p:sp>
      <p:sp>
        <p:nvSpPr>
          <p:cNvPr id="9" name="Shape 6"/>
          <p:cNvSpPr/>
          <p:nvPr/>
        </p:nvSpPr>
        <p:spPr>
          <a:xfrm>
            <a:off x="4389120" y="2148840"/>
            <a:ext cx="3246120" cy="3291840"/>
          </a:xfrm>
          <a:prstGeom prst="roundRect">
            <a:avLst>
              <a:gd name="adj" fmla="val 3380"/>
            </a:avLst>
          </a:prstGeom>
          <a:solidFill>
            <a:schemeClr val="accent4">
              <a:lumMod val="20000"/>
              <a:lumOff val="80000"/>
            </a:schemeClr>
          </a:solidFill>
          <a:ln w="12700">
            <a:solidFill>
              <a:srgbClr val="CADCFC"/>
            </a:solidFill>
            <a:prstDash val="solid"/>
          </a:ln>
        </p:spPr>
        <p:txBody>
          <a:bodyPr/>
          <a:lstStyle/>
          <a:p>
            <a:endParaRPr lang="en-US"/>
          </a:p>
        </p:txBody>
      </p:sp>
      <p:sp>
        <p:nvSpPr>
          <p:cNvPr id="10" name="Text 7"/>
          <p:cNvSpPr/>
          <p:nvPr/>
        </p:nvSpPr>
        <p:spPr>
          <a:xfrm>
            <a:off x="4617720" y="2377440"/>
            <a:ext cx="2788920" cy="365760"/>
          </a:xfrm>
          <a:prstGeom prst="rect">
            <a:avLst/>
          </a:prstGeom>
          <a:noFill/>
          <a:ln/>
        </p:spPr>
        <p:txBody>
          <a:bodyPr wrap="square" rtlCol="0" anchor="ctr"/>
          <a:lstStyle/>
          <a:p>
            <a:pPr marL="0" indent="0">
              <a:buNone/>
            </a:pPr>
            <a:r>
              <a:rPr lang="en-US" sz="2400" b="1" kern="0" spc="100" dirty="0">
                <a:solidFill>
                  <a:srgbClr val="F96167"/>
                </a:solidFill>
                <a:latin typeface="Calibri" pitchFamily="34" charset="0"/>
                <a:ea typeface="Calibri" pitchFamily="34" charset="-122"/>
                <a:cs typeface="Calibri" pitchFamily="34" charset="-120"/>
              </a:rPr>
              <a:t>STEP 2</a:t>
            </a:r>
            <a:endParaRPr lang="en-US" sz="2400" b="1" dirty="0"/>
          </a:p>
        </p:txBody>
      </p:sp>
      <p:sp>
        <p:nvSpPr>
          <p:cNvPr id="11" name="Text 8"/>
          <p:cNvSpPr/>
          <p:nvPr/>
        </p:nvSpPr>
        <p:spPr>
          <a:xfrm>
            <a:off x="4617720" y="2743200"/>
            <a:ext cx="2788920" cy="64008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Add up the signals</a:t>
            </a:r>
            <a:endParaRPr lang="en-US" sz="2000" dirty="0"/>
          </a:p>
        </p:txBody>
      </p:sp>
      <p:sp>
        <p:nvSpPr>
          <p:cNvPr id="12" name="Text 9"/>
          <p:cNvSpPr/>
          <p:nvPr/>
        </p:nvSpPr>
        <p:spPr>
          <a:xfrm>
            <a:off x="4617720" y="3429000"/>
            <a:ext cx="2788920" cy="1828800"/>
          </a:xfrm>
          <a:prstGeom prst="rect">
            <a:avLst/>
          </a:prstGeom>
          <a:noFill/>
          <a:ln/>
        </p:spPr>
        <p:txBody>
          <a:bodyPr wrap="square" rtlCol="0" anchor="t"/>
          <a:lstStyle/>
          <a:p>
            <a:pPr marL="0" indent="0">
              <a:buNone/>
            </a:pPr>
            <a:r>
              <a:rPr lang="en-US" dirty="0">
                <a:solidFill>
                  <a:srgbClr val="222222"/>
                </a:solidFill>
                <a:latin typeface="Calibri" pitchFamily="34" charset="0"/>
                <a:ea typeface="Calibri" pitchFamily="34" charset="-122"/>
                <a:cs typeface="Calibri" pitchFamily="34" charset="-120"/>
              </a:rPr>
              <a:t>A polygenic risk score sums thousands of small genetic effects into one number.</a:t>
            </a:r>
            <a:endParaRPr lang="en-US" dirty="0"/>
          </a:p>
        </p:txBody>
      </p:sp>
      <p:sp>
        <p:nvSpPr>
          <p:cNvPr id="13" name="Shape 10"/>
          <p:cNvSpPr/>
          <p:nvPr/>
        </p:nvSpPr>
        <p:spPr>
          <a:xfrm>
            <a:off x="7955280" y="2148840"/>
            <a:ext cx="3246120" cy="3291840"/>
          </a:xfrm>
          <a:prstGeom prst="roundRect">
            <a:avLst>
              <a:gd name="adj" fmla="val 3380"/>
            </a:avLst>
          </a:prstGeom>
          <a:solidFill>
            <a:schemeClr val="accent4">
              <a:lumMod val="20000"/>
              <a:lumOff val="80000"/>
            </a:schemeClr>
          </a:solidFill>
          <a:ln w="12700">
            <a:solidFill>
              <a:srgbClr val="CADCFC"/>
            </a:solidFill>
            <a:prstDash val="solid"/>
          </a:ln>
        </p:spPr>
        <p:txBody>
          <a:bodyPr/>
          <a:lstStyle/>
          <a:p>
            <a:endParaRPr lang="en-US"/>
          </a:p>
        </p:txBody>
      </p:sp>
      <p:sp>
        <p:nvSpPr>
          <p:cNvPr id="14" name="Text 11"/>
          <p:cNvSpPr/>
          <p:nvPr/>
        </p:nvSpPr>
        <p:spPr>
          <a:xfrm>
            <a:off x="8183880" y="2377440"/>
            <a:ext cx="2788920" cy="365760"/>
          </a:xfrm>
          <a:prstGeom prst="rect">
            <a:avLst/>
          </a:prstGeom>
          <a:noFill/>
          <a:ln/>
        </p:spPr>
        <p:txBody>
          <a:bodyPr wrap="square" rtlCol="0" anchor="ctr"/>
          <a:lstStyle/>
          <a:p>
            <a:pPr marL="0" indent="0">
              <a:buNone/>
            </a:pPr>
            <a:r>
              <a:rPr lang="en-US" sz="2400" b="1" kern="0" spc="100" dirty="0">
                <a:solidFill>
                  <a:srgbClr val="F96167"/>
                </a:solidFill>
                <a:latin typeface="Calibri" pitchFamily="34" charset="0"/>
                <a:ea typeface="Calibri" pitchFamily="34" charset="-122"/>
                <a:cs typeface="Calibri" pitchFamily="34" charset="-120"/>
              </a:rPr>
              <a:t>STEP 3</a:t>
            </a:r>
            <a:endParaRPr lang="en-US" sz="2400" b="1" dirty="0"/>
          </a:p>
        </p:txBody>
      </p:sp>
      <p:sp>
        <p:nvSpPr>
          <p:cNvPr id="15" name="Text 12"/>
          <p:cNvSpPr/>
          <p:nvPr/>
        </p:nvSpPr>
        <p:spPr>
          <a:xfrm>
            <a:off x="8183880" y="2743200"/>
            <a:ext cx="2788920" cy="64008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Forecast the risk</a:t>
            </a:r>
            <a:endParaRPr lang="en-US" sz="2000" dirty="0"/>
          </a:p>
        </p:txBody>
      </p:sp>
      <p:sp>
        <p:nvSpPr>
          <p:cNvPr id="16" name="Text 13"/>
          <p:cNvSpPr/>
          <p:nvPr/>
        </p:nvSpPr>
        <p:spPr>
          <a:xfrm>
            <a:off x="8183880" y="3429000"/>
            <a:ext cx="2788920" cy="1828800"/>
          </a:xfrm>
          <a:prstGeom prst="rect">
            <a:avLst/>
          </a:prstGeom>
          <a:noFill/>
          <a:ln/>
        </p:spPr>
        <p:txBody>
          <a:bodyPr wrap="square" rtlCol="0" anchor="t"/>
          <a:lstStyle/>
          <a:p>
            <a:pPr marL="0" indent="0">
              <a:buNone/>
            </a:pPr>
            <a:r>
              <a:rPr lang="en-US" dirty="0">
                <a:solidFill>
                  <a:srgbClr val="222222"/>
                </a:solidFill>
                <a:latin typeface="Calibri" pitchFamily="34" charset="0"/>
                <a:ea typeface="Calibri" pitchFamily="34" charset="-122"/>
                <a:cs typeface="Calibri" pitchFamily="34" charset="-120"/>
              </a:rPr>
              <a:t>The goal: flag high-risk people years before disease develops, so they can act early.</a:t>
            </a:r>
            <a:endParaRPr lang="en-US" dirty="0"/>
          </a:p>
        </p:txBody>
      </p:sp>
      <p:sp>
        <p:nvSpPr>
          <p:cNvPr id="17"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2817409" y="1369212"/>
            <a:ext cx="6030263" cy="640080"/>
          </a:xfrm>
          <a:prstGeom prst="rect">
            <a:avLst/>
          </a:prstGeom>
          <a:noFill/>
          <a:ln/>
        </p:spPr>
        <p:txBody>
          <a:bodyPr wrap="square" rtlCol="0" anchor="ctr"/>
          <a:lstStyle/>
          <a:p>
            <a:pPr marL="0" indent="0">
              <a:buNone/>
            </a:pPr>
            <a:r>
              <a:rPr lang="en-US" sz="1600" i="1" dirty="0">
                <a:solidFill>
                  <a:srgbClr val="1B1E33"/>
                </a:solidFill>
                <a:latin typeface="Calibri" pitchFamily="34" charset="0"/>
                <a:ea typeface="Calibri" pitchFamily="34" charset="-122"/>
                <a:cs typeface="Calibri" pitchFamily="34" charset="-120"/>
              </a:rPr>
              <a:t>Polygenic risk scores (PRS) could flag high-risk individuals years before diabetes onset, but the discovery data behind them is deeply skewed.</a:t>
            </a:r>
            <a:endParaRPr lang="en-US" sz="1600" dirty="0"/>
          </a:p>
        </p:txBody>
      </p:sp>
      <p:sp>
        <p:nvSpPr>
          <p:cNvPr id="6" name="Shape 4"/>
          <p:cNvSpPr/>
          <p:nvPr/>
        </p:nvSpPr>
        <p:spPr>
          <a:xfrm>
            <a:off x="548640" y="2194560"/>
            <a:ext cx="5257800" cy="3566160"/>
          </a:xfrm>
          <a:prstGeom prst="roundRect">
            <a:avLst>
              <a:gd name="adj" fmla="val 3077"/>
            </a:avLst>
          </a:prstGeom>
          <a:solidFill>
            <a:srgbClr val="2F3C7E"/>
          </a:solidFill>
          <a:ln/>
          <a:effectLst>
            <a:outerShdw blurRad="101600" dist="38100" dir="5400000" algn="bl" rotWithShape="0">
              <a:srgbClr val="222222">
                <a:alpha val="25000"/>
              </a:srgbClr>
            </a:outerShdw>
          </a:effectLst>
        </p:spPr>
        <p:txBody>
          <a:bodyPr/>
          <a:lstStyle/>
          <a:p>
            <a:endParaRPr lang="en-US" dirty="0"/>
          </a:p>
        </p:txBody>
      </p:sp>
      <p:sp>
        <p:nvSpPr>
          <p:cNvPr id="7" name="Text 5"/>
          <p:cNvSpPr/>
          <p:nvPr/>
        </p:nvSpPr>
        <p:spPr>
          <a:xfrm>
            <a:off x="548640" y="2514600"/>
            <a:ext cx="5257800" cy="1005840"/>
          </a:xfrm>
          <a:prstGeom prst="rect">
            <a:avLst/>
          </a:prstGeom>
          <a:noFill/>
          <a:ln/>
        </p:spPr>
        <p:txBody>
          <a:bodyPr wrap="square" rtlCol="0" anchor="ctr"/>
          <a:lstStyle/>
          <a:p>
            <a:pPr marL="0" indent="0" algn="ctr">
              <a:buNone/>
            </a:pPr>
            <a:r>
              <a:rPr lang="en-US" sz="6000" b="1" dirty="0">
                <a:solidFill>
                  <a:srgbClr val="F9E795"/>
                </a:solidFill>
                <a:latin typeface="Cambria" pitchFamily="34" charset="0"/>
                <a:ea typeface="Cambria" pitchFamily="34" charset="-122"/>
                <a:cs typeface="Cambria" pitchFamily="34" charset="-120"/>
              </a:rPr>
              <a:t>783M</a:t>
            </a:r>
            <a:endParaRPr lang="en-US" sz="6000" dirty="0"/>
          </a:p>
        </p:txBody>
      </p:sp>
      <p:sp>
        <p:nvSpPr>
          <p:cNvPr id="8" name="Text 6"/>
          <p:cNvSpPr/>
          <p:nvPr/>
        </p:nvSpPr>
        <p:spPr>
          <a:xfrm>
            <a:off x="822960" y="3566160"/>
            <a:ext cx="4709160" cy="91440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people projected to have type 2 diabetes globally by 2045</a:t>
            </a:r>
            <a:r>
              <a:rPr lang="en-US" sz="1100" i="1" dirty="0">
                <a:solidFill>
                  <a:srgbClr val="C9CCE6"/>
                </a:solidFill>
                <a:latin typeface="Calibri" pitchFamily="34" charset="0"/>
              </a:rPr>
              <a:t> (Hossain et al., 2024)</a:t>
            </a:r>
            <a:endParaRPr lang="en-US" sz="1500" dirty="0"/>
          </a:p>
        </p:txBody>
      </p:sp>
      <p:sp>
        <p:nvSpPr>
          <p:cNvPr id="9" name="Text 7"/>
          <p:cNvSpPr/>
          <p:nvPr/>
        </p:nvSpPr>
        <p:spPr>
          <a:xfrm>
            <a:off x="822960" y="4526280"/>
            <a:ext cx="4709160" cy="1097280"/>
          </a:xfrm>
          <a:prstGeom prst="rect">
            <a:avLst/>
          </a:prstGeom>
          <a:noFill/>
          <a:ln/>
        </p:spPr>
        <p:txBody>
          <a:bodyPr wrap="square" rtlCol="0" anchor="ctr"/>
          <a:lstStyle/>
          <a:p>
            <a:pPr marL="0" indent="0" algn="ctr">
              <a:buNone/>
            </a:pPr>
            <a:r>
              <a:rPr lang="en-US" sz="1350" i="1" dirty="0">
                <a:solidFill>
                  <a:srgbClr val="F7F7FA"/>
                </a:solidFill>
                <a:latin typeface="Calibri" pitchFamily="34" charset="0"/>
                <a:ea typeface="Calibri" pitchFamily="34" charset="-122"/>
                <a:cs typeface="Calibri" pitchFamily="34" charset="-120"/>
              </a:rPr>
              <a:t>Central and South Asian populations carry some of the highest rates of type 2 diabetes in the world — yet remain among the least represented in the genetic studies meant to help predict it.</a:t>
            </a:r>
            <a:r>
              <a:rPr lang="en-US" sz="1000" i="1" dirty="0">
                <a:solidFill>
                  <a:srgbClr val="C9CCE6"/>
                </a:solidFill>
                <a:latin typeface="Calibri" pitchFamily="34" charset="0"/>
              </a:rPr>
              <a:t> (Fitipaldi &amp; Franks, 2022; Ding et al., 2023)</a:t>
            </a:r>
          </a:p>
        </p:txBody>
      </p:sp>
      <p:sp>
        <p:nvSpPr>
          <p:cNvPr id="10" name="Shape 8"/>
          <p:cNvSpPr/>
          <p:nvPr/>
        </p:nvSpPr>
        <p:spPr>
          <a:xfrm>
            <a:off x="6080760" y="2194560"/>
            <a:ext cx="5257800" cy="3566160"/>
          </a:xfrm>
          <a:prstGeom prst="roundRect">
            <a:avLst>
              <a:gd name="adj" fmla="val 3077"/>
            </a:avLst>
          </a:prstGeom>
          <a:solidFill>
            <a:srgbClr val="F96167"/>
          </a:solidFill>
          <a:ln/>
          <a:effectLst>
            <a:outerShdw blurRad="101600" dist="38100" dir="5400000" algn="bl" rotWithShape="0">
              <a:srgbClr val="222222">
                <a:alpha val="25000"/>
              </a:srgbClr>
            </a:outerShdw>
          </a:effectLst>
        </p:spPr>
        <p:txBody>
          <a:bodyPr/>
          <a:lstStyle/>
          <a:p>
            <a:endParaRPr lang="en-US"/>
          </a:p>
        </p:txBody>
      </p:sp>
      <p:sp>
        <p:nvSpPr>
          <p:cNvPr id="12" name="Text 10"/>
          <p:cNvSpPr/>
          <p:nvPr/>
        </p:nvSpPr>
        <p:spPr>
          <a:xfrm>
            <a:off x="9121992" y="2725525"/>
            <a:ext cx="2077749" cy="2187669"/>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Central &amp; South Asian populations are among the least represented in this data — despite carrying the highest disease burden.</a:t>
            </a:r>
            <a:r>
              <a:rPr lang="en-US" sz="1100" i="1" dirty="0">
                <a:solidFill>
                  <a:srgbClr val="FDE3E4"/>
                </a:solidFill>
                <a:latin typeface="Calibri" pitchFamily="34" charset="0"/>
              </a:rPr>
              <a:t> (Ding et al., 2023)</a:t>
            </a:r>
          </a:p>
        </p:txBody>
      </p:sp>
      <p:sp>
        <p:nvSpPr>
          <p:cNvPr id="14" name="Text 12"/>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2</a:t>
            </a:r>
            <a:endParaRPr lang="en-US" sz="1000" dirty="0"/>
          </a:p>
        </p:txBody>
      </p:sp>
      <p:sp>
        <p:nvSpPr>
          <p:cNvPr id="16" name="Shape 0">
            <a:extLst>
              <a:ext uri="{FF2B5EF4-FFF2-40B4-BE49-F238E27FC236}">
                <a16:creationId xmlns:a16="http://schemas.microsoft.com/office/drawing/2014/main" id="{01FF9B8B-5DA2-C4BD-627F-B108BA23E9DB}"/>
              </a:ext>
            </a:extLst>
          </p:cNvPr>
          <p:cNvSpPr/>
          <p:nvPr/>
        </p:nvSpPr>
        <p:spPr>
          <a:xfrm>
            <a:off x="640080" y="548640"/>
            <a:ext cx="822960" cy="822960"/>
          </a:xfrm>
          <a:prstGeom prst="ellipse">
            <a:avLst/>
          </a:prstGeom>
          <a:solidFill>
            <a:srgbClr val="1E2761"/>
          </a:solidFill>
          <a:ln/>
        </p:spPr>
        <p:txBody>
          <a:bodyPr/>
          <a:lstStyle/>
          <a:p>
            <a:endParaRPr lang="en-US"/>
          </a:p>
        </p:txBody>
      </p:sp>
      <p:pic>
        <p:nvPicPr>
          <p:cNvPr id="17" name="Image 0" descr="/home/claude/icon_globe.png">
            <a:extLst>
              <a:ext uri="{FF2B5EF4-FFF2-40B4-BE49-F238E27FC236}">
                <a16:creationId xmlns:a16="http://schemas.microsoft.com/office/drawing/2014/main" id="{D80D837B-55F0-8724-9C6E-8128CE23A177}"/>
              </a:ext>
            </a:extLst>
          </p:cNvPr>
          <p:cNvPicPr>
            <a:picLocks noChangeAspect="1"/>
          </p:cNvPicPr>
          <p:nvPr/>
        </p:nvPicPr>
        <p:blipFill>
          <a:blip r:embed="rId3"/>
          <a:stretch>
            <a:fillRect/>
          </a:stretch>
        </p:blipFill>
        <p:spPr>
          <a:xfrm>
            <a:off x="730606" y="639166"/>
            <a:ext cx="641909" cy="641909"/>
          </a:xfrm>
          <a:prstGeom prst="rect">
            <a:avLst/>
          </a:prstGeom>
        </p:spPr>
      </p:pic>
      <p:sp>
        <p:nvSpPr>
          <p:cNvPr id="18" name="Text 1">
            <a:extLst>
              <a:ext uri="{FF2B5EF4-FFF2-40B4-BE49-F238E27FC236}">
                <a16:creationId xmlns:a16="http://schemas.microsoft.com/office/drawing/2014/main" id="{B37ECE30-9A86-09B8-F026-0B259BA9FF7C}"/>
              </a:ext>
            </a:extLst>
          </p:cNvPr>
          <p:cNvSpPr/>
          <p:nvPr/>
        </p:nvSpPr>
        <p:spPr>
          <a:xfrm>
            <a:off x="1737360" y="502920"/>
            <a:ext cx="9811512" cy="100584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A Disease Growing Fastest Where We’ve Studied It Least</a:t>
            </a:r>
            <a:endParaRPr lang="en-US" sz="2700" dirty="0"/>
          </a:p>
        </p:txBody>
      </p:sp>
      <p:graphicFrame>
        <p:nvGraphicFramePr>
          <p:cNvPr id="20" name="Chart 0">
            <a:extLst>
              <a:ext uri="{FF2B5EF4-FFF2-40B4-BE49-F238E27FC236}">
                <a16:creationId xmlns:a16="http://schemas.microsoft.com/office/drawing/2014/main" id="{D3BB12EC-5F21-56DF-7E20-22E35D7B2359}"/>
              </a:ext>
            </a:extLst>
          </p:cNvPr>
          <p:cNvGraphicFramePr/>
          <p:nvPr>
            <p:extLst>
              <p:ext uri="{D42A27DB-BD31-4B8C-83A1-F6EECF244321}">
                <p14:modId xmlns:p14="http://schemas.microsoft.com/office/powerpoint/2010/main" val="1255209563"/>
              </p:ext>
            </p:extLst>
          </p:nvPr>
        </p:nvGraphicFramePr>
        <p:xfrm>
          <a:off x="5771776" y="2331720"/>
          <a:ext cx="4003294" cy="3172422"/>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9">
            <a:extLst>
              <a:ext uri="{FF2B5EF4-FFF2-40B4-BE49-F238E27FC236}">
                <a16:creationId xmlns:a16="http://schemas.microsoft.com/office/drawing/2014/main" id="{B662CCA6-5A85-8EFE-8011-397BD3B9DBCB}"/>
              </a:ext>
            </a:extLst>
          </p:cNvPr>
          <p:cNvSpPr/>
          <p:nvPr/>
        </p:nvSpPr>
        <p:spPr>
          <a:xfrm>
            <a:off x="6652546" y="3695408"/>
            <a:ext cx="2195126" cy="830872"/>
          </a:xfrm>
          <a:prstGeom prst="rect">
            <a:avLst/>
          </a:prstGeom>
          <a:noFill/>
          <a:ln/>
        </p:spPr>
        <p:txBody>
          <a:bodyPr wrap="square" rtlCol="0" anchor="ctr"/>
          <a:lstStyle/>
          <a:p>
            <a:pPr marL="0" indent="0" algn="ctr">
              <a:buNone/>
            </a:pPr>
            <a:r>
              <a:rPr lang="en-US" sz="4800" b="1" dirty="0">
                <a:solidFill>
                  <a:srgbClr val="1F2A5C"/>
                </a:solidFill>
                <a:latin typeface="Cambria" pitchFamily="34" charset="0"/>
                <a:ea typeface="Cambria" pitchFamily="34" charset="-122"/>
                <a:cs typeface="Cambria" pitchFamily="34" charset="-120"/>
              </a:rPr>
              <a:t>91%</a:t>
            </a:r>
            <a:endParaRPr lang="en-US" sz="4800" dirty="0"/>
          </a:p>
        </p:txBody>
      </p:sp>
      <p:sp>
        <p:nvSpPr>
          <p:cNvPr id="24" name="Shape 4">
            <a:extLst>
              <a:ext uri="{FF2B5EF4-FFF2-40B4-BE49-F238E27FC236}">
                <a16:creationId xmlns:a16="http://schemas.microsoft.com/office/drawing/2014/main" id="{314D205F-543C-930D-9B49-833517584CE4}"/>
              </a:ext>
            </a:extLst>
          </p:cNvPr>
          <p:cNvSpPr/>
          <p:nvPr/>
        </p:nvSpPr>
        <p:spPr>
          <a:xfrm>
            <a:off x="513976" y="5889967"/>
            <a:ext cx="10824584" cy="862603"/>
          </a:xfrm>
          <a:prstGeom prst="roundRect">
            <a:avLst>
              <a:gd name="adj" fmla="val 3077"/>
            </a:avLst>
          </a:prstGeom>
          <a:solidFill>
            <a:schemeClr val="accent4">
              <a:lumMod val="20000"/>
              <a:lumOff val="80000"/>
            </a:schemeClr>
          </a:solidFill>
          <a:ln>
            <a:solidFill>
              <a:schemeClr val="accent4"/>
            </a:solidFill>
          </a:ln>
          <a:effectLst>
            <a:outerShdw blurRad="101600" dist="38100" dir="5400000" algn="bl" rotWithShape="0">
              <a:srgbClr val="222222">
                <a:alpha val="25000"/>
              </a:srgbClr>
            </a:outerShdw>
          </a:effectLst>
        </p:spPr>
        <p:txBody>
          <a:bodyPr/>
          <a:lstStyle/>
          <a:p>
            <a:endParaRPr lang="en-US" dirty="0"/>
          </a:p>
        </p:txBody>
      </p:sp>
      <p:sp>
        <p:nvSpPr>
          <p:cNvPr id="27" name="TextBox 26">
            <a:extLst>
              <a:ext uri="{FF2B5EF4-FFF2-40B4-BE49-F238E27FC236}">
                <a16:creationId xmlns:a16="http://schemas.microsoft.com/office/drawing/2014/main" id="{DAB30482-0ABE-B282-115F-D6A6CD9E575A}"/>
              </a:ext>
            </a:extLst>
          </p:cNvPr>
          <p:cNvSpPr txBox="1"/>
          <p:nvPr/>
        </p:nvSpPr>
        <p:spPr>
          <a:xfrm>
            <a:off x="548640" y="6124247"/>
            <a:ext cx="10789920" cy="400110"/>
          </a:xfrm>
          <a:prstGeom prst="rect">
            <a:avLst/>
          </a:prstGeom>
          <a:noFill/>
        </p:spPr>
        <p:txBody>
          <a:bodyPr wrap="square">
            <a:spAutoFit/>
          </a:bodyPr>
          <a:lstStyle/>
          <a:p>
            <a:pPr algn="ctr">
              <a:buNone/>
            </a:pPr>
            <a:r>
              <a:rPr lang="en-US" sz="2000" b="1" dirty="0"/>
              <a:t>CSA Underrepresented: </a:t>
            </a:r>
            <a:r>
              <a:rPr lang="en-US" sz="2000" i="1" dirty="0"/>
              <a:t>Most vulnerable to T2D, least studied in genomic research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1E2761"/>
          </a:solidFill>
          <a:ln/>
        </p:spPr>
        <p:txBody>
          <a:bodyPr/>
          <a:lstStyle/>
          <a:p>
            <a:endParaRPr lang="en-US"/>
          </a:p>
        </p:txBody>
      </p:sp>
      <p:pic>
        <p:nvPicPr>
          <p:cNvPr id="3" name="Image 0" descr="/home/claude/icon_split.png"/>
          <p:cNvPicPr>
            <a:picLocks noChangeAspect="1"/>
          </p:cNvPicPr>
          <p:nvPr/>
        </p:nvPicPr>
        <p:blipFill>
          <a:blip r:embed="rId3"/>
          <a:stretch>
            <a:fillRect/>
          </a:stretch>
        </p:blipFill>
        <p:spPr>
          <a:xfrm>
            <a:off x="730606" y="639166"/>
            <a:ext cx="641909" cy="641909"/>
          </a:xfrm>
          <a:prstGeom prst="rect">
            <a:avLst/>
          </a:prstGeom>
        </p:spPr>
      </p:pic>
      <p:sp>
        <p:nvSpPr>
          <p:cNvPr id="4" name="Text 1"/>
          <p:cNvSpPr/>
          <p:nvPr/>
        </p:nvSpPr>
        <p:spPr>
          <a:xfrm>
            <a:off x="1737360" y="457200"/>
            <a:ext cx="9811512" cy="100584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Drivers of Cross-Ancestry Failure</a:t>
            </a:r>
            <a:endParaRPr lang="en-US" sz="2600" dirty="0"/>
          </a:p>
        </p:txBody>
      </p:sp>
      <p:sp>
        <p:nvSpPr>
          <p:cNvPr id="5" name="Shape 2"/>
          <p:cNvSpPr/>
          <p:nvPr/>
        </p:nvSpPr>
        <p:spPr>
          <a:xfrm>
            <a:off x="822960" y="1874520"/>
            <a:ext cx="4937760" cy="3017520"/>
          </a:xfrm>
          <a:prstGeom prst="roundRect">
            <a:avLst>
              <a:gd name="adj" fmla="val 3636"/>
            </a:avLst>
          </a:prstGeom>
          <a:solidFill>
            <a:schemeClr val="accent4">
              <a:lumMod val="20000"/>
              <a:lumOff val="80000"/>
            </a:schemeClr>
          </a:solidFill>
          <a:ln w="12700">
            <a:solidFill>
              <a:srgbClr val="CADCFC"/>
            </a:solidFill>
            <a:prstDash val="solid"/>
          </a:ln>
        </p:spPr>
        <p:txBody>
          <a:bodyPr/>
          <a:lstStyle/>
          <a:p>
            <a:endParaRPr lang="en-US"/>
          </a:p>
        </p:txBody>
      </p:sp>
      <p:pic>
        <p:nvPicPr>
          <p:cNvPr id="6" name="Image 1" descr="/home/claude/icon_percent.png"/>
          <p:cNvPicPr>
            <a:picLocks noChangeAspect="1"/>
          </p:cNvPicPr>
          <p:nvPr/>
        </p:nvPicPr>
        <p:blipFill>
          <a:blip r:embed="rId4"/>
          <a:stretch>
            <a:fillRect/>
          </a:stretch>
        </p:blipFill>
        <p:spPr>
          <a:xfrm>
            <a:off x="1097280" y="2148840"/>
            <a:ext cx="548640" cy="548640"/>
          </a:xfrm>
          <a:prstGeom prst="rect">
            <a:avLst/>
          </a:prstGeom>
        </p:spPr>
      </p:pic>
      <p:sp>
        <p:nvSpPr>
          <p:cNvPr id="7" name="Shape 3"/>
          <p:cNvSpPr/>
          <p:nvPr/>
        </p:nvSpPr>
        <p:spPr>
          <a:xfrm>
            <a:off x="1097280" y="2148840"/>
            <a:ext cx="548640" cy="548640"/>
          </a:xfrm>
          <a:prstGeom prst="ellipse">
            <a:avLst/>
          </a:prstGeom>
          <a:solidFill>
            <a:srgbClr val="1E2761"/>
          </a:solidFill>
          <a:ln/>
        </p:spPr>
        <p:txBody>
          <a:bodyPr/>
          <a:lstStyle/>
          <a:p>
            <a:endParaRPr lang="en-US"/>
          </a:p>
        </p:txBody>
      </p:sp>
      <p:pic>
        <p:nvPicPr>
          <p:cNvPr id="8" name="Image 2" descr="/home/claude/icon_percent.png"/>
          <p:cNvPicPr>
            <a:picLocks noChangeAspect="1"/>
          </p:cNvPicPr>
          <p:nvPr/>
        </p:nvPicPr>
        <p:blipFill>
          <a:blip r:embed="rId4"/>
          <a:stretch>
            <a:fillRect/>
          </a:stretch>
        </p:blipFill>
        <p:spPr>
          <a:xfrm>
            <a:off x="1097280" y="2148840"/>
            <a:ext cx="548640" cy="548640"/>
          </a:xfrm>
          <a:prstGeom prst="rect">
            <a:avLst/>
          </a:prstGeom>
        </p:spPr>
      </p:pic>
      <p:sp>
        <p:nvSpPr>
          <p:cNvPr id="9" name="Text 4"/>
          <p:cNvSpPr/>
          <p:nvPr/>
        </p:nvSpPr>
        <p:spPr>
          <a:xfrm>
            <a:off x="1097280" y="2834640"/>
            <a:ext cx="4389120" cy="548640"/>
          </a:xfrm>
          <a:prstGeom prst="rect">
            <a:avLst/>
          </a:prstGeom>
          <a:noFill/>
          <a:ln/>
        </p:spPr>
        <p:txBody>
          <a:bodyPr wrap="square"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Allele frequency differences</a:t>
            </a:r>
            <a:endParaRPr lang="en-US" sz="1900" dirty="0"/>
          </a:p>
        </p:txBody>
      </p:sp>
      <p:sp>
        <p:nvSpPr>
          <p:cNvPr id="10" name="Text 5"/>
          <p:cNvSpPr/>
          <p:nvPr/>
        </p:nvSpPr>
        <p:spPr>
          <a:xfrm>
            <a:off x="1097280" y="3383280"/>
            <a:ext cx="4389120" cy="141732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How common a disease-linked variant is can differ across ancestries, so a score calibrated on European data can misjudge genetic risk elsewhere.</a:t>
            </a:r>
            <a:r>
              <a:rPr lang="en-US" sz="1150" i="1" dirty="0">
                <a:solidFill>
                  <a:srgbClr val="5A6472"/>
                </a:solidFill>
                <a:latin typeface="Calibri" pitchFamily="34" charset="0"/>
              </a:rPr>
              <a:t> (Mahajan et al., 2022)</a:t>
            </a:r>
            <a:endParaRPr lang="en-US" sz="1450" dirty="0"/>
          </a:p>
        </p:txBody>
      </p:sp>
      <p:sp>
        <p:nvSpPr>
          <p:cNvPr id="11" name="Shape 6"/>
          <p:cNvSpPr/>
          <p:nvPr/>
        </p:nvSpPr>
        <p:spPr>
          <a:xfrm>
            <a:off x="6217920" y="1874520"/>
            <a:ext cx="4937760" cy="3017520"/>
          </a:xfrm>
          <a:prstGeom prst="roundRect">
            <a:avLst>
              <a:gd name="adj" fmla="val 3636"/>
            </a:avLst>
          </a:prstGeom>
          <a:solidFill>
            <a:schemeClr val="accent4">
              <a:lumMod val="20000"/>
              <a:lumOff val="80000"/>
            </a:schemeClr>
          </a:solidFill>
          <a:ln w="12700">
            <a:solidFill>
              <a:srgbClr val="CADCFC"/>
            </a:solidFill>
            <a:prstDash val="solid"/>
          </a:ln>
        </p:spPr>
        <p:txBody>
          <a:bodyPr/>
          <a:lstStyle/>
          <a:p>
            <a:endParaRPr lang="en-US"/>
          </a:p>
        </p:txBody>
      </p:sp>
      <p:pic>
        <p:nvPicPr>
          <p:cNvPr id="12" name="Image 3" descr="/home/claude/icon_network.png"/>
          <p:cNvPicPr>
            <a:picLocks noChangeAspect="1"/>
          </p:cNvPicPr>
          <p:nvPr/>
        </p:nvPicPr>
        <p:blipFill>
          <a:blip r:embed="rId5"/>
          <a:stretch>
            <a:fillRect/>
          </a:stretch>
        </p:blipFill>
        <p:spPr>
          <a:xfrm>
            <a:off x="6492240" y="2148840"/>
            <a:ext cx="548640" cy="548640"/>
          </a:xfrm>
          <a:prstGeom prst="rect">
            <a:avLst/>
          </a:prstGeom>
        </p:spPr>
      </p:pic>
      <p:sp>
        <p:nvSpPr>
          <p:cNvPr id="13" name="Shape 7"/>
          <p:cNvSpPr/>
          <p:nvPr/>
        </p:nvSpPr>
        <p:spPr>
          <a:xfrm>
            <a:off x="6492240" y="2148840"/>
            <a:ext cx="548640" cy="548640"/>
          </a:xfrm>
          <a:prstGeom prst="ellipse">
            <a:avLst/>
          </a:prstGeom>
          <a:solidFill>
            <a:srgbClr val="1E2761"/>
          </a:solidFill>
          <a:ln/>
        </p:spPr>
        <p:txBody>
          <a:bodyPr/>
          <a:lstStyle/>
          <a:p>
            <a:endParaRPr lang="en-US"/>
          </a:p>
        </p:txBody>
      </p:sp>
      <p:pic>
        <p:nvPicPr>
          <p:cNvPr id="14" name="Image 4" descr="/home/claude/icon_network.png"/>
          <p:cNvPicPr>
            <a:picLocks noChangeAspect="1"/>
          </p:cNvPicPr>
          <p:nvPr/>
        </p:nvPicPr>
        <p:blipFill>
          <a:blip r:embed="rId5"/>
          <a:stretch>
            <a:fillRect/>
          </a:stretch>
        </p:blipFill>
        <p:spPr>
          <a:xfrm>
            <a:off x="6574553" y="2231238"/>
            <a:ext cx="384014" cy="384014"/>
          </a:xfrm>
          <a:prstGeom prst="rect">
            <a:avLst/>
          </a:prstGeom>
        </p:spPr>
      </p:pic>
      <p:sp>
        <p:nvSpPr>
          <p:cNvPr id="15" name="Text 8"/>
          <p:cNvSpPr/>
          <p:nvPr/>
        </p:nvSpPr>
        <p:spPr>
          <a:xfrm>
            <a:off x="6492240" y="2834640"/>
            <a:ext cx="4389120" cy="548640"/>
          </a:xfrm>
          <a:prstGeom prst="rect">
            <a:avLst/>
          </a:prstGeom>
          <a:noFill/>
          <a:ln/>
        </p:spPr>
        <p:txBody>
          <a:bodyPr wrap="square"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LD structure mismatch</a:t>
            </a:r>
            <a:endParaRPr lang="en-US" sz="1900" dirty="0"/>
          </a:p>
        </p:txBody>
      </p:sp>
      <p:sp>
        <p:nvSpPr>
          <p:cNvPr id="16" name="Text 9"/>
          <p:cNvSpPr/>
          <p:nvPr/>
        </p:nvSpPr>
        <p:spPr>
          <a:xfrm>
            <a:off x="6492240" y="3383280"/>
            <a:ext cx="4389120" cy="1417320"/>
          </a:xfrm>
          <a:prstGeom prst="rect">
            <a:avLst/>
          </a:prstGeom>
          <a:noFill/>
          <a:ln/>
        </p:spPr>
        <p:txBody>
          <a:bodyPr wrap="square" rtlCol="0" anchor="t"/>
          <a:lstStyle/>
          <a:p>
            <a:pPr marL="0" indent="0">
              <a:buNone/>
            </a:pPr>
            <a:r>
              <a:rPr lang="en-US" sz="1450" dirty="0">
                <a:solidFill>
                  <a:srgbClr val="222222"/>
                </a:solidFill>
                <a:latin typeface="Calibri" pitchFamily="34" charset="0"/>
                <a:ea typeface="Calibri" pitchFamily="34" charset="-122"/>
                <a:cs typeface="Calibri" pitchFamily="34" charset="-120"/>
              </a:rPr>
              <a:t>Nearby variants are inherited together in clusters (haplotypes), and these patterns differ by population — so European index variants can miss the true causal variants elsewhere.</a:t>
            </a:r>
            <a:endParaRPr lang="en-US" sz="1450" dirty="0"/>
          </a:p>
        </p:txBody>
      </p:sp>
      <p:sp>
        <p:nvSpPr>
          <p:cNvPr id="17" name="Shape 10"/>
          <p:cNvSpPr/>
          <p:nvPr/>
        </p:nvSpPr>
        <p:spPr>
          <a:xfrm>
            <a:off x="1114627" y="5303520"/>
            <a:ext cx="9735929" cy="685800"/>
          </a:xfrm>
          <a:prstGeom prst="roundRect">
            <a:avLst>
              <a:gd name="adj" fmla="val 10526"/>
            </a:avLst>
          </a:prstGeom>
          <a:solidFill>
            <a:srgbClr val="1E2761"/>
          </a:solidFill>
          <a:ln/>
        </p:spPr>
        <p:txBody>
          <a:bodyPr/>
          <a:lstStyle/>
          <a:p>
            <a:endParaRPr lang="en-US"/>
          </a:p>
        </p:txBody>
      </p:sp>
      <p:sp>
        <p:nvSpPr>
          <p:cNvPr id="18" name="Text 11"/>
          <p:cNvSpPr/>
          <p:nvPr/>
        </p:nvSpPr>
        <p:spPr>
          <a:xfrm>
            <a:off x="1463040" y="5303520"/>
            <a:ext cx="9204636" cy="685800"/>
          </a:xfrm>
          <a:prstGeom prst="rect">
            <a:avLst/>
          </a:prstGeom>
          <a:noFill/>
          <a:ln/>
        </p:spPr>
        <p:txBody>
          <a:bodyPr wrap="square" rtlCol="0" anchor="ctr"/>
          <a:lstStyle/>
          <a:p>
            <a:pPr marL="0" indent="0" algn="ctr">
              <a:buNone/>
            </a:pPr>
            <a:r>
              <a:rPr lang="en-US" sz="2200" b="1" dirty="0">
                <a:solidFill>
                  <a:srgbClr val="F96167"/>
                </a:solidFill>
                <a:latin typeface="Calibri" pitchFamily="34" charset="0"/>
                <a:ea typeface="Calibri" pitchFamily="34" charset="-122"/>
                <a:cs typeface="Calibri" pitchFamily="34" charset="-120"/>
              </a:rPr>
              <a:t>70–80% </a:t>
            </a:r>
            <a:r>
              <a:rPr lang="en-US" dirty="0">
                <a:solidFill>
                  <a:srgbClr val="FFFFFF"/>
                </a:solidFill>
                <a:latin typeface="Calibri" pitchFamily="34" charset="0"/>
                <a:ea typeface="Calibri" pitchFamily="34" charset="-122"/>
                <a:cs typeface="Calibri" pitchFamily="34" charset="-120"/>
              </a:rPr>
              <a:t>of cross-ancestry PRS accuracy loss is attributed to these two factors in prior research</a:t>
            </a:r>
            <a:r>
              <a:rPr lang="en-US" sz="1400" i="1" dirty="0">
                <a:solidFill>
                  <a:srgbClr val="C9CCE6"/>
                </a:solidFill>
                <a:latin typeface="Calibri" pitchFamily="34" charset="0"/>
              </a:rPr>
              <a:t> (Kachuri et al., 2024; Wang et al., 2020)</a:t>
            </a:r>
            <a:endParaRPr lang="en-US" sz="2200" dirty="0"/>
          </a:p>
        </p:txBody>
      </p:sp>
      <p:sp>
        <p:nvSpPr>
          <p:cNvPr id="19" name="Text 1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2A5C"/>
        </a:solidFill>
        <a:effectLst/>
      </p:bgPr>
    </p:bg>
    <p:spTree>
      <p:nvGrpSpPr>
        <p:cNvPr id="1" name="">
          <a:extLst>
            <a:ext uri="{FF2B5EF4-FFF2-40B4-BE49-F238E27FC236}">
              <a16:creationId xmlns:a16="http://schemas.microsoft.com/office/drawing/2014/main" id="{3171E88B-02ED-07B3-D7AC-E944259F6AF4}"/>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5FD3E129-0BD2-0C0A-97C4-8DB2775DC7C4}"/>
              </a:ext>
            </a:extLst>
          </p:cNvPr>
          <p:cNvSpPr/>
          <p:nvPr/>
        </p:nvSpPr>
        <p:spPr>
          <a:xfrm>
            <a:off x="5591556" y="284554"/>
            <a:ext cx="1005840" cy="1005840"/>
          </a:xfrm>
          <a:prstGeom prst="ellipse">
            <a:avLst/>
          </a:prstGeom>
          <a:solidFill>
            <a:srgbClr val="F96167"/>
          </a:solidFill>
          <a:ln/>
        </p:spPr>
        <p:txBody>
          <a:bodyPr/>
          <a:lstStyle/>
          <a:p>
            <a:endParaRPr lang="en-US"/>
          </a:p>
        </p:txBody>
      </p:sp>
      <p:pic>
        <p:nvPicPr>
          <p:cNvPr id="9" name="Image 0" descr="/home/claude/icon_question.png">
            <a:extLst>
              <a:ext uri="{FF2B5EF4-FFF2-40B4-BE49-F238E27FC236}">
                <a16:creationId xmlns:a16="http://schemas.microsoft.com/office/drawing/2014/main" id="{E0FA85CA-DED2-D293-40F1-0D559B0B3504}"/>
              </a:ext>
            </a:extLst>
          </p:cNvPr>
          <p:cNvPicPr>
            <a:picLocks noChangeAspect="1"/>
          </p:cNvPicPr>
          <p:nvPr/>
        </p:nvPicPr>
        <p:blipFill>
          <a:blip r:embed="rId3"/>
          <a:stretch>
            <a:fillRect/>
          </a:stretch>
        </p:blipFill>
        <p:spPr>
          <a:xfrm>
            <a:off x="5702198" y="395196"/>
            <a:ext cx="784555" cy="784555"/>
          </a:xfrm>
          <a:prstGeom prst="rect">
            <a:avLst/>
          </a:prstGeom>
        </p:spPr>
      </p:pic>
      <p:sp>
        <p:nvSpPr>
          <p:cNvPr id="10" name="Text 1">
            <a:extLst>
              <a:ext uri="{FF2B5EF4-FFF2-40B4-BE49-F238E27FC236}">
                <a16:creationId xmlns:a16="http://schemas.microsoft.com/office/drawing/2014/main" id="{88C30C06-2023-3223-D29A-58A22DBA2DC6}"/>
              </a:ext>
            </a:extLst>
          </p:cNvPr>
          <p:cNvSpPr/>
          <p:nvPr/>
        </p:nvSpPr>
        <p:spPr>
          <a:xfrm>
            <a:off x="731520" y="1246037"/>
            <a:ext cx="10725912" cy="822960"/>
          </a:xfrm>
          <a:prstGeom prst="rect">
            <a:avLst/>
          </a:prstGeom>
          <a:noFill/>
          <a:ln/>
        </p:spPr>
        <p:txBody>
          <a:bodyPr wrap="square" rtlCol="0" anchor="ctr"/>
          <a:lstStyle/>
          <a:p>
            <a:pPr algn="ctr"/>
            <a:r>
              <a:rPr lang="en-US" sz="3200" b="1" kern="0" spc="200" dirty="0">
                <a:solidFill>
                  <a:srgbClr val="F9E795"/>
                </a:solidFill>
                <a:ea typeface="Calibri" pitchFamily="34" charset="-122"/>
                <a:cs typeface="Calibri" pitchFamily="34" charset="-120"/>
              </a:rPr>
              <a:t>But for South Asians, What’s Really Driving It?</a:t>
            </a:r>
            <a:endParaRPr lang="en-US" sz="3200" dirty="0">
              <a:solidFill>
                <a:schemeClr val="bg1"/>
              </a:solidFill>
            </a:endParaRPr>
          </a:p>
        </p:txBody>
      </p:sp>
      <p:sp>
        <p:nvSpPr>
          <p:cNvPr id="17" name="Text 8">
            <a:extLst>
              <a:ext uri="{FF2B5EF4-FFF2-40B4-BE49-F238E27FC236}">
                <a16:creationId xmlns:a16="http://schemas.microsoft.com/office/drawing/2014/main" id="{D680DE83-356F-252C-103E-ABF0A95576B7}"/>
              </a:ext>
            </a:extLst>
          </p:cNvPr>
          <p:cNvSpPr/>
          <p:nvPr/>
        </p:nvSpPr>
        <p:spPr>
          <a:xfrm>
            <a:off x="731520" y="5315117"/>
            <a:ext cx="10725912" cy="548640"/>
          </a:xfrm>
          <a:prstGeom prst="rect">
            <a:avLst/>
          </a:prstGeom>
          <a:noFill/>
          <a:ln/>
        </p:spPr>
        <p:txBody>
          <a:bodyPr wrap="square" rtlCol="0" anchor="ctr"/>
          <a:lstStyle/>
          <a:p>
            <a:pPr marL="0" indent="0" algn="ctr">
              <a:buNone/>
            </a:pPr>
            <a:r>
              <a:rPr lang="en-US" sz="1700" i="1" dirty="0">
                <a:solidFill>
                  <a:srgbClr val="F96167"/>
                </a:solidFill>
                <a:latin typeface="Calibri" pitchFamily="34" charset="0"/>
                <a:ea typeface="Calibri" pitchFamily="34" charset="-122"/>
                <a:cs typeface="Calibri" pitchFamily="34" charset="-120"/>
              </a:rPr>
              <a:t>Our hypothesis: the data gap, not the biology, is the main culprit.</a:t>
            </a:r>
            <a:endParaRPr lang="en-US" sz="1700" dirty="0"/>
          </a:p>
        </p:txBody>
      </p:sp>
      <p:sp>
        <p:nvSpPr>
          <p:cNvPr id="18" name="Text 9">
            <a:extLst>
              <a:ext uri="{FF2B5EF4-FFF2-40B4-BE49-F238E27FC236}">
                <a16:creationId xmlns:a16="http://schemas.microsoft.com/office/drawing/2014/main" id="{B580B8C1-15FD-0CC1-C811-50CD02BA2ADE}"/>
              </a:ext>
            </a:extLst>
          </p:cNvPr>
          <p:cNvSpPr/>
          <p:nvPr/>
        </p:nvSpPr>
        <p:spPr>
          <a:xfrm>
            <a:off x="11548872" y="5909477"/>
            <a:ext cx="36576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6</a:t>
            </a:r>
            <a:endParaRPr lang="en-US" sz="1000" dirty="0"/>
          </a:p>
        </p:txBody>
      </p:sp>
      <p:sp>
        <p:nvSpPr>
          <p:cNvPr id="19" name="Shape 1">
            <a:extLst>
              <a:ext uri="{FF2B5EF4-FFF2-40B4-BE49-F238E27FC236}">
                <a16:creationId xmlns:a16="http://schemas.microsoft.com/office/drawing/2014/main" id="{BDE44388-7737-C8A4-ED0D-C220D374C3CD}"/>
              </a:ext>
            </a:extLst>
          </p:cNvPr>
          <p:cNvSpPr/>
          <p:nvPr/>
        </p:nvSpPr>
        <p:spPr>
          <a:xfrm>
            <a:off x="438912" y="2167944"/>
            <a:ext cx="3520440" cy="2743200"/>
          </a:xfrm>
          <a:prstGeom prst="roundRect">
            <a:avLst>
              <a:gd name="adj" fmla="val 3333"/>
            </a:avLst>
          </a:prstGeom>
          <a:solidFill>
            <a:srgbClr val="FFFFFF"/>
          </a:solidFill>
          <a:ln w="12700">
            <a:solidFill>
              <a:srgbClr val="D8DAE8"/>
            </a:solidFill>
            <a:prstDash val="solid"/>
          </a:ln>
          <a:effectLst>
            <a:outerShdw blurRad="76200" dist="25400" dir="5400000" algn="bl" rotWithShape="0">
              <a:srgbClr val="222222">
                <a:alpha val="15000"/>
              </a:srgbClr>
            </a:outerShdw>
          </a:effectLst>
        </p:spPr>
        <p:txBody>
          <a:bodyPr/>
          <a:lstStyle/>
          <a:p>
            <a:endParaRPr lang="en-US"/>
          </a:p>
        </p:txBody>
      </p:sp>
      <p:sp>
        <p:nvSpPr>
          <p:cNvPr id="20" name="Shape 2">
            <a:extLst>
              <a:ext uri="{FF2B5EF4-FFF2-40B4-BE49-F238E27FC236}">
                <a16:creationId xmlns:a16="http://schemas.microsoft.com/office/drawing/2014/main" id="{9F715394-6932-388A-78AE-865FA6C9EABC}"/>
              </a:ext>
            </a:extLst>
          </p:cNvPr>
          <p:cNvSpPr/>
          <p:nvPr/>
        </p:nvSpPr>
        <p:spPr>
          <a:xfrm>
            <a:off x="1833372" y="2487984"/>
            <a:ext cx="731520" cy="731520"/>
          </a:xfrm>
          <a:prstGeom prst="ellipse">
            <a:avLst/>
          </a:prstGeom>
          <a:solidFill>
            <a:srgbClr val="2F3C7E"/>
          </a:solidFill>
          <a:ln/>
        </p:spPr>
        <p:txBody>
          <a:bodyPr/>
          <a:lstStyle/>
          <a:p>
            <a:endParaRPr lang="en-US"/>
          </a:p>
        </p:txBody>
      </p:sp>
      <p:sp>
        <p:nvSpPr>
          <p:cNvPr id="21" name="Text 3">
            <a:extLst>
              <a:ext uri="{FF2B5EF4-FFF2-40B4-BE49-F238E27FC236}">
                <a16:creationId xmlns:a16="http://schemas.microsoft.com/office/drawing/2014/main" id="{120322EA-8B8F-6BA1-191E-F0BFDEBF7E16}"/>
              </a:ext>
            </a:extLst>
          </p:cNvPr>
          <p:cNvSpPr/>
          <p:nvPr/>
        </p:nvSpPr>
        <p:spPr>
          <a:xfrm>
            <a:off x="1833372" y="2487984"/>
            <a:ext cx="731520" cy="7315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22" name="Text 4">
            <a:extLst>
              <a:ext uri="{FF2B5EF4-FFF2-40B4-BE49-F238E27FC236}">
                <a16:creationId xmlns:a16="http://schemas.microsoft.com/office/drawing/2014/main" id="{59CD0738-AA5E-A9B8-1960-5AF60888415A}"/>
              </a:ext>
            </a:extLst>
          </p:cNvPr>
          <p:cNvSpPr/>
          <p:nvPr/>
        </p:nvSpPr>
        <p:spPr>
          <a:xfrm>
            <a:off x="667512" y="3402384"/>
            <a:ext cx="3063240" cy="548640"/>
          </a:xfrm>
          <a:prstGeom prst="rect">
            <a:avLst/>
          </a:prstGeom>
          <a:noFill/>
          <a:ln/>
        </p:spPr>
        <p:txBody>
          <a:bodyPr wrap="square" rtlCol="0" anchor="ctr"/>
          <a:lstStyle/>
          <a:p>
            <a:pPr marL="0" indent="0" algn="ctr">
              <a:buNone/>
            </a:pPr>
            <a:r>
              <a:rPr lang="en-US" sz="1700" b="1" dirty="0">
                <a:solidFill>
                  <a:srgbClr val="1F2A5C"/>
                </a:solidFill>
                <a:latin typeface="Cambria" pitchFamily="34" charset="0"/>
                <a:ea typeface="Cambria" pitchFamily="34" charset="-122"/>
                <a:cs typeface="Cambria" pitchFamily="34" charset="-120"/>
              </a:rPr>
              <a:t>Different Biology</a:t>
            </a:r>
            <a:endParaRPr lang="en-US" sz="1700" dirty="0"/>
          </a:p>
        </p:txBody>
      </p:sp>
      <p:sp>
        <p:nvSpPr>
          <p:cNvPr id="23" name="Text 5">
            <a:extLst>
              <a:ext uri="{FF2B5EF4-FFF2-40B4-BE49-F238E27FC236}">
                <a16:creationId xmlns:a16="http://schemas.microsoft.com/office/drawing/2014/main" id="{415852EB-B45B-BBA1-84F4-5E89E91CC9A4}"/>
              </a:ext>
            </a:extLst>
          </p:cNvPr>
          <p:cNvSpPr/>
          <p:nvPr/>
        </p:nvSpPr>
        <p:spPr>
          <a:xfrm>
            <a:off x="713232" y="3951024"/>
            <a:ext cx="2971800" cy="822960"/>
          </a:xfrm>
          <a:prstGeom prst="rect">
            <a:avLst/>
          </a:prstGeom>
          <a:noFill/>
          <a:ln/>
        </p:spPr>
        <p:txBody>
          <a:bodyPr wrap="square" rtlCol="0" anchor="ctr"/>
          <a:lstStyle/>
          <a:p>
            <a:pPr marL="0" indent="0" algn="ctr">
              <a:buNone/>
            </a:pPr>
            <a:r>
              <a:rPr lang="en-US" sz="1250" dirty="0">
                <a:solidFill>
                  <a:srgbClr val="6B7094"/>
                </a:solidFill>
                <a:latin typeface="Calibri" pitchFamily="34" charset="0"/>
                <a:ea typeface="Calibri" pitchFamily="34" charset="-122"/>
                <a:cs typeface="Calibri" pitchFamily="34" charset="-120"/>
              </a:rPr>
              <a:t>Disease architecture genuinely diverges across ancestries</a:t>
            </a:r>
            <a:endParaRPr lang="en-US" sz="1250" dirty="0"/>
          </a:p>
        </p:txBody>
      </p:sp>
      <p:sp>
        <p:nvSpPr>
          <p:cNvPr id="24" name="Shape 6">
            <a:extLst>
              <a:ext uri="{FF2B5EF4-FFF2-40B4-BE49-F238E27FC236}">
                <a16:creationId xmlns:a16="http://schemas.microsoft.com/office/drawing/2014/main" id="{194003B7-4FDD-6454-00AB-ECAB341DC178}"/>
              </a:ext>
            </a:extLst>
          </p:cNvPr>
          <p:cNvSpPr/>
          <p:nvPr/>
        </p:nvSpPr>
        <p:spPr>
          <a:xfrm>
            <a:off x="4233672" y="2167944"/>
            <a:ext cx="3520440" cy="2743200"/>
          </a:xfrm>
          <a:prstGeom prst="roundRect">
            <a:avLst>
              <a:gd name="adj" fmla="val 3333"/>
            </a:avLst>
          </a:prstGeom>
          <a:solidFill>
            <a:srgbClr val="FFFFFF"/>
          </a:solidFill>
          <a:ln w="12700">
            <a:solidFill>
              <a:srgbClr val="D8DAE8"/>
            </a:solidFill>
            <a:prstDash val="solid"/>
          </a:ln>
          <a:effectLst>
            <a:outerShdw blurRad="76200" dist="25400" dir="5400000" algn="bl" rotWithShape="0">
              <a:srgbClr val="222222">
                <a:alpha val="15000"/>
              </a:srgbClr>
            </a:outerShdw>
          </a:effectLst>
        </p:spPr>
        <p:txBody>
          <a:bodyPr/>
          <a:lstStyle/>
          <a:p>
            <a:endParaRPr lang="en-US"/>
          </a:p>
        </p:txBody>
      </p:sp>
      <p:sp>
        <p:nvSpPr>
          <p:cNvPr id="25" name="Shape 7">
            <a:extLst>
              <a:ext uri="{FF2B5EF4-FFF2-40B4-BE49-F238E27FC236}">
                <a16:creationId xmlns:a16="http://schemas.microsoft.com/office/drawing/2014/main" id="{6149E9C2-76EA-F029-FEFE-E4BD92C6FA01}"/>
              </a:ext>
            </a:extLst>
          </p:cNvPr>
          <p:cNvSpPr/>
          <p:nvPr/>
        </p:nvSpPr>
        <p:spPr>
          <a:xfrm>
            <a:off x="5628132" y="2487984"/>
            <a:ext cx="731520" cy="731520"/>
          </a:xfrm>
          <a:prstGeom prst="ellipse">
            <a:avLst/>
          </a:prstGeom>
          <a:solidFill>
            <a:srgbClr val="2F3C7E"/>
          </a:solidFill>
          <a:ln/>
        </p:spPr>
        <p:txBody>
          <a:bodyPr/>
          <a:lstStyle/>
          <a:p>
            <a:endParaRPr lang="en-US"/>
          </a:p>
        </p:txBody>
      </p:sp>
      <p:sp>
        <p:nvSpPr>
          <p:cNvPr id="26" name="Text 8">
            <a:extLst>
              <a:ext uri="{FF2B5EF4-FFF2-40B4-BE49-F238E27FC236}">
                <a16:creationId xmlns:a16="http://schemas.microsoft.com/office/drawing/2014/main" id="{4A5354E6-05BA-AE66-65AE-26A24757B720}"/>
              </a:ext>
            </a:extLst>
          </p:cNvPr>
          <p:cNvSpPr/>
          <p:nvPr/>
        </p:nvSpPr>
        <p:spPr>
          <a:xfrm>
            <a:off x="5628132" y="2487984"/>
            <a:ext cx="731520" cy="7315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27" name="Text 9">
            <a:extLst>
              <a:ext uri="{FF2B5EF4-FFF2-40B4-BE49-F238E27FC236}">
                <a16:creationId xmlns:a16="http://schemas.microsoft.com/office/drawing/2014/main" id="{88BE1A8B-52C8-A679-4FD2-D5214C7BADDB}"/>
              </a:ext>
            </a:extLst>
          </p:cNvPr>
          <p:cNvSpPr/>
          <p:nvPr/>
        </p:nvSpPr>
        <p:spPr>
          <a:xfrm>
            <a:off x="4462272" y="3402384"/>
            <a:ext cx="3063240" cy="548640"/>
          </a:xfrm>
          <a:prstGeom prst="rect">
            <a:avLst/>
          </a:prstGeom>
          <a:noFill/>
          <a:ln/>
        </p:spPr>
        <p:txBody>
          <a:bodyPr wrap="square" rtlCol="0" anchor="ctr"/>
          <a:lstStyle/>
          <a:p>
            <a:pPr marL="0" indent="0" algn="ctr">
              <a:buNone/>
            </a:pPr>
            <a:r>
              <a:rPr lang="en-US" sz="1700" b="1" dirty="0">
                <a:solidFill>
                  <a:srgbClr val="1F2A5C"/>
                </a:solidFill>
                <a:latin typeface="Cambria" pitchFamily="34" charset="0"/>
                <a:ea typeface="Cambria" pitchFamily="34" charset="-122"/>
                <a:cs typeface="Cambria" pitchFamily="34" charset="-120"/>
              </a:rPr>
              <a:t>Technical Artifacts</a:t>
            </a:r>
            <a:endParaRPr lang="en-US" sz="1700" dirty="0"/>
          </a:p>
        </p:txBody>
      </p:sp>
      <p:sp>
        <p:nvSpPr>
          <p:cNvPr id="28" name="Text 10">
            <a:extLst>
              <a:ext uri="{FF2B5EF4-FFF2-40B4-BE49-F238E27FC236}">
                <a16:creationId xmlns:a16="http://schemas.microsoft.com/office/drawing/2014/main" id="{BF21ACE6-7A45-74E6-70B4-D14D5BEAE456}"/>
              </a:ext>
            </a:extLst>
          </p:cNvPr>
          <p:cNvSpPr/>
          <p:nvPr/>
        </p:nvSpPr>
        <p:spPr>
          <a:xfrm>
            <a:off x="4507992" y="3951024"/>
            <a:ext cx="2971800" cy="822960"/>
          </a:xfrm>
          <a:prstGeom prst="rect">
            <a:avLst/>
          </a:prstGeom>
          <a:noFill/>
          <a:ln/>
        </p:spPr>
        <p:txBody>
          <a:bodyPr wrap="square" rtlCol="0" anchor="ctr"/>
          <a:lstStyle/>
          <a:p>
            <a:pPr marL="0" indent="0" algn="ctr">
              <a:buNone/>
            </a:pPr>
            <a:r>
              <a:rPr lang="en-US" sz="1250" dirty="0">
                <a:solidFill>
                  <a:srgbClr val="6B7094"/>
                </a:solidFill>
                <a:latin typeface="Calibri" pitchFamily="34" charset="0"/>
                <a:ea typeface="Calibri" pitchFamily="34" charset="-122"/>
                <a:cs typeface="Calibri" pitchFamily="34" charset="-120"/>
              </a:rPr>
              <a:t>Mismatched linkage-disequilibrium (LD) patterns and allele frequencies</a:t>
            </a:r>
            <a:endParaRPr lang="en-US" sz="1250" dirty="0"/>
          </a:p>
        </p:txBody>
      </p:sp>
      <p:sp>
        <p:nvSpPr>
          <p:cNvPr id="29" name="Shape 11">
            <a:extLst>
              <a:ext uri="{FF2B5EF4-FFF2-40B4-BE49-F238E27FC236}">
                <a16:creationId xmlns:a16="http://schemas.microsoft.com/office/drawing/2014/main" id="{B66D9654-286D-ADF9-1CC7-73EDEC27B896}"/>
              </a:ext>
            </a:extLst>
          </p:cNvPr>
          <p:cNvSpPr/>
          <p:nvPr/>
        </p:nvSpPr>
        <p:spPr>
          <a:xfrm>
            <a:off x="8028432" y="2167944"/>
            <a:ext cx="3520440" cy="2743200"/>
          </a:xfrm>
          <a:prstGeom prst="roundRect">
            <a:avLst>
              <a:gd name="adj" fmla="val 3333"/>
            </a:avLst>
          </a:prstGeom>
          <a:solidFill>
            <a:srgbClr val="F96167"/>
          </a:solidFill>
          <a:ln w="12700">
            <a:solidFill>
              <a:srgbClr val="F96167"/>
            </a:solidFill>
            <a:prstDash val="solid"/>
          </a:ln>
          <a:effectLst>
            <a:outerShdw blurRad="76200" dist="25400" dir="5400000" algn="bl" rotWithShape="0">
              <a:srgbClr val="222222">
                <a:alpha val="15000"/>
              </a:srgbClr>
            </a:outerShdw>
          </a:effectLst>
        </p:spPr>
        <p:txBody>
          <a:bodyPr/>
          <a:lstStyle/>
          <a:p>
            <a:endParaRPr lang="en-US"/>
          </a:p>
        </p:txBody>
      </p:sp>
      <p:sp>
        <p:nvSpPr>
          <p:cNvPr id="30" name="Shape 12">
            <a:extLst>
              <a:ext uri="{FF2B5EF4-FFF2-40B4-BE49-F238E27FC236}">
                <a16:creationId xmlns:a16="http://schemas.microsoft.com/office/drawing/2014/main" id="{71426BCC-9A64-3F00-5E84-48EB355F1E68}"/>
              </a:ext>
            </a:extLst>
          </p:cNvPr>
          <p:cNvSpPr/>
          <p:nvPr/>
        </p:nvSpPr>
        <p:spPr>
          <a:xfrm>
            <a:off x="9422892" y="2487984"/>
            <a:ext cx="731520" cy="731520"/>
          </a:xfrm>
          <a:prstGeom prst="ellipse">
            <a:avLst/>
          </a:prstGeom>
          <a:solidFill>
            <a:srgbClr val="1F2A5C"/>
          </a:solidFill>
          <a:ln/>
        </p:spPr>
        <p:txBody>
          <a:bodyPr/>
          <a:lstStyle/>
          <a:p>
            <a:endParaRPr lang="en-US"/>
          </a:p>
        </p:txBody>
      </p:sp>
      <p:sp>
        <p:nvSpPr>
          <p:cNvPr id="31" name="Text 13">
            <a:extLst>
              <a:ext uri="{FF2B5EF4-FFF2-40B4-BE49-F238E27FC236}">
                <a16:creationId xmlns:a16="http://schemas.microsoft.com/office/drawing/2014/main" id="{6DDF13E1-7050-9AE7-17C0-4CA7621F7334}"/>
              </a:ext>
            </a:extLst>
          </p:cNvPr>
          <p:cNvSpPr/>
          <p:nvPr/>
        </p:nvSpPr>
        <p:spPr>
          <a:xfrm>
            <a:off x="9422892" y="2487984"/>
            <a:ext cx="731520" cy="7315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32" name="Text 14">
            <a:extLst>
              <a:ext uri="{FF2B5EF4-FFF2-40B4-BE49-F238E27FC236}">
                <a16:creationId xmlns:a16="http://schemas.microsoft.com/office/drawing/2014/main" id="{2BA29624-50D9-2911-CA76-1E8173FD5B79}"/>
              </a:ext>
            </a:extLst>
          </p:cNvPr>
          <p:cNvSpPr/>
          <p:nvPr/>
        </p:nvSpPr>
        <p:spPr>
          <a:xfrm>
            <a:off x="8257032" y="3402384"/>
            <a:ext cx="3063240" cy="548640"/>
          </a:xfrm>
          <a:prstGeom prst="rect">
            <a:avLst/>
          </a:prstGeom>
          <a:noFill/>
          <a:ln/>
        </p:spPr>
        <p:txBody>
          <a:bodyPr wrap="square" rtlCol="0" anchor="ctr"/>
          <a:lstStyle/>
          <a:p>
            <a:pPr marL="0" indent="0" algn="ctr">
              <a:buNone/>
            </a:pPr>
            <a:r>
              <a:rPr lang="en-US" sz="1700" b="1" dirty="0">
                <a:solidFill>
                  <a:srgbClr val="1F2A5C"/>
                </a:solidFill>
                <a:latin typeface="Cambria" pitchFamily="34" charset="0"/>
                <a:ea typeface="Cambria" pitchFamily="34" charset="-122"/>
                <a:cs typeface="Cambria" pitchFamily="34" charset="-120"/>
              </a:rPr>
              <a:t>Limited Discovery Power</a:t>
            </a:r>
            <a:endParaRPr lang="en-US" sz="1700" dirty="0"/>
          </a:p>
        </p:txBody>
      </p:sp>
      <p:sp>
        <p:nvSpPr>
          <p:cNvPr id="33" name="Text 15">
            <a:extLst>
              <a:ext uri="{FF2B5EF4-FFF2-40B4-BE49-F238E27FC236}">
                <a16:creationId xmlns:a16="http://schemas.microsoft.com/office/drawing/2014/main" id="{2E72C87D-19BD-C293-63DF-E31AC63D2C03}"/>
              </a:ext>
            </a:extLst>
          </p:cNvPr>
          <p:cNvSpPr/>
          <p:nvPr/>
        </p:nvSpPr>
        <p:spPr>
          <a:xfrm>
            <a:off x="8302752" y="3951024"/>
            <a:ext cx="2971800" cy="822960"/>
          </a:xfrm>
          <a:prstGeom prst="rect">
            <a:avLst/>
          </a:prstGeom>
          <a:noFill/>
          <a:ln/>
        </p:spPr>
        <p:txBody>
          <a:bodyPr wrap="square" rtlCol="0" anchor="ctr"/>
          <a:lstStyle/>
          <a:p>
            <a:pPr marL="0" indent="0" algn="ctr">
              <a:buNone/>
            </a:pPr>
            <a:r>
              <a:rPr lang="en-US" sz="1250" dirty="0">
                <a:solidFill>
                  <a:srgbClr val="1F2A5C"/>
                </a:solidFill>
                <a:latin typeface="Calibri" pitchFamily="34" charset="0"/>
                <a:ea typeface="Calibri" pitchFamily="34" charset="-122"/>
                <a:cs typeface="Calibri" pitchFamily="34" charset="-120"/>
              </a:rPr>
              <a:t>Simply not enough South Asian GWAS data to estimate effects precisely</a:t>
            </a:r>
            <a:endParaRPr lang="en-US" sz="1250" dirty="0"/>
          </a:p>
        </p:txBody>
      </p:sp>
      <p:sp>
        <p:nvSpPr>
          <p:cNvPr id="34" name="Shape 16">
            <a:extLst>
              <a:ext uri="{FF2B5EF4-FFF2-40B4-BE49-F238E27FC236}">
                <a16:creationId xmlns:a16="http://schemas.microsoft.com/office/drawing/2014/main" id="{D84C88F1-D92B-0A1F-77E9-B8060EAABDE1}"/>
              </a:ext>
            </a:extLst>
          </p:cNvPr>
          <p:cNvSpPr/>
          <p:nvPr/>
        </p:nvSpPr>
        <p:spPr>
          <a:xfrm>
            <a:off x="438912" y="5185464"/>
            <a:ext cx="11064240" cy="1417320"/>
          </a:xfrm>
          <a:prstGeom prst="roundRect">
            <a:avLst>
              <a:gd name="adj" fmla="val 6452"/>
            </a:avLst>
          </a:prstGeom>
          <a:solidFill>
            <a:srgbClr val="2F3C7E"/>
          </a:solidFill>
          <a:ln/>
        </p:spPr>
        <p:txBody>
          <a:bodyPr/>
          <a:lstStyle/>
          <a:p>
            <a:endParaRPr lang="en-US"/>
          </a:p>
        </p:txBody>
      </p:sp>
      <p:sp>
        <p:nvSpPr>
          <p:cNvPr id="35" name="Text 17">
            <a:extLst>
              <a:ext uri="{FF2B5EF4-FFF2-40B4-BE49-F238E27FC236}">
                <a16:creationId xmlns:a16="http://schemas.microsoft.com/office/drawing/2014/main" id="{5C3D550D-4463-B599-30E8-D4B545DCA67D}"/>
              </a:ext>
            </a:extLst>
          </p:cNvPr>
          <p:cNvSpPr/>
          <p:nvPr/>
        </p:nvSpPr>
        <p:spPr>
          <a:xfrm>
            <a:off x="758952" y="5276904"/>
            <a:ext cx="10424160" cy="1234440"/>
          </a:xfrm>
          <a:prstGeom prst="rect">
            <a:avLst/>
          </a:prstGeom>
          <a:noFill/>
          <a:ln/>
        </p:spPr>
        <p:txBody>
          <a:bodyPr wrap="square" rtlCol="0" anchor="ctr"/>
          <a:lstStyle/>
          <a:p>
            <a:pPr marL="0" indent="0">
              <a:lnSpc>
                <a:spcPct val="115000"/>
              </a:lnSpc>
              <a:buNone/>
            </a:pPr>
            <a:r>
              <a:rPr lang="en-US" sz="1550" b="1" dirty="0">
                <a:solidFill>
                  <a:srgbClr val="F9E795"/>
                </a:solidFill>
                <a:latin typeface="Calibri" pitchFamily="34" charset="0"/>
                <a:ea typeface="Calibri" pitchFamily="34" charset="-122"/>
                <a:cs typeface="Calibri" pitchFamily="34" charset="-120"/>
              </a:rPr>
              <a:t>Hypothesis:  </a:t>
            </a:r>
            <a:r>
              <a:rPr lang="en-US" sz="1550" dirty="0">
                <a:solidFill>
                  <a:srgbClr val="FFFFFF"/>
                </a:solidFill>
                <a:latin typeface="Calibri" pitchFamily="34" charset="0"/>
                <a:ea typeface="Calibri" pitchFamily="34" charset="-122"/>
                <a:cs typeface="Calibri" pitchFamily="34" charset="-120"/>
              </a:rPr>
              <a:t>Limited discovery power in South Asian cohorts — not divergent disease biology — is the dominant driver of poor PRS transferability. The distinction matters: the fix differs completely depending on which is true.</a:t>
            </a:r>
            <a:endParaRPr lang="en-US" sz="1550" dirty="0"/>
          </a:p>
        </p:txBody>
      </p:sp>
    </p:spTree>
    <p:extLst>
      <p:ext uri="{BB962C8B-B14F-4D97-AF65-F5344CB8AC3E}">
        <p14:creationId xmlns:p14="http://schemas.microsoft.com/office/powerpoint/2010/main" val="89345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rtlCol="0" anchor="ctr"/>
          <a:lstStyle/>
          <a:p>
            <a:pPr marL="0" indent="0">
              <a:buNone/>
            </a:pPr>
            <a:r>
              <a:rPr lang="en-US" sz="2800" b="1" dirty="0">
                <a:solidFill>
                  <a:srgbClr val="1F2A5C"/>
                </a:solidFill>
                <a:latin typeface="Cambria" pitchFamily="34" charset="0"/>
                <a:ea typeface="Cambria" pitchFamily="34" charset="-122"/>
                <a:cs typeface="Cambria" pitchFamily="34" charset="-120"/>
              </a:rPr>
              <a:t>Study Design at a Glance</a:t>
            </a:r>
            <a:endParaRPr lang="en-US" sz="2800" dirty="0"/>
          </a:p>
        </p:txBody>
      </p:sp>
      <p:sp>
        <p:nvSpPr>
          <p:cNvPr id="3" name="Text 1"/>
          <p:cNvSpPr/>
          <p:nvPr/>
        </p:nvSpPr>
        <p:spPr>
          <a:xfrm>
            <a:off x="548640" y="914400"/>
            <a:ext cx="11064240" cy="411480"/>
          </a:xfrm>
          <a:prstGeom prst="rect">
            <a:avLst/>
          </a:prstGeom>
          <a:noFill/>
          <a:ln/>
        </p:spPr>
        <p:txBody>
          <a:bodyPr wrap="square" rtlCol="0" anchor="ctr"/>
          <a:lstStyle/>
          <a:p>
            <a:pPr marL="0" indent="0">
              <a:buNone/>
            </a:pPr>
            <a:r>
              <a:rPr lang="en-US" sz="1400" i="1" dirty="0">
                <a:solidFill>
                  <a:srgbClr val="6B7094"/>
                </a:solidFill>
                <a:latin typeface="Calibri" pitchFamily="34" charset="0"/>
                <a:ea typeface="Calibri" pitchFamily="34" charset="-122"/>
                <a:cs typeface="Calibri" pitchFamily="34" charset="-120"/>
              </a:rPr>
              <a:t>Public summary statistics + individual genotypes  →  QC &amp; ancestry PCA  →  four PRS configurations  →  five transferability metrics</a:t>
            </a:r>
            <a:endParaRPr lang="en-US" sz="1400" dirty="0"/>
          </a:p>
        </p:txBody>
      </p:sp>
      <p:sp>
        <p:nvSpPr>
          <p:cNvPr id="5" name="Text 2"/>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4</a:t>
            </a:r>
            <a:endParaRPr lang="en-US" sz="1000" dirty="0"/>
          </a:p>
        </p:txBody>
      </p:sp>
      <p:pic>
        <p:nvPicPr>
          <p:cNvPr id="8" name="Picture 7">
            <a:extLst>
              <a:ext uri="{FF2B5EF4-FFF2-40B4-BE49-F238E27FC236}">
                <a16:creationId xmlns:a16="http://schemas.microsoft.com/office/drawing/2014/main" id="{1151163F-DBB2-991F-8B79-ACCA0376A64C}"/>
              </a:ext>
            </a:extLst>
          </p:cNvPr>
          <p:cNvPicPr>
            <a:picLocks noChangeAspect="1"/>
          </p:cNvPicPr>
          <p:nvPr/>
        </p:nvPicPr>
        <p:blipFill>
          <a:blip r:embed="rId3"/>
          <a:srcRect t="11001" b="6990"/>
          <a:stretch>
            <a:fillRect/>
          </a:stretch>
        </p:blipFill>
        <p:spPr>
          <a:xfrm>
            <a:off x="548640" y="1508760"/>
            <a:ext cx="11287146" cy="5166360"/>
          </a:xfrm>
          <a:prstGeom prst="rect">
            <a:avLst/>
          </a:prstGeom>
        </p:spPr>
      </p:pic>
      <p:pic>
        <p:nvPicPr>
          <p:cNvPr id="10" name="Picture 9">
            <a:extLst>
              <a:ext uri="{FF2B5EF4-FFF2-40B4-BE49-F238E27FC236}">
                <a16:creationId xmlns:a16="http://schemas.microsoft.com/office/drawing/2014/main" id="{3B1BE202-77A5-E25C-0AF4-239B54AD3668}"/>
              </a:ext>
            </a:extLst>
          </p:cNvPr>
          <p:cNvPicPr>
            <a:picLocks/>
          </p:cNvPicPr>
          <p:nvPr/>
        </p:nvPicPr>
        <p:blipFill>
          <a:blip r:embed="rId4"/>
          <a:stretch>
            <a:fillRect/>
          </a:stretch>
        </p:blipFill>
        <p:spPr>
          <a:xfrm>
            <a:off x="1632296" y="1566116"/>
            <a:ext cx="457200" cy="201706"/>
          </a:xfrm>
          <a:prstGeom prst="rect">
            <a:avLst/>
          </a:prstGeom>
        </p:spPr>
      </p:pic>
      <p:pic>
        <p:nvPicPr>
          <p:cNvPr id="11" name="Picture 10">
            <a:extLst>
              <a:ext uri="{FF2B5EF4-FFF2-40B4-BE49-F238E27FC236}">
                <a16:creationId xmlns:a16="http://schemas.microsoft.com/office/drawing/2014/main" id="{8EFC906A-6BF8-65EA-E3A4-189882D14AB8}"/>
              </a:ext>
            </a:extLst>
          </p:cNvPr>
          <p:cNvPicPr>
            <a:picLocks/>
          </p:cNvPicPr>
          <p:nvPr/>
        </p:nvPicPr>
        <p:blipFill>
          <a:blip r:embed="rId4"/>
          <a:stretch>
            <a:fillRect/>
          </a:stretch>
        </p:blipFill>
        <p:spPr>
          <a:xfrm>
            <a:off x="7695045" y="1566116"/>
            <a:ext cx="457200" cy="201706"/>
          </a:xfrm>
          <a:prstGeom prst="rect">
            <a:avLst/>
          </a:prstGeom>
        </p:spPr>
      </p:pic>
      <p:pic>
        <p:nvPicPr>
          <p:cNvPr id="12" name="Picture 11">
            <a:extLst>
              <a:ext uri="{FF2B5EF4-FFF2-40B4-BE49-F238E27FC236}">
                <a16:creationId xmlns:a16="http://schemas.microsoft.com/office/drawing/2014/main" id="{49F8BD75-6D79-53AC-818D-441FAB61E6CA}"/>
              </a:ext>
            </a:extLst>
          </p:cNvPr>
          <p:cNvPicPr>
            <a:picLocks/>
          </p:cNvPicPr>
          <p:nvPr/>
        </p:nvPicPr>
        <p:blipFill>
          <a:blip r:embed="rId4"/>
          <a:stretch>
            <a:fillRect/>
          </a:stretch>
        </p:blipFill>
        <p:spPr>
          <a:xfrm>
            <a:off x="1668548" y="4127442"/>
            <a:ext cx="457200" cy="201706"/>
          </a:xfrm>
          <a:prstGeom prst="rect">
            <a:avLst/>
          </a:prstGeom>
        </p:spPr>
      </p:pic>
      <p:pic>
        <p:nvPicPr>
          <p:cNvPr id="13" name="Picture 12">
            <a:extLst>
              <a:ext uri="{FF2B5EF4-FFF2-40B4-BE49-F238E27FC236}">
                <a16:creationId xmlns:a16="http://schemas.microsoft.com/office/drawing/2014/main" id="{FB20DA6E-5730-FAC1-18C7-0F274C6EAFA7}"/>
              </a:ext>
            </a:extLst>
          </p:cNvPr>
          <p:cNvPicPr>
            <a:picLocks/>
          </p:cNvPicPr>
          <p:nvPr/>
        </p:nvPicPr>
        <p:blipFill>
          <a:blip r:embed="rId4"/>
          <a:stretch>
            <a:fillRect/>
          </a:stretch>
        </p:blipFill>
        <p:spPr>
          <a:xfrm>
            <a:off x="7503852" y="3925736"/>
            <a:ext cx="457200" cy="2017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3FD0B8B-37B4-6A82-C34D-07F016EA98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864B15-D5D0-DA41-C2AB-A1BC6B6811CB}"/>
              </a:ext>
            </a:extLst>
          </p:cNvPr>
          <p:cNvSpPr/>
          <p:nvPr/>
        </p:nvSpPr>
        <p:spPr>
          <a:xfrm>
            <a:off x="548640" y="365760"/>
            <a:ext cx="11064240" cy="594360"/>
          </a:xfrm>
          <a:prstGeom prst="rect">
            <a:avLst/>
          </a:prstGeom>
          <a:noFill/>
          <a:ln/>
        </p:spPr>
        <p:txBody>
          <a:bodyPr wrap="square" rtlCol="0" anchor="ctr"/>
          <a:lstStyle/>
          <a:p>
            <a:pPr marL="0" indent="0">
              <a:buNone/>
            </a:pPr>
            <a:r>
              <a:rPr lang="en-US" sz="2800" b="1" dirty="0">
                <a:solidFill>
                  <a:srgbClr val="1F2A5C"/>
                </a:solidFill>
                <a:latin typeface="Cambria" pitchFamily="34" charset="0"/>
              </a:rPr>
              <a:t>1. Data Sources and Phenotype Definition</a:t>
            </a:r>
            <a:endParaRPr lang="en-US" sz="2800" dirty="0"/>
          </a:p>
        </p:txBody>
      </p:sp>
      <p:sp>
        <p:nvSpPr>
          <p:cNvPr id="3" name="Text 1">
            <a:extLst>
              <a:ext uri="{FF2B5EF4-FFF2-40B4-BE49-F238E27FC236}">
                <a16:creationId xmlns:a16="http://schemas.microsoft.com/office/drawing/2014/main" id="{14D8AF82-16E9-30C6-F802-9452AB38DB29}"/>
              </a:ext>
            </a:extLst>
          </p:cNvPr>
          <p:cNvSpPr/>
          <p:nvPr/>
        </p:nvSpPr>
        <p:spPr>
          <a:xfrm>
            <a:off x="548640" y="914400"/>
            <a:ext cx="11064240" cy="411480"/>
          </a:xfrm>
          <a:prstGeom prst="rect">
            <a:avLst/>
          </a:prstGeom>
          <a:noFill/>
          <a:ln/>
        </p:spPr>
        <p:txBody>
          <a:bodyPr wrap="square" rtlCol="0" anchor="ctr"/>
          <a:lstStyle/>
          <a:p>
            <a:pPr marL="0" indent="0">
              <a:buNone/>
            </a:pPr>
            <a:r>
              <a:rPr lang="en-US" sz="1400" i="1" dirty="0">
                <a:solidFill>
                  <a:srgbClr val="6B7094"/>
                </a:solidFill>
                <a:latin typeface="Calibri" pitchFamily="34" charset="0"/>
                <a:ea typeface="Calibri" pitchFamily="34" charset="-122"/>
                <a:cs typeface="Calibri" pitchFamily="34" charset="-120"/>
              </a:rPr>
              <a:t>Public summary statistics + individual genotypes  →  QC &amp; ancestry PCA  →  four PRS configurations  →  five transferability metrics</a:t>
            </a:r>
            <a:endParaRPr lang="en-US" sz="1400" dirty="0"/>
          </a:p>
        </p:txBody>
      </p:sp>
      <p:sp>
        <p:nvSpPr>
          <p:cNvPr id="5" name="Text 2">
            <a:extLst>
              <a:ext uri="{FF2B5EF4-FFF2-40B4-BE49-F238E27FC236}">
                <a16:creationId xmlns:a16="http://schemas.microsoft.com/office/drawing/2014/main" id="{62B4B933-E121-FF85-4FEB-BA86F2C71504}"/>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4</a:t>
            </a:r>
            <a:endParaRPr lang="en-US" sz="1000" dirty="0"/>
          </a:p>
        </p:txBody>
      </p:sp>
      <p:pic>
        <p:nvPicPr>
          <p:cNvPr id="8" name="Picture 7">
            <a:extLst>
              <a:ext uri="{FF2B5EF4-FFF2-40B4-BE49-F238E27FC236}">
                <a16:creationId xmlns:a16="http://schemas.microsoft.com/office/drawing/2014/main" id="{C5BC6338-0515-1635-FAC4-7F071641857D}"/>
              </a:ext>
            </a:extLst>
          </p:cNvPr>
          <p:cNvPicPr>
            <a:picLocks noChangeAspect="1"/>
          </p:cNvPicPr>
          <p:nvPr/>
        </p:nvPicPr>
        <p:blipFill>
          <a:blip r:embed="rId3"/>
          <a:srcRect t="11001" r="49965" b="48616"/>
          <a:stretch>
            <a:fillRect/>
          </a:stretch>
        </p:blipFill>
        <p:spPr>
          <a:xfrm>
            <a:off x="548640" y="1508760"/>
            <a:ext cx="10707922" cy="4823801"/>
          </a:xfrm>
          <a:prstGeom prst="rect">
            <a:avLst/>
          </a:prstGeom>
        </p:spPr>
      </p:pic>
      <p:pic>
        <p:nvPicPr>
          <p:cNvPr id="10" name="Picture 9">
            <a:extLst>
              <a:ext uri="{FF2B5EF4-FFF2-40B4-BE49-F238E27FC236}">
                <a16:creationId xmlns:a16="http://schemas.microsoft.com/office/drawing/2014/main" id="{12030208-EA07-157F-00F3-C222E6F0DBCB}"/>
              </a:ext>
            </a:extLst>
          </p:cNvPr>
          <p:cNvPicPr>
            <a:picLocks/>
          </p:cNvPicPr>
          <p:nvPr/>
        </p:nvPicPr>
        <p:blipFill>
          <a:blip r:embed="rId4"/>
          <a:stretch>
            <a:fillRect/>
          </a:stretch>
        </p:blipFill>
        <p:spPr>
          <a:xfrm>
            <a:off x="2661314" y="1566115"/>
            <a:ext cx="6769289" cy="426457"/>
          </a:xfrm>
          <a:prstGeom prst="rect">
            <a:avLst/>
          </a:prstGeom>
        </p:spPr>
      </p:pic>
    </p:spTree>
    <p:extLst>
      <p:ext uri="{BB962C8B-B14F-4D97-AF65-F5344CB8AC3E}">
        <p14:creationId xmlns:p14="http://schemas.microsoft.com/office/powerpoint/2010/main" val="4274305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6B2C898-1856-5C0C-0F87-4E817E0359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F00A0A-B9DB-253B-8161-3D4D313D5FFC}"/>
              </a:ext>
            </a:extLst>
          </p:cNvPr>
          <p:cNvSpPr/>
          <p:nvPr/>
        </p:nvSpPr>
        <p:spPr>
          <a:xfrm>
            <a:off x="548640" y="365760"/>
            <a:ext cx="11064240" cy="594360"/>
          </a:xfrm>
          <a:prstGeom prst="rect">
            <a:avLst/>
          </a:prstGeom>
          <a:noFill/>
          <a:ln/>
        </p:spPr>
        <p:txBody>
          <a:bodyPr wrap="square" rtlCol="0" anchor="ctr"/>
          <a:lstStyle/>
          <a:p>
            <a:pPr marL="0" indent="0">
              <a:buNone/>
            </a:pPr>
            <a:r>
              <a:rPr lang="en-US" sz="2800" b="1" dirty="0">
                <a:solidFill>
                  <a:srgbClr val="1F2A5C"/>
                </a:solidFill>
                <a:latin typeface="Cambria" pitchFamily="34" charset="0"/>
                <a:ea typeface="Cambria" pitchFamily="34" charset="-122"/>
                <a:cs typeface="Cambria" pitchFamily="34" charset="-120"/>
              </a:rPr>
              <a:t>2. Quality Control Workflow</a:t>
            </a:r>
            <a:endParaRPr lang="en-US" sz="2800" dirty="0"/>
          </a:p>
        </p:txBody>
      </p:sp>
      <p:sp>
        <p:nvSpPr>
          <p:cNvPr id="3" name="Text 1">
            <a:extLst>
              <a:ext uri="{FF2B5EF4-FFF2-40B4-BE49-F238E27FC236}">
                <a16:creationId xmlns:a16="http://schemas.microsoft.com/office/drawing/2014/main" id="{B781B1A7-E14B-2FA3-1D78-BF990EB916A5}"/>
              </a:ext>
            </a:extLst>
          </p:cNvPr>
          <p:cNvSpPr/>
          <p:nvPr/>
        </p:nvSpPr>
        <p:spPr>
          <a:xfrm>
            <a:off x="548640" y="914400"/>
            <a:ext cx="11064240" cy="411480"/>
          </a:xfrm>
          <a:prstGeom prst="rect">
            <a:avLst/>
          </a:prstGeom>
          <a:noFill/>
          <a:ln/>
        </p:spPr>
        <p:txBody>
          <a:bodyPr wrap="square" rtlCol="0" anchor="ctr"/>
          <a:lstStyle/>
          <a:p>
            <a:pPr marL="0" indent="0">
              <a:buNone/>
            </a:pPr>
            <a:r>
              <a:rPr lang="en-US" sz="1400" i="1" dirty="0">
                <a:solidFill>
                  <a:srgbClr val="6B7094"/>
                </a:solidFill>
                <a:latin typeface="Calibri" pitchFamily="34" charset="0"/>
                <a:ea typeface="Calibri" pitchFamily="34" charset="-122"/>
                <a:cs typeface="Calibri" pitchFamily="34" charset="-120"/>
              </a:rPr>
              <a:t>Public summary statistics + individual genotypes  →  QC &amp; ancestry PCA  →  four PRS configurations  →  five transferability metrics</a:t>
            </a:r>
            <a:endParaRPr lang="en-US" sz="1400" dirty="0"/>
          </a:p>
        </p:txBody>
      </p:sp>
      <p:sp>
        <p:nvSpPr>
          <p:cNvPr id="5" name="Text 2">
            <a:extLst>
              <a:ext uri="{FF2B5EF4-FFF2-40B4-BE49-F238E27FC236}">
                <a16:creationId xmlns:a16="http://schemas.microsoft.com/office/drawing/2014/main" id="{45A345F2-373D-ACEB-892D-B5D839D40606}"/>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4</a:t>
            </a:r>
            <a:endParaRPr lang="en-US" sz="1000" dirty="0"/>
          </a:p>
        </p:txBody>
      </p:sp>
      <p:pic>
        <p:nvPicPr>
          <p:cNvPr id="8" name="Picture 7">
            <a:extLst>
              <a:ext uri="{FF2B5EF4-FFF2-40B4-BE49-F238E27FC236}">
                <a16:creationId xmlns:a16="http://schemas.microsoft.com/office/drawing/2014/main" id="{8465A786-84CC-BEDC-C0D6-B91FD7BEFF89}"/>
              </a:ext>
            </a:extLst>
          </p:cNvPr>
          <p:cNvPicPr>
            <a:picLocks noChangeAspect="1"/>
          </p:cNvPicPr>
          <p:nvPr/>
        </p:nvPicPr>
        <p:blipFill>
          <a:blip r:embed="rId3"/>
          <a:srcRect l="50034" t="11000" b="51424"/>
          <a:stretch>
            <a:fillRect/>
          </a:stretch>
        </p:blipFill>
        <p:spPr>
          <a:xfrm>
            <a:off x="548640" y="1508760"/>
            <a:ext cx="11287146" cy="4737658"/>
          </a:xfrm>
          <a:prstGeom prst="rect">
            <a:avLst/>
          </a:prstGeom>
        </p:spPr>
      </p:pic>
      <p:pic>
        <p:nvPicPr>
          <p:cNvPr id="4" name="Picture 3">
            <a:extLst>
              <a:ext uri="{FF2B5EF4-FFF2-40B4-BE49-F238E27FC236}">
                <a16:creationId xmlns:a16="http://schemas.microsoft.com/office/drawing/2014/main" id="{8438BF15-0B5F-B54B-6960-3E7BABF218B9}"/>
              </a:ext>
            </a:extLst>
          </p:cNvPr>
          <p:cNvPicPr>
            <a:picLocks/>
          </p:cNvPicPr>
          <p:nvPr/>
        </p:nvPicPr>
        <p:blipFill>
          <a:blip r:embed="rId4"/>
          <a:stretch>
            <a:fillRect/>
          </a:stretch>
        </p:blipFill>
        <p:spPr>
          <a:xfrm>
            <a:off x="3411940" y="1577000"/>
            <a:ext cx="5595582" cy="426457"/>
          </a:xfrm>
          <a:prstGeom prst="rect">
            <a:avLst/>
          </a:prstGeom>
        </p:spPr>
      </p:pic>
    </p:spTree>
    <p:extLst>
      <p:ext uri="{BB962C8B-B14F-4D97-AF65-F5344CB8AC3E}">
        <p14:creationId xmlns:p14="http://schemas.microsoft.com/office/powerpoint/2010/main" val="3617825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8FFA26-D4EE-AD98-A06A-FAB4F2DAB0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EB4044-CD49-FB85-EFDB-0851E969DE3F}"/>
              </a:ext>
            </a:extLst>
          </p:cNvPr>
          <p:cNvSpPr/>
          <p:nvPr/>
        </p:nvSpPr>
        <p:spPr>
          <a:xfrm>
            <a:off x="548640" y="365760"/>
            <a:ext cx="11064240" cy="594360"/>
          </a:xfrm>
          <a:prstGeom prst="rect">
            <a:avLst/>
          </a:prstGeom>
          <a:noFill/>
          <a:ln/>
        </p:spPr>
        <p:txBody>
          <a:bodyPr wrap="square" rtlCol="0" anchor="ctr"/>
          <a:lstStyle/>
          <a:p>
            <a:pPr marL="0" indent="0">
              <a:buNone/>
            </a:pPr>
            <a:r>
              <a:rPr lang="en-US" sz="2800" b="1" dirty="0">
                <a:solidFill>
                  <a:srgbClr val="1F2A5C"/>
                </a:solidFill>
                <a:latin typeface="Cambria" pitchFamily="34" charset="0"/>
                <a:ea typeface="Cambria" pitchFamily="34" charset="-122"/>
                <a:cs typeface="Cambria" pitchFamily="34" charset="-120"/>
              </a:rPr>
              <a:t>3.  PRS Construction and Standardization</a:t>
            </a:r>
            <a:endParaRPr lang="en-US" sz="2800" dirty="0"/>
          </a:p>
        </p:txBody>
      </p:sp>
      <p:sp>
        <p:nvSpPr>
          <p:cNvPr id="3" name="Text 1">
            <a:extLst>
              <a:ext uri="{FF2B5EF4-FFF2-40B4-BE49-F238E27FC236}">
                <a16:creationId xmlns:a16="http://schemas.microsoft.com/office/drawing/2014/main" id="{5F63BA0C-3F81-0FDD-F661-A77543F3DBB6}"/>
              </a:ext>
            </a:extLst>
          </p:cNvPr>
          <p:cNvSpPr/>
          <p:nvPr/>
        </p:nvSpPr>
        <p:spPr>
          <a:xfrm>
            <a:off x="548640" y="914400"/>
            <a:ext cx="11064240" cy="411480"/>
          </a:xfrm>
          <a:prstGeom prst="rect">
            <a:avLst/>
          </a:prstGeom>
          <a:noFill/>
          <a:ln/>
        </p:spPr>
        <p:txBody>
          <a:bodyPr wrap="square" rtlCol="0" anchor="ctr"/>
          <a:lstStyle/>
          <a:p>
            <a:pPr marL="0" indent="0">
              <a:buNone/>
            </a:pPr>
            <a:r>
              <a:rPr lang="en-US" sz="1400" i="1" dirty="0">
                <a:solidFill>
                  <a:srgbClr val="6B7094"/>
                </a:solidFill>
                <a:latin typeface="Calibri" pitchFamily="34" charset="0"/>
                <a:ea typeface="Calibri" pitchFamily="34" charset="-122"/>
                <a:cs typeface="Calibri" pitchFamily="34" charset="-120"/>
              </a:rPr>
              <a:t>Public summary statistics + individual genotypes  →  QC &amp; ancestry PCA  →  four PRS configurations  →  five transferability metrics</a:t>
            </a:r>
            <a:endParaRPr lang="en-US" sz="1400" dirty="0"/>
          </a:p>
        </p:txBody>
      </p:sp>
      <p:sp>
        <p:nvSpPr>
          <p:cNvPr id="5" name="Text 2">
            <a:extLst>
              <a:ext uri="{FF2B5EF4-FFF2-40B4-BE49-F238E27FC236}">
                <a16:creationId xmlns:a16="http://schemas.microsoft.com/office/drawing/2014/main" id="{EF70B63A-FC52-98C2-AA2E-4837DCE79ADE}"/>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4</a:t>
            </a:r>
            <a:endParaRPr lang="en-US" sz="1000" dirty="0"/>
          </a:p>
        </p:txBody>
      </p:sp>
      <p:pic>
        <p:nvPicPr>
          <p:cNvPr id="8" name="Picture 7">
            <a:extLst>
              <a:ext uri="{FF2B5EF4-FFF2-40B4-BE49-F238E27FC236}">
                <a16:creationId xmlns:a16="http://schemas.microsoft.com/office/drawing/2014/main" id="{CBFA1E6D-F3F1-31D1-54FC-8107963D76E7}"/>
              </a:ext>
            </a:extLst>
          </p:cNvPr>
          <p:cNvPicPr>
            <a:picLocks noChangeAspect="1"/>
          </p:cNvPicPr>
          <p:nvPr/>
        </p:nvPicPr>
        <p:blipFill>
          <a:blip r:embed="rId3"/>
          <a:srcRect l="-1" t="50960" r="49845" b="6990"/>
          <a:stretch>
            <a:fillRect/>
          </a:stretch>
        </p:blipFill>
        <p:spPr>
          <a:xfrm>
            <a:off x="248388" y="1306175"/>
            <a:ext cx="11256674" cy="5267406"/>
          </a:xfrm>
          <a:prstGeom prst="rect">
            <a:avLst/>
          </a:prstGeom>
        </p:spPr>
      </p:pic>
      <p:pic>
        <p:nvPicPr>
          <p:cNvPr id="4" name="Picture 3">
            <a:extLst>
              <a:ext uri="{FF2B5EF4-FFF2-40B4-BE49-F238E27FC236}">
                <a16:creationId xmlns:a16="http://schemas.microsoft.com/office/drawing/2014/main" id="{820D9C34-2CA2-AB9D-30EE-E4486B2B122E}"/>
              </a:ext>
            </a:extLst>
          </p:cNvPr>
          <p:cNvPicPr>
            <a:picLocks/>
          </p:cNvPicPr>
          <p:nvPr/>
        </p:nvPicPr>
        <p:blipFill>
          <a:blip r:embed="rId4"/>
          <a:stretch>
            <a:fillRect/>
          </a:stretch>
        </p:blipFill>
        <p:spPr>
          <a:xfrm>
            <a:off x="2483892" y="1508760"/>
            <a:ext cx="7124132" cy="426457"/>
          </a:xfrm>
          <a:prstGeom prst="rect">
            <a:avLst/>
          </a:prstGeom>
        </p:spPr>
      </p:pic>
    </p:spTree>
    <p:extLst>
      <p:ext uri="{BB962C8B-B14F-4D97-AF65-F5344CB8AC3E}">
        <p14:creationId xmlns:p14="http://schemas.microsoft.com/office/powerpoint/2010/main" val="1682182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7F7FA"/>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F2A5C"/>
                </a:solidFill>
                <a:latin typeface="Cambria" pitchFamily="34" charset="0"/>
                <a:ea typeface="Cambria" pitchFamily="34" charset="-122"/>
                <a:cs typeface="Cambria" pitchFamily="34" charset="-120"/>
              </a:rPr>
              <a:t>4. Evaluation and Analysis Metrics</a:t>
            </a:r>
            <a:endParaRPr lang="en-US" sz="2800" dirty="0"/>
          </a:p>
        </p:txBody>
      </p:sp>
      <p:sp>
        <p:nvSpPr>
          <p:cNvPr id="28" name="Text 26"/>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5</a:t>
            </a:r>
            <a:endParaRPr lang="en-US" sz="1000" dirty="0"/>
          </a:p>
        </p:txBody>
      </p:sp>
      <p:pic>
        <p:nvPicPr>
          <p:cNvPr id="29" name="Picture 28">
            <a:extLst>
              <a:ext uri="{FF2B5EF4-FFF2-40B4-BE49-F238E27FC236}">
                <a16:creationId xmlns:a16="http://schemas.microsoft.com/office/drawing/2014/main" id="{18BFEB45-52D8-89DE-1EED-BAEAB3425FB7}"/>
              </a:ext>
            </a:extLst>
          </p:cNvPr>
          <p:cNvPicPr>
            <a:picLocks noChangeAspect="1"/>
          </p:cNvPicPr>
          <p:nvPr/>
        </p:nvPicPr>
        <p:blipFill>
          <a:blip r:embed="rId3"/>
          <a:srcRect l="50155" t="48171" b="6991"/>
          <a:stretch>
            <a:fillRect/>
          </a:stretch>
        </p:blipFill>
        <p:spPr>
          <a:xfrm>
            <a:off x="651035" y="1097279"/>
            <a:ext cx="10916587" cy="5480941"/>
          </a:xfrm>
          <a:prstGeom prst="rect">
            <a:avLst/>
          </a:prstGeom>
        </p:spPr>
      </p:pic>
      <p:pic>
        <p:nvPicPr>
          <p:cNvPr id="30" name="Picture 29">
            <a:extLst>
              <a:ext uri="{FF2B5EF4-FFF2-40B4-BE49-F238E27FC236}">
                <a16:creationId xmlns:a16="http://schemas.microsoft.com/office/drawing/2014/main" id="{A69537EB-FE40-7ECB-E6A3-ED2059A278EF}"/>
              </a:ext>
            </a:extLst>
          </p:cNvPr>
          <p:cNvPicPr>
            <a:picLocks/>
          </p:cNvPicPr>
          <p:nvPr/>
        </p:nvPicPr>
        <p:blipFill>
          <a:blip r:embed="rId4"/>
          <a:stretch>
            <a:fillRect/>
          </a:stretch>
        </p:blipFill>
        <p:spPr>
          <a:xfrm>
            <a:off x="3125361" y="1233015"/>
            <a:ext cx="5704740" cy="3774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rtlCol="0" anchor="ctr"/>
          <a:lstStyle/>
          <a:p>
            <a:pPr marL="0" indent="0">
              <a:buNone/>
            </a:pPr>
            <a:r>
              <a:rPr lang="en-US" sz="2500" b="1" dirty="0">
                <a:solidFill>
                  <a:srgbClr val="1F2A5C"/>
                </a:solidFill>
                <a:latin typeface="Cambria" pitchFamily="34" charset="0"/>
                <a:ea typeface="Cambria" pitchFamily="34" charset="-122"/>
                <a:cs typeface="Cambria" pitchFamily="34" charset="-120"/>
              </a:rPr>
              <a:t>The Limiting Factor Is Discovery Power, Not the Scoring Method</a:t>
            </a:r>
            <a:endParaRPr lang="en-US" sz="2500" dirty="0"/>
          </a:p>
        </p:txBody>
      </p:sp>
      <p:pic>
        <p:nvPicPr>
          <p:cNvPr id="3" name="Image 0" descr="/home/claude/assets/fig2_density.png"/>
          <p:cNvPicPr>
            <a:picLocks noChangeAspect="1"/>
          </p:cNvPicPr>
          <p:nvPr/>
        </p:nvPicPr>
        <p:blipFill>
          <a:blip r:embed="rId3"/>
          <a:srcRect l="1" r="303"/>
          <a:stretch>
            <a:fillRect/>
          </a:stretch>
        </p:blipFill>
        <p:spPr>
          <a:xfrm>
            <a:off x="579120" y="973768"/>
            <a:ext cx="11030803" cy="2762191"/>
          </a:xfrm>
          <a:prstGeom prst="rect">
            <a:avLst/>
          </a:prstGeom>
        </p:spPr>
      </p:pic>
      <p:sp>
        <p:nvSpPr>
          <p:cNvPr id="4" name="Shape 1"/>
          <p:cNvSpPr/>
          <p:nvPr/>
        </p:nvSpPr>
        <p:spPr>
          <a:xfrm>
            <a:off x="6316637" y="3986081"/>
            <a:ext cx="5293286" cy="2762191"/>
          </a:xfrm>
          <a:prstGeom prst="roundRect">
            <a:avLst>
              <a:gd name="adj" fmla="val 4255"/>
            </a:avLst>
          </a:prstGeom>
          <a:solidFill>
            <a:srgbClr val="2F3C7E"/>
          </a:solidFill>
          <a:ln/>
        </p:spPr>
        <p:txBody>
          <a:bodyPr/>
          <a:lstStyle/>
          <a:p>
            <a:endParaRPr lang="en-US"/>
          </a:p>
        </p:txBody>
      </p:sp>
      <p:sp>
        <p:nvSpPr>
          <p:cNvPr id="5" name="Text 2"/>
          <p:cNvSpPr/>
          <p:nvPr/>
        </p:nvSpPr>
        <p:spPr>
          <a:xfrm>
            <a:off x="6523402" y="3986081"/>
            <a:ext cx="3017520" cy="914400"/>
          </a:xfrm>
          <a:prstGeom prst="rect">
            <a:avLst/>
          </a:prstGeom>
          <a:noFill/>
          <a:ln/>
        </p:spPr>
        <p:txBody>
          <a:bodyPr wrap="square" rtlCol="0" anchor="ctr"/>
          <a:lstStyle/>
          <a:p>
            <a:pPr marL="0" indent="0">
              <a:buNone/>
            </a:pPr>
            <a:r>
              <a:rPr lang="en-US" sz="3000" b="1" dirty="0">
                <a:solidFill>
                  <a:srgbClr val="F9E795"/>
                </a:solidFill>
                <a:latin typeface="Cambria" pitchFamily="34" charset="0"/>
                <a:ea typeface="Cambria" pitchFamily="34" charset="-122"/>
                <a:cs typeface="Cambria" pitchFamily="34" charset="-120"/>
              </a:rPr>
              <a:t>+1.3 SD  </a:t>
            </a:r>
            <a:endParaRPr lang="en-US" sz="3000" dirty="0"/>
          </a:p>
        </p:txBody>
      </p:sp>
      <p:sp>
        <p:nvSpPr>
          <p:cNvPr id="6" name="Text 3"/>
          <p:cNvSpPr/>
          <p:nvPr/>
        </p:nvSpPr>
        <p:spPr>
          <a:xfrm>
            <a:off x="8035799" y="3973113"/>
            <a:ext cx="3574124" cy="914400"/>
          </a:xfrm>
          <a:prstGeom prst="rect">
            <a:avLst/>
          </a:prstGeom>
          <a:noFill/>
          <a:ln/>
        </p:spPr>
        <p:txBody>
          <a:bodyPr wrap="square" rtlCol="0" anchor="ctr"/>
          <a:lstStyle/>
          <a:p>
            <a:pPr marL="0" indent="0">
              <a:buNone/>
            </a:pPr>
            <a:r>
              <a:rPr lang="en-US" sz="1350" dirty="0">
                <a:solidFill>
                  <a:schemeClr val="bg1"/>
                </a:solidFill>
                <a:latin typeface="Calibri" pitchFamily="34" charset="0"/>
                <a:ea typeface="Calibri" pitchFamily="34" charset="-122"/>
                <a:cs typeface="Calibri" pitchFamily="34" charset="-120"/>
              </a:rPr>
              <a:t>upward shift in South Asian scores under both methods (C+T: 1.32 SD, LDpred2-inf: 1.27 SD)</a:t>
            </a:r>
            <a:endParaRPr lang="en-US" sz="1350" dirty="0">
              <a:solidFill>
                <a:schemeClr val="bg1"/>
              </a:solidFill>
            </a:endParaRPr>
          </a:p>
        </p:txBody>
      </p:sp>
      <p:sp>
        <p:nvSpPr>
          <p:cNvPr id="7" name="Text 4"/>
          <p:cNvSpPr/>
          <p:nvPr/>
        </p:nvSpPr>
        <p:spPr>
          <a:xfrm>
            <a:off x="8869680" y="4730614"/>
            <a:ext cx="2654262" cy="625055"/>
          </a:xfrm>
          <a:prstGeom prst="rect">
            <a:avLst/>
          </a:prstGeom>
          <a:noFill/>
          <a:ln/>
        </p:spPr>
        <p:txBody>
          <a:bodyPr wrap="square" rtlCol="0" anchor="ctr"/>
          <a:lstStyle/>
          <a:p>
            <a:pPr marL="0" indent="0">
              <a:buNone/>
            </a:pPr>
            <a:r>
              <a:rPr lang="en-US" sz="1250" i="1" dirty="0">
                <a:solidFill>
                  <a:schemeClr val="bg1"/>
                </a:solidFill>
                <a:latin typeface="Calibri" pitchFamily="34" charset="0"/>
                <a:ea typeface="Calibri" pitchFamily="34" charset="-122"/>
                <a:cs typeface="Calibri" pitchFamily="34" charset="-120"/>
              </a:rPr>
              <a:t>Swap LD reference only modestly narrowed the shift .</a:t>
            </a:r>
            <a:endParaRPr lang="en-US" sz="1250" dirty="0">
              <a:solidFill>
                <a:schemeClr val="bg1"/>
              </a:solidFill>
            </a:endParaRPr>
          </a:p>
        </p:txBody>
      </p:sp>
      <p:sp>
        <p:nvSpPr>
          <p:cNvPr id="9" name="Text 6"/>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6</a:t>
            </a:r>
            <a:endParaRPr lang="en-US" sz="1000" dirty="0"/>
          </a:p>
        </p:txBody>
      </p:sp>
      <p:sp>
        <p:nvSpPr>
          <p:cNvPr id="14" name="TextBox 13">
            <a:extLst>
              <a:ext uri="{FF2B5EF4-FFF2-40B4-BE49-F238E27FC236}">
                <a16:creationId xmlns:a16="http://schemas.microsoft.com/office/drawing/2014/main" id="{496F4C55-612B-C331-0139-155F3F1B0798}"/>
              </a:ext>
            </a:extLst>
          </p:cNvPr>
          <p:cNvSpPr txBox="1"/>
          <p:nvPr/>
        </p:nvSpPr>
        <p:spPr>
          <a:xfrm>
            <a:off x="582077" y="3669047"/>
            <a:ext cx="6093724" cy="253916"/>
          </a:xfrm>
          <a:prstGeom prst="rect">
            <a:avLst/>
          </a:prstGeom>
          <a:noFill/>
        </p:spPr>
        <p:txBody>
          <a:bodyPr wrap="square">
            <a:spAutoFit/>
          </a:bodyPr>
          <a:lstStyle/>
          <a:p>
            <a:pPr marL="0" indent="0">
              <a:buNone/>
            </a:pPr>
            <a:r>
              <a:rPr lang="en-US" sz="1050" i="1" dirty="0">
                <a:solidFill>
                  <a:srgbClr val="5A6472"/>
                </a:solidFill>
                <a:latin typeface="Calibri" pitchFamily="34" charset="0"/>
                <a:ea typeface="Calibri" pitchFamily="34" charset="-122"/>
                <a:cs typeface="Calibri" pitchFamily="34" charset="-120"/>
              </a:rPr>
              <a:t>Figure 2. Density distributions of standardized PRS across score configurations.</a:t>
            </a:r>
            <a:endParaRPr lang="en-US" sz="1050" dirty="0"/>
          </a:p>
        </p:txBody>
      </p:sp>
      <p:pic>
        <p:nvPicPr>
          <p:cNvPr id="15" name="Picture 14">
            <a:extLst>
              <a:ext uri="{FF2B5EF4-FFF2-40B4-BE49-F238E27FC236}">
                <a16:creationId xmlns:a16="http://schemas.microsoft.com/office/drawing/2014/main" id="{FE353578-31B8-6C61-291B-E9293A1A7D7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8925" b="10279"/>
          <a:stretch>
            <a:fillRect/>
          </a:stretch>
        </p:blipFill>
        <p:spPr bwMode="auto">
          <a:xfrm>
            <a:off x="582077" y="3936611"/>
            <a:ext cx="5337095" cy="2635233"/>
          </a:xfrm>
          <a:prstGeom prst="rect">
            <a:avLst/>
          </a:prstGeom>
          <a:ln>
            <a:noFill/>
          </a:ln>
          <a:extLst>
            <a:ext uri="{53640926-AAD7-44D8-BBD7-CCE9431645EC}">
              <a14:shadowObscured xmlns:a14="http://schemas.microsoft.com/office/drawing/2010/main"/>
            </a:ext>
          </a:extLst>
        </p:spPr>
      </p:pic>
      <p:sp>
        <p:nvSpPr>
          <p:cNvPr id="16" name="Text 3">
            <a:extLst>
              <a:ext uri="{FF2B5EF4-FFF2-40B4-BE49-F238E27FC236}">
                <a16:creationId xmlns:a16="http://schemas.microsoft.com/office/drawing/2014/main" id="{9195BF42-0149-6BBC-68EE-56E921FC49E7}"/>
              </a:ext>
            </a:extLst>
          </p:cNvPr>
          <p:cNvSpPr/>
          <p:nvPr/>
        </p:nvSpPr>
        <p:spPr>
          <a:xfrm>
            <a:off x="582077" y="6477273"/>
            <a:ext cx="4090234" cy="350925"/>
          </a:xfrm>
          <a:prstGeom prst="rect">
            <a:avLst/>
          </a:prstGeom>
          <a:noFill/>
          <a:ln/>
        </p:spPr>
        <p:txBody>
          <a:bodyPr wrap="square" rtlCol="0" anchor="ctr"/>
          <a:lstStyle/>
          <a:p>
            <a:pPr marL="0" indent="0">
              <a:buNone/>
            </a:pPr>
            <a:r>
              <a:rPr lang="en-US" sz="1050" i="1" dirty="0">
                <a:solidFill>
                  <a:srgbClr val="5A6472"/>
                </a:solidFill>
                <a:latin typeface="Calibri" pitchFamily="34" charset="0"/>
                <a:ea typeface="Calibri" pitchFamily="34" charset="-122"/>
                <a:cs typeface="Calibri" pitchFamily="34" charset="-120"/>
              </a:rPr>
              <a:t>Figure 3. LDpred2-inf PRS density across ancestry groups.</a:t>
            </a:r>
            <a:endParaRPr lang="en-US" sz="1050" dirty="0"/>
          </a:p>
        </p:txBody>
      </p:sp>
      <p:sp>
        <p:nvSpPr>
          <p:cNvPr id="18" name="Text 5">
            <a:extLst>
              <a:ext uri="{FF2B5EF4-FFF2-40B4-BE49-F238E27FC236}">
                <a16:creationId xmlns:a16="http://schemas.microsoft.com/office/drawing/2014/main" id="{1AE21C59-F6BF-1F9B-0C85-4907B52A4140}"/>
              </a:ext>
            </a:extLst>
          </p:cNvPr>
          <p:cNvSpPr/>
          <p:nvPr/>
        </p:nvSpPr>
        <p:spPr>
          <a:xfrm>
            <a:off x="8869680" y="5271287"/>
            <a:ext cx="2654262" cy="625055"/>
          </a:xfrm>
          <a:prstGeom prst="rect">
            <a:avLst/>
          </a:prstGeom>
          <a:noFill/>
          <a:ln/>
        </p:spPr>
        <p:txBody>
          <a:bodyPr wrap="square" rtlCol="0" anchor="ctr"/>
          <a:lstStyle/>
          <a:p>
            <a:pPr marL="0" indent="0">
              <a:buNone/>
            </a:pPr>
            <a:r>
              <a:rPr lang="en-US" sz="1250" i="1" dirty="0">
                <a:solidFill>
                  <a:schemeClr val="bg1"/>
                </a:solidFill>
                <a:latin typeface="Calibri" pitchFamily="34" charset="0"/>
                <a:ea typeface="Calibri" pitchFamily="34" charset="-122"/>
                <a:cs typeface="Calibri" pitchFamily="34" charset="-120"/>
              </a:rPr>
              <a:t>Swap effect-size source made the shift larger and far noisier</a:t>
            </a:r>
            <a:endParaRPr lang="en-US" sz="1250" dirty="0">
              <a:solidFill>
                <a:schemeClr val="bg1"/>
              </a:solidFill>
            </a:endParaRPr>
          </a:p>
        </p:txBody>
      </p:sp>
      <p:sp>
        <p:nvSpPr>
          <p:cNvPr id="19" name="Text 2">
            <a:extLst>
              <a:ext uri="{FF2B5EF4-FFF2-40B4-BE49-F238E27FC236}">
                <a16:creationId xmlns:a16="http://schemas.microsoft.com/office/drawing/2014/main" id="{C80EF1DB-BAD0-ECD5-2C69-950E44C8992C}"/>
              </a:ext>
            </a:extLst>
          </p:cNvPr>
          <p:cNvSpPr/>
          <p:nvPr/>
        </p:nvSpPr>
        <p:spPr>
          <a:xfrm>
            <a:off x="6552063" y="4782447"/>
            <a:ext cx="2288956" cy="553828"/>
          </a:xfrm>
          <a:prstGeom prst="rect">
            <a:avLst/>
          </a:prstGeom>
          <a:noFill/>
          <a:ln/>
        </p:spPr>
        <p:txBody>
          <a:bodyPr wrap="square" rtlCol="0" anchor="ctr"/>
          <a:lstStyle/>
          <a:p>
            <a:pPr marL="0" indent="0">
              <a:buNone/>
            </a:pPr>
            <a:r>
              <a:rPr lang="en-US" sz="2400" b="1" dirty="0">
                <a:solidFill>
                  <a:srgbClr val="F9E795"/>
                </a:solidFill>
                <a:latin typeface="Cambria" pitchFamily="34" charset="0"/>
                <a:ea typeface="Cambria" pitchFamily="34" charset="-122"/>
                <a:cs typeface="Cambria" pitchFamily="34" charset="-120"/>
              </a:rPr>
              <a:t>1.32 </a:t>
            </a:r>
            <a:r>
              <a:rPr lang="en-US" sz="2400" b="1" dirty="0">
                <a:solidFill>
                  <a:srgbClr val="F9E795"/>
                </a:solidFill>
                <a:latin typeface="Cambria" pitchFamily="34" charset="0"/>
                <a:ea typeface="Cambria" pitchFamily="34" charset="-122"/>
                <a:cs typeface="Cambria" pitchFamily="34" charset="-120"/>
                <a:sym typeface="Wingdings" pitchFamily="2" charset="2"/>
              </a:rPr>
              <a:t> 1.19 SD</a:t>
            </a:r>
            <a:endParaRPr lang="en-US" sz="2400" dirty="0"/>
          </a:p>
        </p:txBody>
      </p:sp>
      <p:sp>
        <p:nvSpPr>
          <p:cNvPr id="20" name="Text 2">
            <a:extLst>
              <a:ext uri="{FF2B5EF4-FFF2-40B4-BE49-F238E27FC236}">
                <a16:creationId xmlns:a16="http://schemas.microsoft.com/office/drawing/2014/main" id="{BC646B61-3F32-3228-FBC1-C3726194FC27}"/>
              </a:ext>
            </a:extLst>
          </p:cNvPr>
          <p:cNvSpPr/>
          <p:nvPr/>
        </p:nvSpPr>
        <p:spPr>
          <a:xfrm>
            <a:off x="6552063" y="5124408"/>
            <a:ext cx="2654261" cy="914400"/>
          </a:xfrm>
          <a:prstGeom prst="rect">
            <a:avLst/>
          </a:prstGeom>
          <a:noFill/>
          <a:ln/>
        </p:spPr>
        <p:txBody>
          <a:bodyPr wrap="square" rtlCol="0" anchor="ctr"/>
          <a:lstStyle/>
          <a:p>
            <a:pPr marL="0" indent="0">
              <a:buNone/>
            </a:pPr>
            <a:r>
              <a:rPr lang="en-US" sz="2400" b="1" dirty="0">
                <a:solidFill>
                  <a:srgbClr val="F9E795"/>
                </a:solidFill>
                <a:latin typeface="Cambria" pitchFamily="34" charset="0"/>
                <a:ea typeface="Cambria" pitchFamily="34" charset="-122"/>
                <a:cs typeface="Cambria" pitchFamily="34" charset="-120"/>
              </a:rPr>
              <a:t>1.19 </a:t>
            </a:r>
            <a:r>
              <a:rPr lang="en-US" sz="2400" b="1" dirty="0">
                <a:solidFill>
                  <a:srgbClr val="F9E795"/>
                </a:solidFill>
                <a:latin typeface="Cambria" pitchFamily="34" charset="0"/>
                <a:ea typeface="Cambria" pitchFamily="34" charset="-122"/>
                <a:cs typeface="Cambria" pitchFamily="34" charset="-120"/>
                <a:sym typeface="Wingdings" pitchFamily="2" charset="2"/>
              </a:rPr>
              <a:t> 5.55 SD</a:t>
            </a:r>
            <a:endParaRPr lang="en-US" sz="2400" dirty="0"/>
          </a:p>
        </p:txBody>
      </p:sp>
      <p:sp>
        <p:nvSpPr>
          <p:cNvPr id="21" name="Text 2">
            <a:extLst>
              <a:ext uri="{FF2B5EF4-FFF2-40B4-BE49-F238E27FC236}">
                <a16:creationId xmlns:a16="http://schemas.microsoft.com/office/drawing/2014/main" id="{71E21A7B-C8DA-A07E-BBE6-F53E0BE84BDC}"/>
              </a:ext>
            </a:extLst>
          </p:cNvPr>
          <p:cNvSpPr/>
          <p:nvPr/>
        </p:nvSpPr>
        <p:spPr>
          <a:xfrm>
            <a:off x="6552063" y="5986057"/>
            <a:ext cx="2654261" cy="667786"/>
          </a:xfrm>
          <a:prstGeom prst="rect">
            <a:avLst/>
          </a:prstGeom>
          <a:noFill/>
          <a:ln/>
        </p:spPr>
        <p:txBody>
          <a:bodyPr wrap="square" rtlCol="0" anchor="ctr"/>
          <a:lstStyle/>
          <a:p>
            <a:pPr marL="0" indent="0">
              <a:buNone/>
            </a:pPr>
            <a:r>
              <a:rPr lang="en-US" sz="2400" b="1" dirty="0">
                <a:solidFill>
                  <a:srgbClr val="F9E795"/>
                </a:solidFill>
                <a:latin typeface="Cambria" pitchFamily="34" charset="0"/>
                <a:ea typeface="Cambria" pitchFamily="34" charset="-122"/>
                <a:cs typeface="Cambria" pitchFamily="34" charset="-120"/>
              </a:rPr>
              <a:t>0.34 </a:t>
            </a:r>
            <a:r>
              <a:rPr lang="en-US" sz="2400" b="1" dirty="0">
                <a:solidFill>
                  <a:srgbClr val="F9E795"/>
                </a:solidFill>
                <a:latin typeface="Cambria" pitchFamily="34" charset="0"/>
                <a:ea typeface="Cambria" pitchFamily="34" charset="-122"/>
                <a:cs typeface="Cambria" pitchFamily="34" charset="-120"/>
                <a:sym typeface="Wingdings" pitchFamily="2" charset="2"/>
              </a:rPr>
              <a:t>vs 0.98 SD</a:t>
            </a:r>
            <a:endParaRPr lang="en-US" sz="2400" dirty="0"/>
          </a:p>
        </p:txBody>
      </p:sp>
      <p:sp>
        <p:nvSpPr>
          <p:cNvPr id="22" name="Text 5">
            <a:extLst>
              <a:ext uri="{FF2B5EF4-FFF2-40B4-BE49-F238E27FC236}">
                <a16:creationId xmlns:a16="http://schemas.microsoft.com/office/drawing/2014/main" id="{53539E40-3719-9E86-10E8-C25F09A1DF04}"/>
              </a:ext>
            </a:extLst>
          </p:cNvPr>
          <p:cNvSpPr/>
          <p:nvPr/>
        </p:nvSpPr>
        <p:spPr>
          <a:xfrm>
            <a:off x="8869680" y="5986057"/>
            <a:ext cx="2654262" cy="625055"/>
          </a:xfrm>
          <a:prstGeom prst="rect">
            <a:avLst/>
          </a:prstGeom>
          <a:noFill/>
          <a:ln/>
        </p:spPr>
        <p:txBody>
          <a:bodyPr wrap="square" rtlCol="0" anchor="ctr"/>
          <a:lstStyle/>
          <a:p>
            <a:pPr marL="0" indent="0">
              <a:buNone/>
            </a:pPr>
            <a:r>
              <a:rPr lang="en-US" sz="1250" i="1" dirty="0">
                <a:solidFill>
                  <a:schemeClr val="bg1"/>
                </a:solidFill>
                <a:latin typeface="Calibri" pitchFamily="34" charset="0"/>
                <a:ea typeface="Calibri" pitchFamily="34" charset="-122"/>
                <a:cs typeface="Calibri" pitchFamily="34" charset="-120"/>
              </a:rPr>
              <a:t>Shift stays ~1.29 SD, but the distribution collapses instead of widening.</a:t>
            </a:r>
            <a:endParaRPr lang="en-US" sz="125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9B8248-F773-A897-D9E3-B0590CC0577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7CD0D2-AC47-A940-B621-80AA85498F0D}"/>
              </a:ext>
            </a:extLst>
          </p:cNvPr>
          <p:cNvSpPr/>
          <p:nvPr/>
        </p:nvSpPr>
        <p:spPr>
          <a:xfrm>
            <a:off x="548640" y="365760"/>
            <a:ext cx="11064240" cy="594360"/>
          </a:xfrm>
          <a:prstGeom prst="rect">
            <a:avLst/>
          </a:prstGeom>
          <a:noFill/>
          <a:ln/>
        </p:spPr>
        <p:txBody>
          <a:bodyPr wrap="square" rtlCol="0" anchor="ctr"/>
          <a:lstStyle/>
          <a:p>
            <a:r>
              <a:rPr lang="en-US" sz="2500" b="1" dirty="0">
                <a:solidFill>
                  <a:srgbClr val="1E2761"/>
                </a:solidFill>
                <a:latin typeface="Cambria" pitchFamily="34" charset="0"/>
                <a:ea typeface="Cambria" pitchFamily="34" charset="-122"/>
                <a:cs typeface="Cambria" pitchFamily="34" charset="-120"/>
              </a:rPr>
              <a:t>Clinical Risk Stratification Is Miscalibrated</a:t>
            </a:r>
            <a:endParaRPr lang="en-US" sz="2500" dirty="0"/>
          </a:p>
        </p:txBody>
      </p:sp>
      <p:sp>
        <p:nvSpPr>
          <p:cNvPr id="7" name="Text 4">
            <a:extLst>
              <a:ext uri="{FF2B5EF4-FFF2-40B4-BE49-F238E27FC236}">
                <a16:creationId xmlns:a16="http://schemas.microsoft.com/office/drawing/2014/main" id="{F088EF98-842D-197D-7DC1-5A5872045F02}"/>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7</a:t>
            </a:r>
            <a:endParaRPr lang="en-US" sz="1000" dirty="0"/>
          </a:p>
        </p:txBody>
      </p:sp>
      <p:sp>
        <p:nvSpPr>
          <p:cNvPr id="13" name="TextBox 12">
            <a:extLst>
              <a:ext uri="{FF2B5EF4-FFF2-40B4-BE49-F238E27FC236}">
                <a16:creationId xmlns:a16="http://schemas.microsoft.com/office/drawing/2014/main" id="{943BAA8E-0CC3-353C-CCEA-DE4030F275B2}"/>
              </a:ext>
            </a:extLst>
          </p:cNvPr>
          <p:cNvSpPr txBox="1"/>
          <p:nvPr/>
        </p:nvSpPr>
        <p:spPr>
          <a:xfrm>
            <a:off x="579120" y="4119225"/>
            <a:ext cx="5578295" cy="253916"/>
          </a:xfrm>
          <a:prstGeom prst="rect">
            <a:avLst/>
          </a:prstGeom>
          <a:noFill/>
        </p:spPr>
        <p:txBody>
          <a:bodyPr wrap="square">
            <a:spAutoFit/>
          </a:bodyPr>
          <a:lstStyle/>
          <a:p>
            <a:r>
              <a:rPr lang="en-US" sz="1050" i="1" dirty="0">
                <a:solidFill>
                  <a:srgbClr val="5A6472"/>
                </a:solidFill>
                <a:latin typeface="Calibri" pitchFamily="34" charset="0"/>
                <a:ea typeface="Calibri" pitchFamily="34" charset="-122"/>
                <a:cs typeface="Calibri" pitchFamily="34" charset="-120"/>
              </a:rPr>
              <a:t>Figure 4. PRS decile distribution: percentage of individuals in each of ten risk deciles</a:t>
            </a:r>
            <a:endParaRPr lang="en-US" sz="1050" dirty="0"/>
          </a:p>
        </p:txBody>
      </p:sp>
      <p:sp>
        <p:nvSpPr>
          <p:cNvPr id="14" name="Shape 3">
            <a:extLst>
              <a:ext uri="{FF2B5EF4-FFF2-40B4-BE49-F238E27FC236}">
                <a16:creationId xmlns:a16="http://schemas.microsoft.com/office/drawing/2014/main" id="{8927A48C-9E50-8846-44BF-0C984A78B985}"/>
              </a:ext>
            </a:extLst>
          </p:cNvPr>
          <p:cNvSpPr/>
          <p:nvPr/>
        </p:nvSpPr>
        <p:spPr>
          <a:xfrm>
            <a:off x="579120" y="4501131"/>
            <a:ext cx="5516880" cy="1188720"/>
          </a:xfrm>
          <a:prstGeom prst="roundRect">
            <a:avLst>
              <a:gd name="adj" fmla="val 7692"/>
            </a:avLst>
          </a:prstGeom>
          <a:solidFill>
            <a:srgbClr val="1E2761"/>
          </a:solidFill>
          <a:ln/>
        </p:spPr>
        <p:txBody>
          <a:bodyPr/>
          <a:lstStyle/>
          <a:p>
            <a:endParaRPr lang="en-US"/>
          </a:p>
        </p:txBody>
      </p:sp>
      <p:sp>
        <p:nvSpPr>
          <p:cNvPr id="15" name="Text 4">
            <a:extLst>
              <a:ext uri="{FF2B5EF4-FFF2-40B4-BE49-F238E27FC236}">
                <a16:creationId xmlns:a16="http://schemas.microsoft.com/office/drawing/2014/main" id="{7F17E375-594F-8EB3-65E7-B680F62F7856}"/>
              </a:ext>
            </a:extLst>
          </p:cNvPr>
          <p:cNvSpPr/>
          <p:nvPr/>
        </p:nvSpPr>
        <p:spPr>
          <a:xfrm>
            <a:off x="579120" y="4638291"/>
            <a:ext cx="5516880" cy="594360"/>
          </a:xfrm>
          <a:prstGeom prst="rect">
            <a:avLst/>
          </a:prstGeom>
          <a:noFill/>
          <a:ln/>
        </p:spPr>
        <p:txBody>
          <a:bodyPr wrap="square" rtlCol="0" anchor="ctr"/>
          <a:lstStyle/>
          <a:p>
            <a:pPr algn="ctr"/>
            <a:r>
              <a:rPr lang="en-US" sz="2400" b="1" dirty="0">
                <a:solidFill>
                  <a:srgbClr val="F96167"/>
                </a:solidFill>
                <a:latin typeface="Cambria" pitchFamily="34" charset="0"/>
                <a:ea typeface="Cambria" pitchFamily="34" charset="-122"/>
                <a:cs typeface="Cambria" pitchFamily="34" charset="-120"/>
              </a:rPr>
              <a:t>Near-Zero Concordance</a:t>
            </a:r>
            <a:endParaRPr lang="en-US" sz="2400" dirty="0"/>
          </a:p>
        </p:txBody>
      </p:sp>
      <p:sp>
        <p:nvSpPr>
          <p:cNvPr id="16" name="Text 5">
            <a:extLst>
              <a:ext uri="{FF2B5EF4-FFF2-40B4-BE49-F238E27FC236}">
                <a16:creationId xmlns:a16="http://schemas.microsoft.com/office/drawing/2014/main" id="{60CCC332-9520-971F-80B6-A63995F58BA1}"/>
              </a:ext>
            </a:extLst>
          </p:cNvPr>
          <p:cNvSpPr/>
          <p:nvPr/>
        </p:nvSpPr>
        <p:spPr>
          <a:xfrm>
            <a:off x="762000" y="5214363"/>
            <a:ext cx="5088384" cy="411480"/>
          </a:xfrm>
          <a:prstGeom prst="rect">
            <a:avLst/>
          </a:prstGeom>
          <a:noFill/>
          <a:ln/>
        </p:spPr>
        <p:txBody>
          <a:bodyPr wrap="square" rtlCol="0" anchor="ctr"/>
          <a:lstStyle/>
          <a:p>
            <a:pPr algn="ctr"/>
            <a:r>
              <a:rPr lang="en-US" sz="1200" dirty="0">
                <a:solidFill>
                  <a:srgbClr val="FFFFFF"/>
                </a:solidFill>
                <a:latin typeface="Calibri" pitchFamily="34" charset="0"/>
                <a:ea typeface="Calibri" pitchFamily="34" charset="-122"/>
                <a:cs typeface="Calibri" pitchFamily="34" charset="-120"/>
              </a:rPr>
              <a:t>between European- and South-Asian-derived individual scores (r = −0.001 to 0.047)</a:t>
            </a:r>
            <a:endParaRPr lang="en-US" sz="1200" dirty="0"/>
          </a:p>
        </p:txBody>
      </p:sp>
      <p:sp>
        <p:nvSpPr>
          <p:cNvPr id="17" name="Shape 6">
            <a:extLst>
              <a:ext uri="{FF2B5EF4-FFF2-40B4-BE49-F238E27FC236}">
                <a16:creationId xmlns:a16="http://schemas.microsoft.com/office/drawing/2014/main" id="{8E6CEA3B-8841-856C-8DC2-6BA2C67CC52C}"/>
              </a:ext>
            </a:extLst>
          </p:cNvPr>
          <p:cNvSpPr/>
          <p:nvPr/>
        </p:nvSpPr>
        <p:spPr>
          <a:xfrm>
            <a:off x="6562336" y="4501131"/>
            <a:ext cx="5050544" cy="1188720"/>
          </a:xfrm>
          <a:prstGeom prst="roundRect">
            <a:avLst>
              <a:gd name="adj" fmla="val 7692"/>
            </a:avLst>
          </a:prstGeom>
          <a:solidFill>
            <a:srgbClr val="1E2761"/>
          </a:solidFill>
          <a:ln/>
        </p:spPr>
        <p:txBody>
          <a:bodyPr/>
          <a:lstStyle/>
          <a:p>
            <a:endParaRPr lang="en-US" dirty="0"/>
          </a:p>
        </p:txBody>
      </p:sp>
      <p:sp>
        <p:nvSpPr>
          <p:cNvPr id="18" name="Text 7">
            <a:extLst>
              <a:ext uri="{FF2B5EF4-FFF2-40B4-BE49-F238E27FC236}">
                <a16:creationId xmlns:a16="http://schemas.microsoft.com/office/drawing/2014/main" id="{AB6F8718-8CBB-3EE3-EDA9-9501587C254C}"/>
              </a:ext>
            </a:extLst>
          </p:cNvPr>
          <p:cNvSpPr/>
          <p:nvPr/>
        </p:nvSpPr>
        <p:spPr>
          <a:xfrm>
            <a:off x="6562336" y="4638291"/>
            <a:ext cx="5050544" cy="594360"/>
          </a:xfrm>
          <a:prstGeom prst="rect">
            <a:avLst/>
          </a:prstGeom>
          <a:noFill/>
          <a:ln/>
        </p:spPr>
        <p:txBody>
          <a:bodyPr wrap="square" rtlCol="0" anchor="ctr"/>
          <a:lstStyle/>
          <a:p>
            <a:pPr algn="ctr"/>
            <a:r>
              <a:rPr lang="en-US" sz="2400" b="1" dirty="0">
                <a:solidFill>
                  <a:srgbClr val="F96167"/>
                </a:solidFill>
                <a:latin typeface="Cambria" pitchFamily="34" charset="0"/>
                <a:ea typeface="Cambria" pitchFamily="34" charset="-122"/>
                <a:cs typeface="Cambria" pitchFamily="34" charset="-120"/>
              </a:rPr>
              <a:t>~4× Enrichment</a:t>
            </a:r>
            <a:endParaRPr lang="en-US" sz="2400" dirty="0"/>
          </a:p>
        </p:txBody>
      </p:sp>
      <p:sp>
        <p:nvSpPr>
          <p:cNvPr id="19" name="Text 8">
            <a:extLst>
              <a:ext uri="{FF2B5EF4-FFF2-40B4-BE49-F238E27FC236}">
                <a16:creationId xmlns:a16="http://schemas.microsoft.com/office/drawing/2014/main" id="{215D6C58-3CCB-513A-6C52-B2E877AF4204}"/>
              </a:ext>
            </a:extLst>
          </p:cNvPr>
          <p:cNvSpPr/>
          <p:nvPr/>
        </p:nvSpPr>
        <p:spPr>
          <a:xfrm>
            <a:off x="6745215" y="5214363"/>
            <a:ext cx="4658269" cy="411480"/>
          </a:xfrm>
          <a:prstGeom prst="rect">
            <a:avLst/>
          </a:prstGeom>
          <a:noFill/>
          <a:ln/>
        </p:spPr>
        <p:txBody>
          <a:bodyPr wrap="square" rtlCol="0" anchor="ctr"/>
          <a:lstStyle/>
          <a:p>
            <a:pPr algn="ctr"/>
            <a:r>
              <a:rPr lang="en-US" sz="1200" dirty="0">
                <a:solidFill>
                  <a:srgbClr val="FFFFFF"/>
                </a:solidFill>
                <a:latin typeface="Calibri" pitchFamily="34" charset="0"/>
                <a:ea typeface="Calibri" pitchFamily="34" charset="-122"/>
                <a:cs typeface="Calibri" pitchFamily="34" charset="-120"/>
              </a:rPr>
              <a:t>of South Asians in the highest-risk decile vs. the 10% expected</a:t>
            </a:r>
            <a:endParaRPr lang="en-US" sz="1200" dirty="0"/>
          </a:p>
        </p:txBody>
      </p:sp>
      <p:sp>
        <p:nvSpPr>
          <p:cNvPr id="22" name="Shape 2">
            <a:extLst>
              <a:ext uri="{FF2B5EF4-FFF2-40B4-BE49-F238E27FC236}">
                <a16:creationId xmlns:a16="http://schemas.microsoft.com/office/drawing/2014/main" id="{E95F5214-D9C8-A2EA-E6EE-B7920066A14E}"/>
              </a:ext>
            </a:extLst>
          </p:cNvPr>
          <p:cNvSpPr/>
          <p:nvPr/>
        </p:nvSpPr>
        <p:spPr>
          <a:xfrm>
            <a:off x="579120" y="5902544"/>
            <a:ext cx="11033760" cy="726758"/>
          </a:xfrm>
          <a:prstGeom prst="roundRect">
            <a:avLst>
              <a:gd name="adj" fmla="val 2791"/>
            </a:avLst>
          </a:prstGeom>
          <a:solidFill>
            <a:schemeClr val="accent4">
              <a:lumMod val="20000"/>
              <a:lumOff val="80000"/>
            </a:schemeClr>
          </a:solidFill>
          <a:ln/>
        </p:spPr>
        <p:txBody>
          <a:bodyPr/>
          <a:lstStyle/>
          <a:p>
            <a:endParaRPr lang="en-US"/>
          </a:p>
        </p:txBody>
      </p:sp>
      <p:sp>
        <p:nvSpPr>
          <p:cNvPr id="23" name="Text 3">
            <a:extLst>
              <a:ext uri="{FF2B5EF4-FFF2-40B4-BE49-F238E27FC236}">
                <a16:creationId xmlns:a16="http://schemas.microsoft.com/office/drawing/2014/main" id="{7660C392-D3A8-DA1B-E888-537D27911700}"/>
              </a:ext>
            </a:extLst>
          </p:cNvPr>
          <p:cNvSpPr/>
          <p:nvPr/>
        </p:nvSpPr>
        <p:spPr>
          <a:xfrm>
            <a:off x="762526" y="5769792"/>
            <a:ext cx="10667492" cy="975751"/>
          </a:xfrm>
          <a:prstGeom prst="rect">
            <a:avLst/>
          </a:prstGeom>
          <a:noFill/>
          <a:ln/>
        </p:spPr>
        <p:txBody>
          <a:bodyPr wrap="square" rtlCol="0" anchor="ctr"/>
          <a:lstStyle/>
          <a:p>
            <a:pPr algn="ctr"/>
            <a:r>
              <a:rPr lang="en-US" sz="2000" b="1" i="1" dirty="0">
                <a:latin typeface="Cambria" pitchFamily="34" charset="0"/>
                <a:ea typeface="Cambria" pitchFamily="34" charset="-122"/>
                <a:cs typeface="Cambria" pitchFamily="34" charset="-120"/>
              </a:rPr>
              <a:t>High-risk individuals by EUR score ≠ High-risk individuals by CSA score</a:t>
            </a:r>
            <a:endParaRPr lang="en-US" sz="2000" b="1" i="1" dirty="0"/>
          </a:p>
        </p:txBody>
      </p:sp>
      <p:pic>
        <p:nvPicPr>
          <p:cNvPr id="9" name="Picture 8">
            <a:extLst>
              <a:ext uri="{FF2B5EF4-FFF2-40B4-BE49-F238E27FC236}">
                <a16:creationId xmlns:a16="http://schemas.microsoft.com/office/drawing/2014/main" id="{024D608A-80EE-A4B8-4809-0DB1F6822B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551" y="1007868"/>
            <a:ext cx="10850898" cy="3100071"/>
          </a:xfrm>
          <a:prstGeom prst="rect">
            <a:avLst/>
          </a:prstGeom>
        </p:spPr>
      </p:pic>
    </p:spTree>
    <p:extLst>
      <p:ext uri="{BB962C8B-B14F-4D97-AF65-F5344CB8AC3E}">
        <p14:creationId xmlns:p14="http://schemas.microsoft.com/office/powerpoint/2010/main" val="1150164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F2A5C"/>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Paradox: Shared Biology, Divergent Scores</a:t>
            </a:r>
            <a:endParaRPr lang="en-US" sz="2800" dirty="0"/>
          </a:p>
        </p:txBody>
      </p:sp>
      <p:sp>
        <p:nvSpPr>
          <p:cNvPr id="3" name="Text 1"/>
          <p:cNvSpPr/>
          <p:nvPr/>
        </p:nvSpPr>
        <p:spPr>
          <a:xfrm>
            <a:off x="548640" y="1143000"/>
            <a:ext cx="11064240" cy="457200"/>
          </a:xfrm>
          <a:prstGeom prst="rect">
            <a:avLst/>
          </a:prstGeom>
          <a:noFill/>
          <a:ln/>
        </p:spPr>
        <p:txBody>
          <a:bodyPr wrap="square" rtlCol="0" anchor="ctr"/>
          <a:lstStyle/>
          <a:p>
            <a:pPr marL="0" indent="0">
              <a:buNone/>
            </a:pPr>
            <a:r>
              <a:rPr lang="en-US" sz="1500" i="1" dirty="0">
                <a:solidFill>
                  <a:srgbClr val="F9E795"/>
                </a:solidFill>
                <a:latin typeface="Calibri" pitchFamily="34" charset="0"/>
                <a:ea typeface="Calibri" pitchFamily="34" charset="-122"/>
                <a:cs typeface="Calibri" pitchFamily="34" charset="-120"/>
              </a:rPr>
              <a:t>If the scores disagree so completely — is the underlying disease biology just different?</a:t>
            </a:r>
            <a:endParaRPr lang="en-US" sz="1500" dirty="0"/>
          </a:p>
        </p:txBody>
      </p:sp>
      <p:sp>
        <p:nvSpPr>
          <p:cNvPr id="4" name="Shape 2"/>
          <p:cNvSpPr/>
          <p:nvPr/>
        </p:nvSpPr>
        <p:spPr>
          <a:xfrm>
            <a:off x="548640" y="1920240"/>
            <a:ext cx="5303520" cy="4276532"/>
          </a:xfrm>
          <a:prstGeom prst="roundRect">
            <a:avLst>
              <a:gd name="adj" fmla="val 2791"/>
            </a:avLst>
          </a:prstGeom>
          <a:solidFill>
            <a:srgbClr val="F96167"/>
          </a:solidFill>
          <a:ln/>
        </p:spPr>
        <p:txBody>
          <a:bodyPr/>
          <a:lstStyle/>
          <a:p>
            <a:endParaRPr lang="en-US"/>
          </a:p>
        </p:txBody>
      </p:sp>
      <p:sp>
        <p:nvSpPr>
          <p:cNvPr id="5" name="Text 3"/>
          <p:cNvSpPr/>
          <p:nvPr/>
        </p:nvSpPr>
        <p:spPr>
          <a:xfrm>
            <a:off x="822960" y="2103120"/>
            <a:ext cx="4754880" cy="457200"/>
          </a:xfrm>
          <a:prstGeom prst="rect">
            <a:avLst/>
          </a:prstGeom>
          <a:noFill/>
          <a:ln/>
        </p:spPr>
        <p:txBody>
          <a:bodyPr wrap="square" rtlCol="0" anchor="ctr"/>
          <a:lstStyle/>
          <a:p>
            <a:pPr marL="0" indent="0">
              <a:buNone/>
            </a:pPr>
            <a:r>
              <a:rPr lang="en-US" sz="1700" b="1" dirty="0">
                <a:solidFill>
                  <a:srgbClr val="1F2A5C"/>
                </a:solidFill>
                <a:latin typeface="Cambria" pitchFamily="34" charset="0"/>
                <a:ea typeface="Cambria" pitchFamily="34" charset="-122"/>
                <a:cs typeface="Cambria" pitchFamily="34" charset="-120"/>
              </a:rPr>
              <a:t>Individual-Level Scores</a:t>
            </a:r>
            <a:endParaRPr lang="en-US" sz="1700" dirty="0"/>
          </a:p>
        </p:txBody>
      </p:sp>
      <p:sp>
        <p:nvSpPr>
          <p:cNvPr id="6" name="Text 4"/>
          <p:cNvSpPr/>
          <p:nvPr/>
        </p:nvSpPr>
        <p:spPr>
          <a:xfrm>
            <a:off x="1005840" y="2182999"/>
            <a:ext cx="2084013" cy="1188720"/>
          </a:xfrm>
          <a:prstGeom prst="rect">
            <a:avLst/>
          </a:prstGeom>
          <a:noFill/>
          <a:ln/>
        </p:spPr>
        <p:txBody>
          <a:bodyPr wrap="square" rtlCol="0" anchor="ctr"/>
          <a:lstStyle/>
          <a:p>
            <a:pPr marL="0" indent="0" algn="ctr">
              <a:buNone/>
            </a:pPr>
            <a:r>
              <a:rPr lang="en-US" sz="5600" b="1" dirty="0">
                <a:solidFill>
                  <a:srgbClr val="1F2A5C"/>
                </a:solidFill>
                <a:latin typeface="Cambria" pitchFamily="34" charset="0"/>
                <a:ea typeface="Cambria" pitchFamily="34" charset="-122"/>
                <a:cs typeface="Cambria" pitchFamily="34" charset="-120"/>
              </a:rPr>
              <a:t>r ≈ 0</a:t>
            </a:r>
            <a:endParaRPr lang="en-US" sz="5600" dirty="0"/>
          </a:p>
        </p:txBody>
      </p:sp>
      <p:sp>
        <p:nvSpPr>
          <p:cNvPr id="7" name="Text 5"/>
          <p:cNvSpPr/>
          <p:nvPr/>
        </p:nvSpPr>
        <p:spPr>
          <a:xfrm>
            <a:off x="3731298" y="2377440"/>
            <a:ext cx="1846542" cy="731520"/>
          </a:xfrm>
          <a:prstGeom prst="rect">
            <a:avLst/>
          </a:prstGeom>
          <a:noFill/>
          <a:ln/>
        </p:spPr>
        <p:txBody>
          <a:bodyPr wrap="square" rtlCol="0" anchor="ctr"/>
          <a:lstStyle/>
          <a:p>
            <a:pPr marL="0" indent="0" algn="ctr">
              <a:buNone/>
            </a:pPr>
            <a:r>
              <a:rPr lang="en-US" sz="1350" dirty="0">
                <a:solidFill>
                  <a:srgbClr val="1F2A5C"/>
                </a:solidFill>
                <a:latin typeface="Calibri" pitchFamily="34" charset="0"/>
                <a:ea typeface="Calibri" pitchFamily="34" charset="-122"/>
                <a:cs typeface="Calibri" pitchFamily="34" charset="-120"/>
              </a:rPr>
              <a:t>near-zero correlation between EUR- and CSA-derived scores</a:t>
            </a:r>
            <a:endParaRPr lang="en-US" sz="1350" dirty="0"/>
          </a:p>
        </p:txBody>
      </p:sp>
      <p:sp>
        <p:nvSpPr>
          <p:cNvPr id="8" name="Text 6"/>
          <p:cNvSpPr/>
          <p:nvPr/>
        </p:nvSpPr>
        <p:spPr>
          <a:xfrm>
            <a:off x="1005840" y="5473443"/>
            <a:ext cx="4389120" cy="914400"/>
          </a:xfrm>
          <a:prstGeom prst="rect">
            <a:avLst/>
          </a:prstGeom>
          <a:noFill/>
          <a:ln/>
        </p:spPr>
        <p:txBody>
          <a:bodyPr wrap="square" rtlCol="0" anchor="ctr"/>
          <a:lstStyle/>
          <a:p>
            <a:pPr marL="0" indent="0" algn="ctr">
              <a:buNone/>
            </a:pPr>
            <a:r>
              <a:rPr lang="en-US" sz="1250" i="1" dirty="0">
                <a:solidFill>
                  <a:srgbClr val="5A2A2C"/>
                </a:solidFill>
                <a:latin typeface="Calibri" pitchFamily="34" charset="0"/>
                <a:ea typeface="Calibri" pitchFamily="34" charset="-122"/>
                <a:cs typeface="Calibri" pitchFamily="34" charset="-120"/>
              </a:rPr>
              <a:t>Looks like a fundamental mismatch...</a:t>
            </a:r>
            <a:endParaRPr lang="en-US" sz="1250" dirty="0"/>
          </a:p>
        </p:txBody>
      </p:sp>
      <p:sp>
        <p:nvSpPr>
          <p:cNvPr id="9" name="Shape 7"/>
          <p:cNvSpPr/>
          <p:nvPr/>
        </p:nvSpPr>
        <p:spPr>
          <a:xfrm>
            <a:off x="6263640" y="1920240"/>
            <a:ext cx="5349240" cy="4276532"/>
          </a:xfrm>
          <a:prstGeom prst="roundRect">
            <a:avLst>
              <a:gd name="adj" fmla="val 2791"/>
            </a:avLst>
          </a:prstGeom>
          <a:solidFill>
            <a:srgbClr val="F9E795"/>
          </a:solidFill>
          <a:ln/>
        </p:spPr>
        <p:txBody>
          <a:bodyPr/>
          <a:lstStyle/>
          <a:p>
            <a:endParaRPr lang="en-US"/>
          </a:p>
        </p:txBody>
      </p:sp>
      <p:sp>
        <p:nvSpPr>
          <p:cNvPr id="10" name="Text 8"/>
          <p:cNvSpPr/>
          <p:nvPr/>
        </p:nvSpPr>
        <p:spPr>
          <a:xfrm>
            <a:off x="6537960" y="2103120"/>
            <a:ext cx="4754880" cy="457200"/>
          </a:xfrm>
          <a:prstGeom prst="rect">
            <a:avLst/>
          </a:prstGeom>
          <a:noFill/>
          <a:ln/>
        </p:spPr>
        <p:txBody>
          <a:bodyPr wrap="square" rtlCol="0" anchor="ctr"/>
          <a:lstStyle/>
          <a:p>
            <a:pPr marL="0" indent="0">
              <a:buNone/>
            </a:pPr>
            <a:r>
              <a:rPr lang="en-US" sz="1700" b="1" dirty="0">
                <a:solidFill>
                  <a:srgbClr val="1F2A5C"/>
                </a:solidFill>
                <a:latin typeface="Cambria" pitchFamily="34" charset="0"/>
                <a:ea typeface="Cambria" pitchFamily="34" charset="-122"/>
                <a:cs typeface="Cambria" pitchFamily="34" charset="-120"/>
              </a:rPr>
              <a:t>Genome-Wide Architecture</a:t>
            </a:r>
            <a:endParaRPr lang="en-US" sz="1700" dirty="0"/>
          </a:p>
        </p:txBody>
      </p:sp>
      <p:sp>
        <p:nvSpPr>
          <p:cNvPr id="11" name="Text 9"/>
          <p:cNvSpPr/>
          <p:nvPr/>
        </p:nvSpPr>
        <p:spPr>
          <a:xfrm>
            <a:off x="6537960" y="2606040"/>
            <a:ext cx="4754880" cy="1188720"/>
          </a:xfrm>
          <a:prstGeom prst="rect">
            <a:avLst/>
          </a:prstGeom>
          <a:noFill/>
          <a:ln/>
        </p:spPr>
        <p:txBody>
          <a:bodyPr wrap="square" rtlCol="0" anchor="ctr"/>
          <a:lstStyle/>
          <a:p>
            <a:pPr marL="0" indent="0" algn="ctr">
              <a:buNone/>
            </a:pPr>
            <a:r>
              <a:rPr lang="en-US" sz="5000" b="1" dirty="0">
                <a:solidFill>
                  <a:srgbClr val="1F2A5C"/>
                </a:solidFill>
                <a:latin typeface="Cambria" pitchFamily="34" charset="0"/>
                <a:ea typeface="Cambria" pitchFamily="34" charset="-122"/>
                <a:cs typeface="Cambria" pitchFamily="34" charset="-120"/>
              </a:rPr>
              <a:t>rg = 1.27</a:t>
            </a:r>
            <a:endParaRPr lang="en-US" sz="5000" dirty="0"/>
          </a:p>
        </p:txBody>
      </p:sp>
      <p:sp>
        <p:nvSpPr>
          <p:cNvPr id="12" name="Text 10"/>
          <p:cNvSpPr/>
          <p:nvPr/>
        </p:nvSpPr>
        <p:spPr>
          <a:xfrm>
            <a:off x="6720840" y="3840479"/>
            <a:ext cx="4709160" cy="1632963"/>
          </a:xfrm>
          <a:prstGeom prst="rect">
            <a:avLst/>
          </a:prstGeom>
          <a:noFill/>
          <a:ln/>
        </p:spPr>
        <p:txBody>
          <a:bodyPr wrap="square" rtlCol="0" anchor="ctr"/>
          <a:lstStyle/>
          <a:p>
            <a:pPr marL="0" indent="0" algn="ctr">
              <a:buNone/>
            </a:pPr>
            <a:r>
              <a:rPr lang="en-US" dirty="0">
                <a:solidFill>
                  <a:srgbClr val="1F2A5C"/>
                </a:solidFill>
                <a:latin typeface="Calibri" pitchFamily="34" charset="0"/>
                <a:ea typeface="Calibri" pitchFamily="34" charset="-122"/>
                <a:cs typeface="Calibri" pitchFamily="34" charset="-120"/>
              </a:rPr>
              <a:t>p = 6.7×10⁻¹¹ — indistinguishable from perfect sharing; similar SNP-heritability in both groups (0.036 vs 0.028)</a:t>
            </a:r>
            <a:endParaRPr lang="en-US" dirty="0"/>
          </a:p>
        </p:txBody>
      </p:sp>
      <p:sp>
        <p:nvSpPr>
          <p:cNvPr id="13" name="Text 11"/>
          <p:cNvSpPr/>
          <p:nvPr/>
        </p:nvSpPr>
        <p:spPr>
          <a:xfrm>
            <a:off x="6720840" y="5473443"/>
            <a:ext cx="4709160" cy="914400"/>
          </a:xfrm>
          <a:prstGeom prst="rect">
            <a:avLst/>
          </a:prstGeom>
          <a:noFill/>
          <a:ln/>
        </p:spPr>
        <p:txBody>
          <a:bodyPr wrap="square" rtlCol="0" anchor="ctr"/>
          <a:lstStyle/>
          <a:p>
            <a:pPr marL="0" indent="0" algn="ctr">
              <a:buNone/>
            </a:pPr>
            <a:r>
              <a:rPr lang="en-US" sz="1250" i="1" dirty="0">
                <a:solidFill>
                  <a:srgbClr val="5A4A00"/>
                </a:solidFill>
                <a:latin typeface="Calibri" pitchFamily="34" charset="0"/>
                <a:ea typeface="Calibri" pitchFamily="34" charset="-122"/>
                <a:cs typeface="Calibri" pitchFamily="34" charset="-120"/>
              </a:rPr>
              <a:t>...but the shared biology says otherwise.</a:t>
            </a:r>
            <a:endParaRPr lang="en-US" sz="1250" dirty="0"/>
          </a:p>
        </p:txBody>
      </p:sp>
      <p:sp>
        <p:nvSpPr>
          <p:cNvPr id="14" name="Text 12"/>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9</a:t>
            </a:r>
            <a:endParaRPr lang="en-US" sz="1000" dirty="0"/>
          </a:p>
        </p:txBody>
      </p:sp>
      <p:pic>
        <p:nvPicPr>
          <p:cNvPr id="15" name="Image 0" descr="/home/claude/assets/fig5_concordance.png">
            <a:extLst>
              <a:ext uri="{FF2B5EF4-FFF2-40B4-BE49-F238E27FC236}">
                <a16:creationId xmlns:a16="http://schemas.microsoft.com/office/drawing/2014/main" id="{2489EFEB-40DF-D47A-7D90-C4B255460439}"/>
              </a:ext>
            </a:extLst>
          </p:cNvPr>
          <p:cNvPicPr>
            <a:picLocks noChangeAspect="1"/>
          </p:cNvPicPr>
          <p:nvPr/>
        </p:nvPicPr>
        <p:blipFill>
          <a:blip r:embed="rId3"/>
          <a:stretch>
            <a:fillRect/>
          </a:stretch>
        </p:blipFill>
        <p:spPr>
          <a:xfrm>
            <a:off x="874025" y="3143011"/>
            <a:ext cx="4660863" cy="2330432"/>
          </a:xfrm>
          <a:prstGeom prst="rect">
            <a:avLst/>
          </a:prstGeom>
        </p:spPr>
      </p:pic>
      <p:sp>
        <p:nvSpPr>
          <p:cNvPr id="16" name="TextBox 15">
            <a:extLst>
              <a:ext uri="{FF2B5EF4-FFF2-40B4-BE49-F238E27FC236}">
                <a16:creationId xmlns:a16="http://schemas.microsoft.com/office/drawing/2014/main" id="{B5B1EAFE-9186-9F13-01A4-90338ACF038E}"/>
              </a:ext>
            </a:extLst>
          </p:cNvPr>
          <p:cNvSpPr txBox="1"/>
          <p:nvPr/>
        </p:nvSpPr>
        <p:spPr>
          <a:xfrm>
            <a:off x="822960" y="5534085"/>
            <a:ext cx="2674393" cy="253916"/>
          </a:xfrm>
          <a:prstGeom prst="rect">
            <a:avLst/>
          </a:prstGeom>
          <a:noFill/>
        </p:spPr>
        <p:txBody>
          <a:bodyPr wrap="square">
            <a:spAutoFit/>
          </a:bodyPr>
          <a:lstStyle/>
          <a:p>
            <a:r>
              <a:rPr lang="en-US" sz="1050" i="1" dirty="0">
                <a:solidFill>
                  <a:schemeClr val="bg1"/>
                </a:solidFill>
                <a:latin typeface="Calibri" pitchFamily="34" charset="0"/>
                <a:ea typeface="Calibri" pitchFamily="34" charset="-122"/>
                <a:cs typeface="Calibri" pitchFamily="34" charset="-120"/>
              </a:rPr>
              <a:t>Figure 5. Cross-Ancestry Score Concordance</a:t>
            </a:r>
            <a:endParaRPr lang="en-US" sz="105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rtlCol="0" anchor="ctr"/>
          <a:lstStyle/>
          <a:p>
            <a:pPr marL="0" indent="0">
              <a:buNone/>
            </a:pPr>
            <a:r>
              <a:rPr lang="en-US" sz="2700" b="1" dirty="0">
                <a:solidFill>
                  <a:srgbClr val="1F2A5C"/>
                </a:solidFill>
                <a:latin typeface="Cambria" pitchFamily="34" charset="0"/>
                <a:ea typeface="Cambria" pitchFamily="34" charset="-122"/>
                <a:cs typeface="Cambria" pitchFamily="34" charset="-120"/>
              </a:rPr>
              <a:t>Statistical Power Reconciles the Paradox</a:t>
            </a:r>
            <a:endParaRPr lang="en-US" sz="2700" dirty="0"/>
          </a:p>
        </p:txBody>
      </p:sp>
      <p:sp>
        <p:nvSpPr>
          <p:cNvPr id="4" name="Text 1"/>
          <p:cNvSpPr/>
          <p:nvPr/>
        </p:nvSpPr>
        <p:spPr>
          <a:xfrm>
            <a:off x="6414446" y="1143000"/>
            <a:ext cx="5198434" cy="457200"/>
          </a:xfrm>
          <a:prstGeom prst="rect">
            <a:avLst/>
          </a:prstGeom>
          <a:noFill/>
          <a:ln/>
        </p:spPr>
        <p:txBody>
          <a:bodyPr wrap="square" rtlCol="0" anchor="ctr"/>
          <a:lstStyle/>
          <a:p>
            <a:pPr marL="0" indent="0">
              <a:buNone/>
            </a:pPr>
            <a:r>
              <a:rPr lang="en-US" sz="1500" b="1" dirty="0">
                <a:solidFill>
                  <a:srgbClr val="1F2A5C"/>
                </a:solidFill>
                <a:latin typeface="Calibri" pitchFamily="34" charset="0"/>
                <a:ea typeface="Calibri" pitchFamily="34" charset="-122"/>
                <a:cs typeface="Calibri" pitchFamily="34" charset="-120"/>
              </a:rPr>
              <a:t>Table 1. Directional Concordance by CSA Signal Strength</a:t>
            </a:r>
            <a:endParaRPr lang="en-US" sz="1500" dirty="0"/>
          </a:p>
        </p:txBody>
      </p:sp>
      <p:sp>
        <p:nvSpPr>
          <p:cNvPr id="5" name="Shape 2"/>
          <p:cNvSpPr/>
          <p:nvPr/>
        </p:nvSpPr>
        <p:spPr>
          <a:xfrm>
            <a:off x="6414446" y="1691640"/>
            <a:ext cx="5198433" cy="475488"/>
          </a:xfrm>
          <a:prstGeom prst="rect">
            <a:avLst/>
          </a:prstGeom>
          <a:solidFill>
            <a:srgbClr val="2F3C7E"/>
          </a:solidFill>
          <a:ln w="6350">
            <a:solidFill>
              <a:srgbClr val="E1E3EF"/>
            </a:solidFill>
            <a:prstDash val="solid"/>
          </a:ln>
        </p:spPr>
        <p:txBody>
          <a:bodyPr/>
          <a:lstStyle/>
          <a:p>
            <a:endParaRPr lang="en-US"/>
          </a:p>
        </p:txBody>
      </p:sp>
      <p:sp>
        <p:nvSpPr>
          <p:cNvPr id="6" name="Text 3"/>
          <p:cNvSpPr/>
          <p:nvPr/>
        </p:nvSpPr>
        <p:spPr>
          <a:xfrm>
            <a:off x="6651918" y="1691640"/>
            <a:ext cx="1345669"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CSA |Z|</a:t>
            </a:r>
            <a:endParaRPr lang="en-US" sz="1300" dirty="0"/>
          </a:p>
        </p:txBody>
      </p:sp>
      <p:sp>
        <p:nvSpPr>
          <p:cNvPr id="7" name="Text 4"/>
          <p:cNvSpPr/>
          <p:nvPr/>
        </p:nvSpPr>
        <p:spPr>
          <a:xfrm>
            <a:off x="8549640" y="1691640"/>
            <a:ext cx="2756916" cy="475488"/>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 Same Direction as EUR</a:t>
            </a:r>
            <a:endParaRPr lang="en-US" sz="1300" dirty="0"/>
          </a:p>
        </p:txBody>
      </p:sp>
      <p:sp>
        <p:nvSpPr>
          <p:cNvPr id="8" name="Shape 5"/>
          <p:cNvSpPr/>
          <p:nvPr/>
        </p:nvSpPr>
        <p:spPr>
          <a:xfrm>
            <a:off x="6414446" y="2167128"/>
            <a:ext cx="5198433" cy="475488"/>
          </a:xfrm>
          <a:prstGeom prst="rect">
            <a:avLst/>
          </a:prstGeom>
          <a:solidFill>
            <a:srgbClr val="FFFFFF"/>
          </a:solidFill>
          <a:ln w="6350">
            <a:solidFill>
              <a:srgbClr val="E1E3EF"/>
            </a:solidFill>
            <a:prstDash val="solid"/>
          </a:ln>
        </p:spPr>
        <p:txBody>
          <a:bodyPr/>
          <a:lstStyle/>
          <a:p>
            <a:endParaRPr lang="en-US"/>
          </a:p>
        </p:txBody>
      </p:sp>
      <p:sp>
        <p:nvSpPr>
          <p:cNvPr id="9" name="Text 6"/>
          <p:cNvSpPr/>
          <p:nvPr/>
        </p:nvSpPr>
        <p:spPr>
          <a:xfrm>
            <a:off x="6651918" y="2167128"/>
            <a:ext cx="1345669" cy="475488"/>
          </a:xfrm>
          <a:prstGeom prst="rect">
            <a:avLst/>
          </a:prstGeom>
          <a:noFill/>
          <a:ln/>
        </p:spPr>
        <p:txBody>
          <a:bodyPr wrap="square" rtlCol="0" anchor="ctr"/>
          <a:lstStyle/>
          <a:p>
            <a:pPr marL="0" indent="0">
              <a:buNone/>
            </a:pPr>
            <a:r>
              <a:rPr lang="en-US" sz="1300" dirty="0">
                <a:solidFill>
                  <a:srgbClr val="1B1E33"/>
                </a:solidFill>
                <a:latin typeface="Calibri" pitchFamily="34" charset="0"/>
                <a:ea typeface="Calibri" pitchFamily="34" charset="-122"/>
                <a:cs typeface="Calibri" pitchFamily="34" charset="-120"/>
              </a:rPr>
              <a:t>&lt; 1  (weak)</a:t>
            </a:r>
            <a:endParaRPr lang="en-US" sz="1300" dirty="0"/>
          </a:p>
        </p:txBody>
      </p:sp>
      <p:sp>
        <p:nvSpPr>
          <p:cNvPr id="10" name="Text 7"/>
          <p:cNvSpPr/>
          <p:nvPr/>
        </p:nvSpPr>
        <p:spPr>
          <a:xfrm>
            <a:off x="8549640" y="2167128"/>
            <a:ext cx="2756916" cy="475488"/>
          </a:xfrm>
          <a:prstGeom prst="rect">
            <a:avLst/>
          </a:prstGeom>
          <a:noFill/>
          <a:ln/>
        </p:spPr>
        <p:txBody>
          <a:bodyPr wrap="square" rtlCol="0" anchor="ctr"/>
          <a:lstStyle/>
          <a:p>
            <a:pPr marL="0" indent="0" algn="r">
              <a:buNone/>
            </a:pPr>
            <a:r>
              <a:rPr lang="en-US" sz="1300" dirty="0">
                <a:solidFill>
                  <a:srgbClr val="1B1E33"/>
                </a:solidFill>
                <a:latin typeface="Calibri" pitchFamily="34" charset="0"/>
                <a:ea typeface="Calibri" pitchFamily="34" charset="-122"/>
                <a:cs typeface="Calibri" pitchFamily="34" charset="-120"/>
              </a:rPr>
              <a:t>63.7%</a:t>
            </a:r>
            <a:endParaRPr lang="en-US" sz="1300" dirty="0"/>
          </a:p>
        </p:txBody>
      </p:sp>
      <p:sp>
        <p:nvSpPr>
          <p:cNvPr id="11" name="Shape 8"/>
          <p:cNvSpPr/>
          <p:nvPr/>
        </p:nvSpPr>
        <p:spPr>
          <a:xfrm>
            <a:off x="6414446" y="2642616"/>
            <a:ext cx="5198433" cy="475488"/>
          </a:xfrm>
          <a:prstGeom prst="rect">
            <a:avLst/>
          </a:prstGeom>
          <a:solidFill>
            <a:srgbClr val="F7F7FA"/>
          </a:solidFill>
          <a:ln w="6350">
            <a:solidFill>
              <a:srgbClr val="E1E3EF"/>
            </a:solidFill>
            <a:prstDash val="solid"/>
          </a:ln>
        </p:spPr>
        <p:txBody>
          <a:bodyPr/>
          <a:lstStyle/>
          <a:p>
            <a:endParaRPr lang="en-US"/>
          </a:p>
        </p:txBody>
      </p:sp>
      <p:sp>
        <p:nvSpPr>
          <p:cNvPr id="12" name="Text 9"/>
          <p:cNvSpPr/>
          <p:nvPr/>
        </p:nvSpPr>
        <p:spPr>
          <a:xfrm>
            <a:off x="6651918" y="2642616"/>
            <a:ext cx="1345669" cy="475488"/>
          </a:xfrm>
          <a:prstGeom prst="rect">
            <a:avLst/>
          </a:prstGeom>
          <a:noFill/>
          <a:ln/>
        </p:spPr>
        <p:txBody>
          <a:bodyPr wrap="square" rtlCol="0" anchor="ctr"/>
          <a:lstStyle/>
          <a:p>
            <a:pPr marL="0" indent="0">
              <a:buNone/>
            </a:pPr>
            <a:r>
              <a:rPr lang="en-US" sz="1300" dirty="0">
                <a:solidFill>
                  <a:srgbClr val="1B1E33"/>
                </a:solidFill>
                <a:latin typeface="Calibri" pitchFamily="34" charset="0"/>
                <a:ea typeface="Calibri" pitchFamily="34" charset="-122"/>
                <a:cs typeface="Calibri" pitchFamily="34" charset="-120"/>
              </a:rPr>
              <a:t>1 – 2</a:t>
            </a:r>
            <a:endParaRPr lang="en-US" sz="1300" dirty="0"/>
          </a:p>
        </p:txBody>
      </p:sp>
      <p:sp>
        <p:nvSpPr>
          <p:cNvPr id="13" name="Text 10"/>
          <p:cNvSpPr/>
          <p:nvPr/>
        </p:nvSpPr>
        <p:spPr>
          <a:xfrm>
            <a:off x="8549640" y="2642616"/>
            <a:ext cx="2756916" cy="475488"/>
          </a:xfrm>
          <a:prstGeom prst="rect">
            <a:avLst/>
          </a:prstGeom>
          <a:noFill/>
          <a:ln/>
        </p:spPr>
        <p:txBody>
          <a:bodyPr wrap="square" rtlCol="0" anchor="ctr"/>
          <a:lstStyle/>
          <a:p>
            <a:pPr marL="0" indent="0" algn="r">
              <a:buNone/>
            </a:pPr>
            <a:r>
              <a:rPr lang="en-US" sz="1300" dirty="0">
                <a:solidFill>
                  <a:srgbClr val="1B1E33"/>
                </a:solidFill>
                <a:latin typeface="Calibri" pitchFamily="34" charset="0"/>
                <a:ea typeface="Calibri" pitchFamily="34" charset="-122"/>
                <a:cs typeface="Calibri" pitchFamily="34" charset="-120"/>
              </a:rPr>
              <a:t>71.3%</a:t>
            </a:r>
            <a:endParaRPr lang="en-US" sz="1300" dirty="0"/>
          </a:p>
        </p:txBody>
      </p:sp>
      <p:sp>
        <p:nvSpPr>
          <p:cNvPr id="14" name="Shape 11"/>
          <p:cNvSpPr/>
          <p:nvPr/>
        </p:nvSpPr>
        <p:spPr>
          <a:xfrm>
            <a:off x="6414446" y="3118104"/>
            <a:ext cx="5198433" cy="475488"/>
          </a:xfrm>
          <a:prstGeom prst="rect">
            <a:avLst/>
          </a:prstGeom>
          <a:solidFill>
            <a:srgbClr val="FFFFFF"/>
          </a:solidFill>
          <a:ln w="6350">
            <a:solidFill>
              <a:srgbClr val="E1E3EF"/>
            </a:solidFill>
            <a:prstDash val="solid"/>
          </a:ln>
        </p:spPr>
        <p:txBody>
          <a:bodyPr/>
          <a:lstStyle/>
          <a:p>
            <a:endParaRPr lang="en-US"/>
          </a:p>
        </p:txBody>
      </p:sp>
      <p:sp>
        <p:nvSpPr>
          <p:cNvPr id="15" name="Text 12"/>
          <p:cNvSpPr/>
          <p:nvPr/>
        </p:nvSpPr>
        <p:spPr>
          <a:xfrm>
            <a:off x="6651918" y="3118104"/>
            <a:ext cx="1345669" cy="475488"/>
          </a:xfrm>
          <a:prstGeom prst="rect">
            <a:avLst/>
          </a:prstGeom>
          <a:noFill/>
          <a:ln/>
        </p:spPr>
        <p:txBody>
          <a:bodyPr wrap="square" rtlCol="0" anchor="ctr"/>
          <a:lstStyle/>
          <a:p>
            <a:pPr marL="0" indent="0">
              <a:buNone/>
            </a:pPr>
            <a:r>
              <a:rPr lang="en-US" sz="1300" dirty="0">
                <a:solidFill>
                  <a:srgbClr val="1B1E33"/>
                </a:solidFill>
                <a:latin typeface="Calibri" pitchFamily="34" charset="0"/>
                <a:ea typeface="Calibri" pitchFamily="34" charset="-122"/>
                <a:cs typeface="Calibri" pitchFamily="34" charset="-120"/>
              </a:rPr>
              <a:t>2 – 3</a:t>
            </a:r>
            <a:endParaRPr lang="en-US" sz="1300" dirty="0"/>
          </a:p>
        </p:txBody>
      </p:sp>
      <p:sp>
        <p:nvSpPr>
          <p:cNvPr id="16" name="Text 13"/>
          <p:cNvSpPr/>
          <p:nvPr/>
        </p:nvSpPr>
        <p:spPr>
          <a:xfrm>
            <a:off x="8549640" y="3118104"/>
            <a:ext cx="2756916" cy="475488"/>
          </a:xfrm>
          <a:prstGeom prst="rect">
            <a:avLst/>
          </a:prstGeom>
          <a:noFill/>
          <a:ln/>
        </p:spPr>
        <p:txBody>
          <a:bodyPr wrap="square" rtlCol="0" anchor="ctr"/>
          <a:lstStyle/>
          <a:p>
            <a:pPr marL="0" indent="0" algn="r">
              <a:buNone/>
            </a:pPr>
            <a:r>
              <a:rPr lang="en-US" sz="1300" dirty="0">
                <a:solidFill>
                  <a:srgbClr val="1B1E33"/>
                </a:solidFill>
                <a:latin typeface="Calibri" pitchFamily="34" charset="0"/>
                <a:ea typeface="Calibri" pitchFamily="34" charset="-122"/>
                <a:cs typeface="Calibri" pitchFamily="34" charset="-120"/>
              </a:rPr>
              <a:t>98.0%</a:t>
            </a:r>
            <a:endParaRPr lang="en-US" sz="1300" dirty="0"/>
          </a:p>
        </p:txBody>
      </p:sp>
      <p:sp>
        <p:nvSpPr>
          <p:cNvPr id="17" name="Shape 14"/>
          <p:cNvSpPr/>
          <p:nvPr/>
        </p:nvSpPr>
        <p:spPr>
          <a:xfrm>
            <a:off x="6414446" y="3593592"/>
            <a:ext cx="5198433" cy="475488"/>
          </a:xfrm>
          <a:prstGeom prst="rect">
            <a:avLst/>
          </a:prstGeom>
          <a:solidFill>
            <a:srgbClr val="F7F7FA"/>
          </a:solidFill>
          <a:ln w="6350">
            <a:solidFill>
              <a:srgbClr val="E1E3EF"/>
            </a:solidFill>
            <a:prstDash val="solid"/>
          </a:ln>
        </p:spPr>
        <p:txBody>
          <a:bodyPr/>
          <a:lstStyle/>
          <a:p>
            <a:endParaRPr lang="en-US"/>
          </a:p>
        </p:txBody>
      </p:sp>
      <p:sp>
        <p:nvSpPr>
          <p:cNvPr id="18" name="Text 15"/>
          <p:cNvSpPr/>
          <p:nvPr/>
        </p:nvSpPr>
        <p:spPr>
          <a:xfrm>
            <a:off x="6651918" y="3593592"/>
            <a:ext cx="1345669" cy="475488"/>
          </a:xfrm>
          <a:prstGeom prst="rect">
            <a:avLst/>
          </a:prstGeom>
          <a:noFill/>
          <a:ln/>
        </p:spPr>
        <p:txBody>
          <a:bodyPr wrap="square" rtlCol="0" anchor="ctr"/>
          <a:lstStyle/>
          <a:p>
            <a:pPr marL="0" indent="0">
              <a:buNone/>
            </a:pPr>
            <a:r>
              <a:rPr lang="en-US" sz="1300" dirty="0">
                <a:solidFill>
                  <a:srgbClr val="1B1E33"/>
                </a:solidFill>
                <a:latin typeface="Calibri" pitchFamily="34" charset="0"/>
                <a:ea typeface="Calibri" pitchFamily="34" charset="-122"/>
                <a:cs typeface="Calibri" pitchFamily="34" charset="-120"/>
              </a:rPr>
              <a:t>&gt; 3  (strong)</a:t>
            </a:r>
            <a:endParaRPr lang="en-US" sz="1300" dirty="0"/>
          </a:p>
        </p:txBody>
      </p:sp>
      <p:sp>
        <p:nvSpPr>
          <p:cNvPr id="19" name="Text 16"/>
          <p:cNvSpPr/>
          <p:nvPr/>
        </p:nvSpPr>
        <p:spPr>
          <a:xfrm>
            <a:off x="8549640" y="3593592"/>
            <a:ext cx="2756916" cy="475488"/>
          </a:xfrm>
          <a:prstGeom prst="rect">
            <a:avLst/>
          </a:prstGeom>
          <a:noFill/>
          <a:ln/>
        </p:spPr>
        <p:txBody>
          <a:bodyPr wrap="square" rtlCol="0" anchor="ctr"/>
          <a:lstStyle/>
          <a:p>
            <a:pPr marL="0" indent="0" algn="r">
              <a:buNone/>
            </a:pPr>
            <a:r>
              <a:rPr lang="en-US" sz="1300" b="1" dirty="0">
                <a:solidFill>
                  <a:srgbClr val="F96167"/>
                </a:solidFill>
                <a:latin typeface="Calibri" pitchFamily="34" charset="0"/>
                <a:ea typeface="Calibri" pitchFamily="34" charset="-122"/>
                <a:cs typeface="Calibri" pitchFamily="34" charset="-120"/>
              </a:rPr>
              <a:t>100%</a:t>
            </a:r>
            <a:endParaRPr lang="en-US" sz="1300" dirty="0"/>
          </a:p>
        </p:txBody>
      </p:sp>
      <p:sp>
        <p:nvSpPr>
          <p:cNvPr id="20" name="Shape 17"/>
          <p:cNvSpPr/>
          <p:nvPr/>
        </p:nvSpPr>
        <p:spPr>
          <a:xfrm>
            <a:off x="6414448" y="4297680"/>
            <a:ext cx="5198432" cy="1417320"/>
          </a:xfrm>
          <a:prstGeom prst="roundRect">
            <a:avLst>
              <a:gd name="adj" fmla="val 6452"/>
            </a:avLst>
          </a:prstGeom>
          <a:solidFill>
            <a:srgbClr val="2F3C7E"/>
          </a:solidFill>
          <a:ln/>
        </p:spPr>
        <p:txBody>
          <a:bodyPr/>
          <a:lstStyle/>
          <a:p>
            <a:endParaRPr lang="en-US"/>
          </a:p>
        </p:txBody>
      </p:sp>
      <p:sp>
        <p:nvSpPr>
          <p:cNvPr id="21" name="Text 18"/>
          <p:cNvSpPr/>
          <p:nvPr/>
        </p:nvSpPr>
        <p:spPr>
          <a:xfrm>
            <a:off x="6277970" y="4434840"/>
            <a:ext cx="2010152" cy="1143000"/>
          </a:xfrm>
          <a:prstGeom prst="rect">
            <a:avLst/>
          </a:prstGeom>
          <a:noFill/>
          <a:ln/>
        </p:spPr>
        <p:txBody>
          <a:bodyPr wrap="square" rtlCol="0" anchor="ctr"/>
          <a:lstStyle/>
          <a:p>
            <a:pPr marL="0" indent="0" algn="ctr">
              <a:buNone/>
            </a:pPr>
            <a:r>
              <a:rPr lang="en-US" sz="2400" b="1" dirty="0">
                <a:solidFill>
                  <a:srgbClr val="F9E795"/>
                </a:solidFill>
                <a:latin typeface="Cambria" pitchFamily="34" charset="0"/>
                <a:ea typeface="Cambria" pitchFamily="34" charset="-122"/>
                <a:cs typeface="Cambria" pitchFamily="34" charset="-120"/>
              </a:rPr>
              <a:t>0 of 8,789</a:t>
            </a:r>
            <a:endParaRPr lang="en-US" sz="2400" dirty="0"/>
          </a:p>
        </p:txBody>
      </p:sp>
      <p:sp>
        <p:nvSpPr>
          <p:cNvPr id="22" name="Text 19"/>
          <p:cNvSpPr/>
          <p:nvPr/>
        </p:nvSpPr>
        <p:spPr>
          <a:xfrm>
            <a:off x="8059522" y="4434840"/>
            <a:ext cx="3369564" cy="11430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genome-wide-significant loci — including TCF7L2, the strongest known T2D gene — showed significant EUR–CSA heterogeneity after correction.</a:t>
            </a:r>
            <a:endParaRPr lang="en-US" sz="1200" dirty="0"/>
          </a:p>
        </p:txBody>
      </p:sp>
      <p:sp>
        <p:nvSpPr>
          <p:cNvPr id="23" name="Text 20"/>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10</a:t>
            </a:r>
            <a:endParaRPr lang="en-US" sz="1000" dirty="0"/>
          </a:p>
        </p:txBody>
      </p:sp>
      <p:pic>
        <p:nvPicPr>
          <p:cNvPr id="24" name="Picture 23">
            <a:extLst>
              <a:ext uri="{FF2B5EF4-FFF2-40B4-BE49-F238E27FC236}">
                <a16:creationId xmlns:a16="http://schemas.microsoft.com/office/drawing/2014/main" id="{85E5A21E-E0D5-6723-8535-81330ED2F45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7978"/>
          <a:stretch>
            <a:fillRect/>
          </a:stretch>
        </p:blipFill>
        <p:spPr bwMode="auto">
          <a:xfrm>
            <a:off x="579118" y="1182983"/>
            <a:ext cx="5698850" cy="4089697"/>
          </a:xfrm>
          <a:prstGeom prst="rect">
            <a:avLst/>
          </a:prstGeom>
          <a:ln>
            <a:noFill/>
          </a:ln>
          <a:extLst>
            <a:ext uri="{53640926-AAD7-44D8-BBD7-CCE9431645EC}">
              <a14:shadowObscured xmlns:a14="http://schemas.microsoft.com/office/drawing/2010/main"/>
            </a:ext>
          </a:extLst>
        </p:spPr>
      </p:pic>
      <p:sp>
        <p:nvSpPr>
          <p:cNvPr id="25" name="Text 3">
            <a:extLst>
              <a:ext uri="{FF2B5EF4-FFF2-40B4-BE49-F238E27FC236}">
                <a16:creationId xmlns:a16="http://schemas.microsoft.com/office/drawing/2014/main" id="{51C868DE-6077-F4F7-F269-6D34C99DF515}"/>
              </a:ext>
            </a:extLst>
          </p:cNvPr>
          <p:cNvSpPr/>
          <p:nvPr/>
        </p:nvSpPr>
        <p:spPr>
          <a:xfrm>
            <a:off x="548640" y="5303520"/>
            <a:ext cx="5592852" cy="411480"/>
          </a:xfrm>
          <a:prstGeom prst="rect">
            <a:avLst/>
          </a:prstGeom>
          <a:noFill/>
          <a:ln/>
        </p:spPr>
        <p:txBody>
          <a:bodyPr wrap="square" rtlCol="0" anchor="ctr"/>
          <a:lstStyle/>
          <a:p>
            <a:pPr marL="0" indent="0">
              <a:buNone/>
            </a:pPr>
            <a:r>
              <a:rPr lang="en-US" sz="950" i="1" dirty="0">
                <a:solidFill>
                  <a:srgbClr val="5A6472"/>
                </a:solidFill>
                <a:latin typeface="Calibri" pitchFamily="34" charset="0"/>
                <a:ea typeface="Calibri" pitchFamily="34" charset="-122"/>
                <a:cs typeface="Calibri" pitchFamily="34" charset="-120"/>
              </a:rPr>
              <a:t>Figure 6. EUR vs. CSA effect sizes at 8,789 EUR genome-wide-significant T2D loci, colored by heterogeneity.</a:t>
            </a:r>
            <a:endParaRPr lang="en-US" sz="950" dirty="0"/>
          </a:p>
        </p:txBody>
      </p:sp>
      <p:sp>
        <p:nvSpPr>
          <p:cNvPr id="26" name="Shape 2">
            <a:extLst>
              <a:ext uri="{FF2B5EF4-FFF2-40B4-BE49-F238E27FC236}">
                <a16:creationId xmlns:a16="http://schemas.microsoft.com/office/drawing/2014/main" id="{ECF94904-638A-3562-7B9F-4F1E388E2ECF}"/>
              </a:ext>
            </a:extLst>
          </p:cNvPr>
          <p:cNvSpPr/>
          <p:nvPr/>
        </p:nvSpPr>
        <p:spPr>
          <a:xfrm>
            <a:off x="579120" y="5902544"/>
            <a:ext cx="11033760" cy="726758"/>
          </a:xfrm>
          <a:prstGeom prst="roundRect">
            <a:avLst>
              <a:gd name="adj" fmla="val 2791"/>
            </a:avLst>
          </a:prstGeom>
          <a:solidFill>
            <a:schemeClr val="accent4">
              <a:lumMod val="20000"/>
              <a:lumOff val="80000"/>
            </a:schemeClr>
          </a:solidFill>
          <a:ln/>
        </p:spPr>
        <p:txBody>
          <a:bodyPr/>
          <a:lstStyle/>
          <a:p>
            <a:endParaRPr lang="en-US"/>
          </a:p>
        </p:txBody>
      </p:sp>
      <p:sp>
        <p:nvSpPr>
          <p:cNvPr id="27" name="Text 3">
            <a:extLst>
              <a:ext uri="{FF2B5EF4-FFF2-40B4-BE49-F238E27FC236}">
                <a16:creationId xmlns:a16="http://schemas.microsoft.com/office/drawing/2014/main" id="{28060F8F-DAB0-C87F-732B-A2208336DF27}"/>
              </a:ext>
            </a:extLst>
          </p:cNvPr>
          <p:cNvSpPr/>
          <p:nvPr/>
        </p:nvSpPr>
        <p:spPr>
          <a:xfrm>
            <a:off x="762526" y="5769792"/>
            <a:ext cx="10667492" cy="975751"/>
          </a:xfrm>
          <a:prstGeom prst="rect">
            <a:avLst/>
          </a:prstGeom>
          <a:noFill/>
          <a:ln/>
        </p:spPr>
        <p:txBody>
          <a:bodyPr wrap="square" rtlCol="0" anchor="ctr"/>
          <a:lstStyle/>
          <a:p>
            <a:pPr algn="ctr"/>
            <a:r>
              <a:rPr lang="en-US" sz="2000" b="1" i="1" dirty="0">
                <a:latin typeface="Cambria" pitchFamily="34" charset="0"/>
                <a:ea typeface="Cambria" pitchFamily="34" charset="-122"/>
                <a:cs typeface="Cambria" pitchFamily="34" charset="-120"/>
              </a:rPr>
              <a:t>The biology looks shared, not divergent.</a:t>
            </a:r>
            <a:endParaRPr lang="en-US" sz="2000" b="1"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1E2761"/>
          </a:solidFill>
          <a:ln/>
        </p:spPr>
        <p:txBody>
          <a:bodyPr/>
          <a:lstStyle/>
          <a:p>
            <a:endParaRPr lang="en-US"/>
          </a:p>
        </p:txBody>
      </p:sp>
      <p:pic>
        <p:nvPicPr>
          <p:cNvPr id="3" name="Image 0" descr="/home/claude/icon_percent.png"/>
          <p:cNvPicPr>
            <a:picLocks noChangeAspect="1"/>
          </p:cNvPicPr>
          <p:nvPr/>
        </p:nvPicPr>
        <p:blipFill>
          <a:blip r:embed="rId3"/>
          <a:stretch>
            <a:fillRect/>
          </a:stretch>
        </p:blipFill>
        <p:spPr>
          <a:xfrm>
            <a:off x="730606" y="547726"/>
            <a:ext cx="641909" cy="641909"/>
          </a:xfrm>
          <a:prstGeom prst="rect">
            <a:avLst/>
          </a:prstGeom>
        </p:spPr>
      </p:pic>
      <p:sp>
        <p:nvSpPr>
          <p:cNvPr id="4" name="Text 1"/>
          <p:cNvSpPr/>
          <p:nvPr/>
        </p:nvSpPr>
        <p:spPr>
          <a:xfrm>
            <a:off x="1737360" y="365760"/>
            <a:ext cx="9811512" cy="1005840"/>
          </a:xfrm>
          <a:prstGeom prst="rect">
            <a:avLst/>
          </a:prstGeom>
          <a:noFill/>
          <a:ln/>
        </p:spPr>
        <p:txBody>
          <a:bodyPr wrap="square"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Allele Frequency and LD Differences Explain Part of the Gap</a:t>
            </a:r>
            <a:endParaRPr lang="en-US" sz="2300" dirty="0"/>
          </a:p>
        </p:txBody>
      </p:sp>
      <p:pic>
        <p:nvPicPr>
          <p:cNvPr id="5" name="Image 1" descr="/home/claude/figures/Figure7_AlleleFreq.png"/>
          <p:cNvPicPr>
            <a:picLocks noChangeAspect="1"/>
          </p:cNvPicPr>
          <p:nvPr/>
        </p:nvPicPr>
        <p:blipFill>
          <a:blip r:embed="rId4"/>
          <a:stretch>
            <a:fillRect/>
          </a:stretch>
        </p:blipFill>
        <p:spPr>
          <a:xfrm>
            <a:off x="2376121" y="1508760"/>
            <a:ext cx="7436710" cy="3383280"/>
          </a:xfrm>
          <a:prstGeom prst="rect">
            <a:avLst/>
          </a:prstGeom>
        </p:spPr>
      </p:pic>
      <p:sp>
        <p:nvSpPr>
          <p:cNvPr id="6" name="Text 2"/>
          <p:cNvSpPr/>
          <p:nvPr/>
        </p:nvSpPr>
        <p:spPr>
          <a:xfrm>
            <a:off x="2376121" y="4937760"/>
            <a:ext cx="7436710" cy="320040"/>
          </a:xfrm>
          <a:prstGeom prst="rect">
            <a:avLst/>
          </a:prstGeom>
          <a:noFill/>
          <a:ln/>
        </p:spPr>
        <p:txBody>
          <a:bodyPr wrap="square" rtlCol="0" anchor="ctr"/>
          <a:lstStyle/>
          <a:p>
            <a:pPr marL="0" indent="0">
              <a:buNone/>
            </a:pPr>
            <a:r>
              <a:rPr lang="en-US" sz="1050" i="1" dirty="0">
                <a:solidFill>
                  <a:srgbClr val="5A6472"/>
                </a:solidFill>
                <a:latin typeface="Calibri" pitchFamily="34" charset="0"/>
                <a:ea typeface="Calibri" pitchFamily="34" charset="-122"/>
                <a:cs typeface="Calibri" pitchFamily="34" charset="-120"/>
              </a:rPr>
              <a:t>Figure 7. (A) Risk allele frequency, EUR vs. CSA, at 8,789 EUR GWAS T2D loci. (B) Distribution of absolute allele-frequency differences.</a:t>
            </a:r>
            <a:endParaRPr lang="en-US" sz="1050" dirty="0"/>
          </a:p>
        </p:txBody>
      </p:sp>
      <p:sp>
        <p:nvSpPr>
          <p:cNvPr id="7" name="Text 3"/>
          <p:cNvSpPr/>
          <p:nvPr/>
        </p:nvSpPr>
        <p:spPr>
          <a:xfrm>
            <a:off x="1005840" y="5349240"/>
            <a:ext cx="10177272" cy="822960"/>
          </a:xfrm>
          <a:prstGeom prst="rect">
            <a:avLst/>
          </a:prstGeom>
          <a:noFill/>
          <a:ln/>
        </p:spPr>
        <p:txBody>
          <a:bodyPr wrap="square" rtlCol="0" anchor="t"/>
          <a:lstStyle/>
          <a:p>
            <a:pPr marL="0" indent="0" algn="ctr">
              <a:buNone/>
            </a:pPr>
            <a:r>
              <a:rPr lang="en-US" sz="1500" dirty="0">
                <a:solidFill>
                  <a:srgbClr val="222222"/>
                </a:solidFill>
                <a:latin typeface="Calibri" pitchFamily="34" charset="0"/>
                <a:ea typeface="Calibri" pitchFamily="34" charset="-122"/>
                <a:cs typeface="Calibri" pitchFamily="34" charset="-120"/>
              </a:rPr>
              <a:t>Most loci show similar allele frequencies across populations (mean difference = 0.076), but a subset diverge substantially (0.25–0.3). Swapping in a South-Asian-matched LD reference alone reduced the C+T mean shift from 1.32 to 1.19 SD — these mechanisms contribute, but don’t fully explain, the miscalibration.</a:t>
            </a:r>
            <a:endParaRPr lang="en-US" sz="1500" dirty="0"/>
          </a:p>
        </p:txBody>
      </p:sp>
      <p:sp>
        <p:nvSpPr>
          <p:cNvPr id="8" name="Text 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1F2A5C"/>
        </a:solidFill>
        <a:effectLst/>
      </p:bgPr>
    </p:bg>
    <p:spTree>
      <p:nvGrpSpPr>
        <p:cNvPr id="1" name=""/>
        <p:cNvGrpSpPr/>
        <p:nvPr/>
      </p:nvGrpSpPr>
      <p:grpSpPr>
        <a:xfrm>
          <a:off x="0" y="0"/>
          <a:ext cx="0" cy="0"/>
          <a:chOff x="0" y="0"/>
          <a:chExt cx="0" cy="0"/>
        </a:xfrm>
      </p:grpSpPr>
      <p:sp>
        <p:nvSpPr>
          <p:cNvPr id="21" name="Shape 2">
            <a:extLst>
              <a:ext uri="{FF2B5EF4-FFF2-40B4-BE49-F238E27FC236}">
                <a16:creationId xmlns:a16="http://schemas.microsoft.com/office/drawing/2014/main" id="{9948FE1E-7AF0-E8E2-1F68-8C3533A3B7E1}"/>
              </a:ext>
            </a:extLst>
          </p:cNvPr>
          <p:cNvSpPr/>
          <p:nvPr/>
        </p:nvSpPr>
        <p:spPr>
          <a:xfrm>
            <a:off x="7906042" y="1234440"/>
            <a:ext cx="4164037" cy="5239512"/>
          </a:xfrm>
          <a:prstGeom prst="roundRect">
            <a:avLst>
              <a:gd name="adj" fmla="val 2791"/>
            </a:avLst>
          </a:prstGeom>
          <a:solidFill>
            <a:schemeClr val="bg2"/>
          </a:solidFill>
          <a:ln/>
        </p:spPr>
        <p:txBody>
          <a:bodyPr/>
          <a:lstStyle/>
          <a:p>
            <a:endParaRPr lang="en-US"/>
          </a:p>
        </p:txBody>
      </p:sp>
      <p:sp>
        <p:nvSpPr>
          <p:cNvPr id="2" name="Text 0"/>
          <p:cNvSpPr/>
          <p:nvPr/>
        </p:nvSpPr>
        <p:spPr>
          <a:xfrm>
            <a:off x="548640" y="502920"/>
            <a:ext cx="1106424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It's Not the Biology — It's the Data</a:t>
            </a:r>
            <a:endParaRPr lang="en-US" sz="3200" dirty="0"/>
          </a:p>
        </p:txBody>
      </p:sp>
      <p:sp>
        <p:nvSpPr>
          <p:cNvPr id="3" name="Shape 1"/>
          <p:cNvSpPr/>
          <p:nvPr/>
        </p:nvSpPr>
        <p:spPr>
          <a:xfrm>
            <a:off x="548640" y="1554480"/>
            <a:ext cx="457200" cy="457200"/>
          </a:xfrm>
          <a:prstGeom prst="ellipse">
            <a:avLst/>
          </a:prstGeom>
          <a:solidFill>
            <a:srgbClr val="F9E795"/>
          </a:solidFill>
          <a:ln/>
        </p:spPr>
        <p:txBody>
          <a:bodyPr/>
          <a:lstStyle/>
          <a:p>
            <a:endParaRPr lang="en-US"/>
          </a:p>
        </p:txBody>
      </p:sp>
      <p:sp>
        <p:nvSpPr>
          <p:cNvPr id="4" name="Text 2"/>
          <p:cNvSpPr/>
          <p:nvPr/>
        </p:nvSpPr>
        <p:spPr>
          <a:xfrm>
            <a:off x="548640" y="1554480"/>
            <a:ext cx="457200" cy="457200"/>
          </a:xfrm>
          <a:prstGeom prst="rect">
            <a:avLst/>
          </a:prstGeom>
          <a:noFill/>
          <a:ln/>
        </p:spPr>
        <p:txBody>
          <a:bodyPr wrap="square" rtlCol="0" anchor="ctr"/>
          <a:lstStyle/>
          <a:p>
            <a:pPr marL="0" indent="0" algn="ctr">
              <a:buNone/>
            </a:pPr>
            <a:r>
              <a:rPr lang="en-US" sz="1600" b="1" dirty="0">
                <a:solidFill>
                  <a:srgbClr val="1F2A5C"/>
                </a:solidFill>
                <a:latin typeface="Cambria" pitchFamily="34" charset="0"/>
                <a:ea typeface="Cambria" pitchFamily="34" charset="-122"/>
                <a:cs typeface="Cambria" pitchFamily="34" charset="-120"/>
              </a:rPr>
              <a:t>1</a:t>
            </a:r>
            <a:endParaRPr lang="en-US" sz="1600" dirty="0"/>
          </a:p>
        </p:txBody>
      </p:sp>
      <p:sp>
        <p:nvSpPr>
          <p:cNvPr id="5" name="Text 3"/>
          <p:cNvSpPr/>
          <p:nvPr/>
        </p:nvSpPr>
        <p:spPr>
          <a:xfrm>
            <a:off x="1234440" y="1463040"/>
            <a:ext cx="1024128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Miscalibration is real and consequential</a:t>
            </a:r>
            <a:endParaRPr lang="en-US" sz="1700" dirty="0"/>
          </a:p>
        </p:txBody>
      </p:sp>
      <p:sp>
        <p:nvSpPr>
          <p:cNvPr id="6" name="Text 4"/>
          <p:cNvSpPr/>
          <p:nvPr/>
        </p:nvSpPr>
        <p:spPr>
          <a:xfrm>
            <a:off x="1234440" y="1892808"/>
            <a:ext cx="10241280" cy="640080"/>
          </a:xfrm>
          <a:prstGeom prst="rect">
            <a:avLst/>
          </a:prstGeom>
          <a:noFill/>
          <a:ln/>
        </p:spPr>
        <p:txBody>
          <a:bodyPr wrap="square" rtlCol="0" anchor="ctr"/>
          <a:lstStyle/>
          <a:p>
            <a:pPr marL="0" indent="0">
              <a:buNone/>
            </a:pPr>
            <a:r>
              <a:rPr lang="en-US" sz="1350" dirty="0">
                <a:solidFill>
                  <a:srgbClr val="C9CCE6"/>
                </a:solidFill>
                <a:latin typeface="Calibri" pitchFamily="34" charset="0"/>
                <a:ea typeface="Calibri" pitchFamily="34" charset="-122"/>
                <a:cs typeface="Calibri" pitchFamily="34" charset="-120"/>
              </a:rPr>
              <a:t>Whole-distribution shifts and 4× over-flagging of high risk in South Asian individuals</a:t>
            </a:r>
            <a:endParaRPr lang="en-US" sz="1350" dirty="0"/>
          </a:p>
        </p:txBody>
      </p:sp>
      <p:sp>
        <p:nvSpPr>
          <p:cNvPr id="7" name="Shape 5"/>
          <p:cNvSpPr/>
          <p:nvPr/>
        </p:nvSpPr>
        <p:spPr>
          <a:xfrm>
            <a:off x="548640" y="2724912"/>
            <a:ext cx="457200" cy="457200"/>
          </a:xfrm>
          <a:prstGeom prst="ellipse">
            <a:avLst/>
          </a:prstGeom>
          <a:solidFill>
            <a:srgbClr val="F9E795"/>
          </a:solidFill>
          <a:ln/>
        </p:spPr>
        <p:txBody>
          <a:bodyPr/>
          <a:lstStyle/>
          <a:p>
            <a:endParaRPr lang="en-US"/>
          </a:p>
        </p:txBody>
      </p:sp>
      <p:sp>
        <p:nvSpPr>
          <p:cNvPr id="8" name="Text 6"/>
          <p:cNvSpPr/>
          <p:nvPr/>
        </p:nvSpPr>
        <p:spPr>
          <a:xfrm>
            <a:off x="548640" y="2724912"/>
            <a:ext cx="457200" cy="457200"/>
          </a:xfrm>
          <a:prstGeom prst="rect">
            <a:avLst/>
          </a:prstGeom>
          <a:noFill/>
          <a:ln/>
        </p:spPr>
        <p:txBody>
          <a:bodyPr wrap="square" rtlCol="0" anchor="ctr"/>
          <a:lstStyle/>
          <a:p>
            <a:pPr marL="0" indent="0" algn="ctr">
              <a:buNone/>
            </a:pPr>
            <a:r>
              <a:rPr lang="en-US" sz="1600" b="1" dirty="0">
                <a:solidFill>
                  <a:srgbClr val="1F2A5C"/>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234440" y="2633472"/>
            <a:ext cx="1024128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But the disease biology is largely shared</a:t>
            </a:r>
            <a:endParaRPr lang="en-US" sz="1700" dirty="0"/>
          </a:p>
        </p:txBody>
      </p:sp>
      <p:sp>
        <p:nvSpPr>
          <p:cNvPr id="10" name="Text 8"/>
          <p:cNvSpPr/>
          <p:nvPr/>
        </p:nvSpPr>
        <p:spPr>
          <a:xfrm>
            <a:off x="1234440" y="3063240"/>
            <a:ext cx="10241280" cy="640080"/>
          </a:xfrm>
          <a:prstGeom prst="rect">
            <a:avLst/>
          </a:prstGeom>
          <a:noFill/>
          <a:ln/>
        </p:spPr>
        <p:txBody>
          <a:bodyPr wrap="square" rtlCol="0" anchor="ctr"/>
          <a:lstStyle/>
          <a:p>
            <a:pPr marL="0" indent="0">
              <a:buNone/>
            </a:pPr>
            <a:r>
              <a:rPr lang="en-US" sz="1350" dirty="0">
                <a:solidFill>
                  <a:srgbClr val="C9CCE6"/>
                </a:solidFill>
                <a:latin typeface="Calibri" pitchFamily="34" charset="0"/>
                <a:ea typeface="Calibri" pitchFamily="34" charset="-122"/>
                <a:cs typeface="Calibri" pitchFamily="34" charset="-120"/>
              </a:rPr>
              <a:t>High genetic correlation (rg=1.27) and zero loci with true EUR–CSA heterogeneity</a:t>
            </a:r>
            <a:r>
              <a:rPr lang="en-US" sz="1050" i="1" dirty="0">
                <a:solidFill>
                  <a:srgbClr val="9AA0C7"/>
                </a:solidFill>
                <a:latin typeface="Calibri" pitchFamily="34" charset="0"/>
              </a:rPr>
              <a:t> </a:t>
            </a:r>
            <a:br>
              <a:rPr lang="en-US" sz="1050" i="1" dirty="0">
                <a:solidFill>
                  <a:srgbClr val="9AA0C7"/>
                </a:solidFill>
                <a:latin typeface="Calibri" pitchFamily="34" charset="0"/>
              </a:rPr>
            </a:br>
            <a:r>
              <a:rPr lang="en-US" sz="1050" i="1" dirty="0">
                <a:solidFill>
                  <a:srgbClr val="9AA0C7"/>
                </a:solidFill>
                <a:latin typeface="Calibri" pitchFamily="34" charset="0"/>
              </a:rPr>
              <a:t>(cf. Bulik-Sullivan et al., 2015)</a:t>
            </a:r>
            <a:endParaRPr lang="en-US" sz="1350" dirty="0"/>
          </a:p>
        </p:txBody>
      </p:sp>
      <p:sp>
        <p:nvSpPr>
          <p:cNvPr id="11" name="Shape 9"/>
          <p:cNvSpPr/>
          <p:nvPr/>
        </p:nvSpPr>
        <p:spPr>
          <a:xfrm>
            <a:off x="548640" y="3895344"/>
            <a:ext cx="457200" cy="457200"/>
          </a:xfrm>
          <a:prstGeom prst="ellipse">
            <a:avLst/>
          </a:prstGeom>
          <a:solidFill>
            <a:srgbClr val="F9E795"/>
          </a:solidFill>
          <a:ln/>
        </p:spPr>
        <p:txBody>
          <a:bodyPr/>
          <a:lstStyle/>
          <a:p>
            <a:endParaRPr lang="en-US"/>
          </a:p>
        </p:txBody>
      </p:sp>
      <p:sp>
        <p:nvSpPr>
          <p:cNvPr id="12" name="Text 10"/>
          <p:cNvSpPr/>
          <p:nvPr/>
        </p:nvSpPr>
        <p:spPr>
          <a:xfrm>
            <a:off x="548640" y="3895344"/>
            <a:ext cx="457200" cy="457200"/>
          </a:xfrm>
          <a:prstGeom prst="rect">
            <a:avLst/>
          </a:prstGeom>
          <a:noFill/>
          <a:ln/>
        </p:spPr>
        <p:txBody>
          <a:bodyPr wrap="square" rtlCol="0" anchor="ctr"/>
          <a:lstStyle/>
          <a:p>
            <a:pPr marL="0" indent="0" algn="ctr">
              <a:buNone/>
            </a:pPr>
            <a:r>
              <a:rPr lang="en-US" sz="1600" b="1" dirty="0">
                <a:solidFill>
                  <a:srgbClr val="1F2A5C"/>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1234440" y="3803904"/>
            <a:ext cx="1024128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Better algorithms alone didn't fix it</a:t>
            </a:r>
            <a:endParaRPr lang="en-US" sz="1700" dirty="0"/>
          </a:p>
        </p:txBody>
      </p:sp>
      <p:sp>
        <p:nvSpPr>
          <p:cNvPr id="14" name="Text 12"/>
          <p:cNvSpPr/>
          <p:nvPr/>
        </p:nvSpPr>
        <p:spPr>
          <a:xfrm>
            <a:off x="1234440" y="4233672"/>
            <a:ext cx="10241280" cy="640080"/>
          </a:xfrm>
          <a:prstGeom prst="rect">
            <a:avLst/>
          </a:prstGeom>
          <a:noFill/>
          <a:ln/>
        </p:spPr>
        <p:txBody>
          <a:bodyPr wrap="square" rtlCol="0" anchor="ctr"/>
          <a:lstStyle/>
          <a:p>
            <a:pPr marL="0" indent="0">
              <a:buNone/>
            </a:pPr>
            <a:r>
              <a:rPr lang="en-US" sz="1350" dirty="0">
                <a:solidFill>
                  <a:srgbClr val="C9CCE6"/>
                </a:solidFill>
                <a:latin typeface="Calibri" pitchFamily="34" charset="0"/>
                <a:ea typeface="Calibri" pitchFamily="34" charset="-122"/>
                <a:cs typeface="Calibri" pitchFamily="34" charset="-120"/>
              </a:rPr>
              <a:t>LDpred2-inf's more sophisticated LD modeling gave no transferability advantage over C+T</a:t>
            </a:r>
            <a:br>
              <a:rPr lang="en-US" sz="1350" dirty="0">
                <a:solidFill>
                  <a:srgbClr val="C9CCE6"/>
                </a:solidFill>
                <a:latin typeface="Calibri" pitchFamily="34" charset="0"/>
                <a:ea typeface="Calibri" pitchFamily="34" charset="-122"/>
                <a:cs typeface="Calibri" pitchFamily="34" charset="-120"/>
              </a:rPr>
            </a:br>
            <a:r>
              <a:rPr lang="en-US" sz="1050" i="1" dirty="0">
                <a:solidFill>
                  <a:srgbClr val="9AA0C7"/>
                </a:solidFill>
                <a:latin typeface="Calibri" pitchFamily="34" charset="0"/>
              </a:rPr>
              <a:t> (cf. Choi et al., 2020; Privé et al., 2021)</a:t>
            </a:r>
            <a:endParaRPr lang="en-US" sz="1350" dirty="0"/>
          </a:p>
        </p:txBody>
      </p:sp>
      <p:sp>
        <p:nvSpPr>
          <p:cNvPr id="15" name="Shape 13"/>
          <p:cNvSpPr/>
          <p:nvPr/>
        </p:nvSpPr>
        <p:spPr>
          <a:xfrm>
            <a:off x="548640" y="5065776"/>
            <a:ext cx="457200" cy="457200"/>
          </a:xfrm>
          <a:prstGeom prst="ellipse">
            <a:avLst/>
          </a:prstGeom>
          <a:solidFill>
            <a:srgbClr val="F96167"/>
          </a:solidFill>
          <a:ln/>
        </p:spPr>
        <p:txBody>
          <a:bodyPr/>
          <a:lstStyle/>
          <a:p>
            <a:endParaRPr lang="en-US"/>
          </a:p>
        </p:txBody>
      </p:sp>
      <p:sp>
        <p:nvSpPr>
          <p:cNvPr id="16" name="Text 14"/>
          <p:cNvSpPr/>
          <p:nvPr/>
        </p:nvSpPr>
        <p:spPr>
          <a:xfrm>
            <a:off x="548640" y="5065776"/>
            <a:ext cx="457200" cy="457200"/>
          </a:xfrm>
          <a:prstGeom prst="rect">
            <a:avLst/>
          </a:prstGeom>
          <a:noFill/>
          <a:ln/>
        </p:spPr>
        <p:txBody>
          <a:bodyPr wrap="square" rtlCol="0" anchor="ctr"/>
          <a:lstStyle/>
          <a:p>
            <a:pPr marL="0" indent="0" algn="ctr">
              <a:buNone/>
            </a:pPr>
            <a:r>
              <a:rPr lang="en-US" sz="1600" b="1" dirty="0">
                <a:solidFill>
                  <a:srgbClr val="1F2A5C"/>
                </a:solidFill>
                <a:latin typeface="Cambria" pitchFamily="34" charset="0"/>
                <a:ea typeface="Cambria" pitchFamily="34" charset="-122"/>
                <a:cs typeface="Cambria" pitchFamily="34" charset="-120"/>
              </a:rPr>
              <a:t>4</a:t>
            </a:r>
            <a:endParaRPr lang="en-US" sz="1600" dirty="0"/>
          </a:p>
        </p:txBody>
      </p:sp>
      <p:sp>
        <p:nvSpPr>
          <p:cNvPr id="17" name="Text 15"/>
          <p:cNvSpPr/>
          <p:nvPr/>
        </p:nvSpPr>
        <p:spPr>
          <a:xfrm>
            <a:off x="1234440" y="4974336"/>
            <a:ext cx="1024128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The path forward is more data, not more math</a:t>
            </a:r>
            <a:endParaRPr lang="en-US" sz="1700" dirty="0"/>
          </a:p>
        </p:txBody>
      </p:sp>
      <p:sp>
        <p:nvSpPr>
          <p:cNvPr id="18" name="Text 16"/>
          <p:cNvSpPr/>
          <p:nvPr/>
        </p:nvSpPr>
        <p:spPr>
          <a:xfrm>
            <a:off x="1234440" y="5404104"/>
            <a:ext cx="10241280" cy="640080"/>
          </a:xfrm>
          <a:prstGeom prst="rect">
            <a:avLst/>
          </a:prstGeom>
          <a:noFill/>
          <a:ln/>
        </p:spPr>
        <p:txBody>
          <a:bodyPr wrap="square" rtlCol="0" anchor="ctr"/>
          <a:lstStyle/>
          <a:p>
            <a:pPr marL="0" indent="0">
              <a:buNone/>
            </a:pPr>
            <a:r>
              <a:rPr lang="en-US" sz="1350" dirty="0">
                <a:solidFill>
                  <a:srgbClr val="C9CCE6"/>
                </a:solidFill>
                <a:latin typeface="Calibri" pitchFamily="34" charset="0"/>
                <a:ea typeface="Calibri" pitchFamily="34" charset="-122"/>
                <a:cs typeface="Calibri" pitchFamily="34" charset="-120"/>
              </a:rPr>
              <a:t>Expanding South Asian-specific GWAS is the most direct route to equitable T2D risk prediction</a:t>
            </a:r>
            <a:r>
              <a:rPr lang="en-US" sz="1050" i="1" dirty="0">
                <a:solidFill>
                  <a:srgbClr val="9AA0C7"/>
                </a:solidFill>
                <a:latin typeface="Calibri" pitchFamily="34" charset="0"/>
              </a:rPr>
              <a:t> </a:t>
            </a:r>
            <a:br>
              <a:rPr lang="en-US" sz="1050" i="1" dirty="0">
                <a:solidFill>
                  <a:srgbClr val="9AA0C7"/>
                </a:solidFill>
                <a:latin typeface="Calibri" pitchFamily="34" charset="0"/>
              </a:rPr>
            </a:br>
            <a:r>
              <a:rPr lang="en-US" sz="1050" i="1" dirty="0">
                <a:solidFill>
                  <a:srgbClr val="9AA0C7"/>
                </a:solidFill>
                <a:latin typeface="Calibri" pitchFamily="34" charset="0"/>
              </a:rPr>
              <a:t>(Martin et al., 2019)</a:t>
            </a:r>
            <a:endParaRPr lang="en-US" sz="1350" dirty="0"/>
          </a:p>
        </p:txBody>
      </p:sp>
      <p:sp>
        <p:nvSpPr>
          <p:cNvPr id="19" name="Text 17"/>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11</a:t>
            </a:r>
            <a:endParaRPr lang="en-US" sz="1000" dirty="0"/>
          </a:p>
        </p:txBody>
      </p:sp>
      <p:pic>
        <p:nvPicPr>
          <p:cNvPr id="20" name="Picture 19">
            <a:extLst>
              <a:ext uri="{FF2B5EF4-FFF2-40B4-BE49-F238E27FC236}">
                <a16:creationId xmlns:a16="http://schemas.microsoft.com/office/drawing/2014/main" id="{A80AC009-70CD-F714-8626-3635DD0AF879}"/>
              </a:ext>
            </a:extLst>
          </p:cNvPr>
          <p:cNvPicPr>
            <a:picLocks noChangeAspect="1"/>
          </p:cNvPicPr>
          <p:nvPr/>
        </p:nvPicPr>
        <p:blipFill>
          <a:blip r:embed="rId3"/>
          <a:stretch>
            <a:fillRect/>
          </a:stretch>
        </p:blipFill>
        <p:spPr>
          <a:xfrm>
            <a:off x="8037340" y="829642"/>
            <a:ext cx="4032740" cy="604910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F2A5C"/>
                </a:solidFill>
                <a:latin typeface="Cambria" pitchFamily="34" charset="0"/>
                <a:ea typeface="Cambria" pitchFamily="34" charset="-122"/>
                <a:cs typeface="Cambria" pitchFamily="34" charset="-120"/>
              </a:rPr>
              <a:t>Limitations &amp; What Comes Next</a:t>
            </a:r>
            <a:endParaRPr lang="en-US" sz="2800" dirty="0"/>
          </a:p>
        </p:txBody>
      </p:sp>
      <p:sp>
        <p:nvSpPr>
          <p:cNvPr id="3" name="Shape 1"/>
          <p:cNvSpPr/>
          <p:nvPr/>
        </p:nvSpPr>
        <p:spPr>
          <a:xfrm>
            <a:off x="548640" y="1371600"/>
            <a:ext cx="5349240" cy="5029200"/>
          </a:xfrm>
          <a:prstGeom prst="roundRect">
            <a:avLst>
              <a:gd name="adj" fmla="val 3030"/>
            </a:avLst>
          </a:prstGeom>
          <a:solidFill>
            <a:srgbClr val="F7F7FA"/>
          </a:solidFill>
          <a:ln w="12700">
            <a:solidFill>
              <a:srgbClr val="E1E3EF"/>
            </a:solidFill>
            <a:prstDash val="solid"/>
          </a:ln>
        </p:spPr>
        <p:txBody>
          <a:bodyPr/>
          <a:lstStyle/>
          <a:p>
            <a:endParaRPr lang="en-US"/>
          </a:p>
        </p:txBody>
      </p:sp>
      <p:sp>
        <p:nvSpPr>
          <p:cNvPr id="4" name="Text 2"/>
          <p:cNvSpPr/>
          <p:nvPr/>
        </p:nvSpPr>
        <p:spPr>
          <a:xfrm>
            <a:off x="822960" y="1554480"/>
            <a:ext cx="4754880" cy="411480"/>
          </a:xfrm>
          <a:prstGeom prst="rect">
            <a:avLst/>
          </a:prstGeom>
          <a:noFill/>
          <a:ln/>
        </p:spPr>
        <p:txBody>
          <a:bodyPr wrap="square" rtlCol="0" anchor="ctr"/>
          <a:lstStyle/>
          <a:p>
            <a:pPr marL="0" indent="0">
              <a:buNone/>
            </a:pPr>
            <a:r>
              <a:rPr lang="en-US" sz="1600" b="1" dirty="0">
                <a:solidFill>
                  <a:srgbClr val="2F3C7E"/>
                </a:solidFill>
                <a:latin typeface="Calibri" pitchFamily="34" charset="0"/>
                <a:ea typeface="Calibri" pitchFamily="34" charset="-122"/>
                <a:cs typeface="Calibri" pitchFamily="34" charset="-120"/>
              </a:rPr>
              <a:t>Limitations</a:t>
            </a:r>
            <a:endParaRPr lang="en-US" sz="1600" dirty="0"/>
          </a:p>
        </p:txBody>
      </p:sp>
      <p:sp>
        <p:nvSpPr>
          <p:cNvPr id="5" name="Text 3"/>
          <p:cNvSpPr/>
          <p:nvPr/>
        </p:nvSpPr>
        <p:spPr>
          <a:xfrm>
            <a:off x="822960" y="1965959"/>
            <a:ext cx="4754880" cy="4680065"/>
          </a:xfrm>
          <a:prstGeom prst="rect">
            <a:avLst/>
          </a:prstGeom>
          <a:noFill/>
          <a:ln/>
        </p:spPr>
        <p:txBody>
          <a:bodyPr wrap="square" rtlCol="0" anchor="t"/>
          <a:lstStyle/>
          <a:p>
            <a:pPr marL="342900" indent="-342900">
              <a:lnSpc>
                <a:spcPct val="115000"/>
              </a:lnSpc>
              <a:spcAft>
                <a:spcPts val="1200"/>
              </a:spcAft>
              <a:buSzPct val="100000"/>
              <a:buChar char="•"/>
            </a:pPr>
            <a:r>
              <a:rPr lang="en-US" sz="1350" b="1" dirty="0">
                <a:solidFill>
                  <a:srgbClr val="1B1E33"/>
                </a:solidFill>
                <a:latin typeface="Calibri" pitchFamily="34" charset="0"/>
                <a:ea typeface="Calibri" pitchFamily="34" charset="-122"/>
                <a:cs typeface="Calibri" pitchFamily="34" charset="-120"/>
              </a:rPr>
              <a:t>Genotype-level, not clinical validation: </a:t>
            </a:r>
            <a:r>
              <a:rPr lang="en-US" sz="1350" dirty="0">
                <a:solidFill>
                  <a:srgbClr val="1B1E33"/>
                </a:solidFill>
                <a:latin typeface="Calibri" pitchFamily="34" charset="0"/>
                <a:ea typeface="Calibri" pitchFamily="34" charset="-122"/>
                <a:cs typeface="Calibri" pitchFamily="34" charset="-120"/>
              </a:rPr>
              <a:t>The 1000 Genomes panel has no phenotype data, so transferability was assessed through genotype-level metrics — score shift, decile enrichment, concordance, heterogeneity, genetic correlation — rather than actual predictive accuracy in diagnosed patients.</a:t>
            </a:r>
          </a:p>
          <a:p>
            <a:pPr marL="342900" indent="-342900">
              <a:lnSpc>
                <a:spcPct val="115000"/>
              </a:lnSpc>
              <a:spcAft>
                <a:spcPts val="1200"/>
              </a:spcAft>
              <a:buSzPct val="100000"/>
              <a:buChar char="•"/>
            </a:pPr>
            <a:r>
              <a:rPr lang="en-US" sz="1350" b="1" dirty="0">
                <a:solidFill>
                  <a:srgbClr val="1B1E33"/>
                </a:solidFill>
                <a:latin typeface="Calibri" pitchFamily="34" charset="0"/>
                <a:ea typeface="Calibri" pitchFamily="34" charset="-122"/>
                <a:cs typeface="Calibri" pitchFamily="34" charset="-120"/>
              </a:rPr>
              <a:t>Small CSA GWAS sample size (1,662 cases): </a:t>
            </a:r>
            <a:r>
              <a:rPr lang="en-US" sz="1350" dirty="0">
                <a:solidFill>
                  <a:srgbClr val="1B1E33"/>
                </a:solidFill>
                <a:latin typeface="Calibri" pitchFamily="34" charset="0"/>
                <a:ea typeface="Calibri" pitchFamily="34" charset="-122"/>
                <a:cs typeface="Calibri" pitchFamily="34" charset="-120"/>
              </a:rPr>
              <a:t>This is the central limitation of the study — but also arguably its central finding. The underrepresentation itself is the story, not just a caveat on it.</a:t>
            </a:r>
          </a:p>
          <a:p>
            <a:pPr marL="342900" indent="-342900">
              <a:lnSpc>
                <a:spcPct val="115000"/>
              </a:lnSpc>
              <a:spcAft>
                <a:spcPts val="1200"/>
              </a:spcAft>
              <a:buSzPct val="100000"/>
              <a:buChar char="•"/>
            </a:pPr>
            <a:r>
              <a:rPr lang="en-US" sz="1350" b="1" dirty="0">
                <a:solidFill>
                  <a:srgbClr val="1B1E33"/>
                </a:solidFill>
                <a:latin typeface="Calibri" pitchFamily="34" charset="0"/>
                <a:ea typeface="Calibri" pitchFamily="34" charset="-122"/>
                <a:cs typeface="Calibri" pitchFamily="34" charset="-120"/>
              </a:rPr>
              <a:t>"South Asian" is not one population: </a:t>
            </a:r>
            <a:r>
              <a:rPr lang="en-US" sz="1350" dirty="0">
                <a:solidFill>
                  <a:srgbClr val="1B1E33"/>
                </a:solidFill>
                <a:latin typeface="Calibri" pitchFamily="34" charset="0"/>
                <a:ea typeface="Calibri" pitchFamily="34" charset="-122"/>
                <a:cs typeface="Calibri" pitchFamily="34" charset="-120"/>
              </a:rPr>
              <a:t>The CSA and SAS labels collapse substantial genetic diversity within South Asia (e.g., differences among Pakistani, Bangladeshi, Indian, and Sri Lankan ancestries) that the 1000 Genomes SAS superpopulation doesn't fully capture.</a:t>
            </a:r>
            <a:endParaRPr lang="en-US" sz="1350" dirty="0"/>
          </a:p>
        </p:txBody>
      </p:sp>
      <p:sp>
        <p:nvSpPr>
          <p:cNvPr id="6" name="Shape 4"/>
          <p:cNvSpPr/>
          <p:nvPr/>
        </p:nvSpPr>
        <p:spPr>
          <a:xfrm>
            <a:off x="6263640" y="1371600"/>
            <a:ext cx="5349240" cy="5029200"/>
          </a:xfrm>
          <a:prstGeom prst="roundRect">
            <a:avLst>
              <a:gd name="adj" fmla="val 3030"/>
            </a:avLst>
          </a:prstGeom>
          <a:solidFill>
            <a:srgbClr val="2F3C7E"/>
          </a:solidFill>
          <a:ln/>
        </p:spPr>
        <p:txBody>
          <a:bodyPr/>
          <a:lstStyle/>
          <a:p>
            <a:endParaRPr lang="en-US"/>
          </a:p>
        </p:txBody>
      </p:sp>
      <p:sp>
        <p:nvSpPr>
          <p:cNvPr id="7" name="Text 5"/>
          <p:cNvSpPr/>
          <p:nvPr/>
        </p:nvSpPr>
        <p:spPr>
          <a:xfrm>
            <a:off x="6537960" y="1554480"/>
            <a:ext cx="4754880" cy="411480"/>
          </a:xfrm>
          <a:prstGeom prst="rect">
            <a:avLst/>
          </a:prstGeom>
          <a:noFill/>
          <a:ln/>
        </p:spPr>
        <p:txBody>
          <a:bodyPr wrap="square" rtlCol="0" anchor="ctr"/>
          <a:lstStyle/>
          <a:p>
            <a:pPr marL="0" indent="0">
              <a:buNone/>
            </a:pPr>
            <a:r>
              <a:rPr lang="en-US" sz="1600" b="1" dirty="0">
                <a:solidFill>
                  <a:srgbClr val="F9E795"/>
                </a:solidFill>
                <a:latin typeface="Calibri" pitchFamily="34" charset="0"/>
                <a:ea typeface="Calibri" pitchFamily="34" charset="-122"/>
                <a:cs typeface="Calibri" pitchFamily="34" charset="-120"/>
              </a:rPr>
              <a:t>Future Directions</a:t>
            </a:r>
            <a:endParaRPr lang="en-US" sz="1600" dirty="0"/>
          </a:p>
        </p:txBody>
      </p:sp>
      <p:sp>
        <p:nvSpPr>
          <p:cNvPr id="8" name="Text 6"/>
          <p:cNvSpPr/>
          <p:nvPr/>
        </p:nvSpPr>
        <p:spPr>
          <a:xfrm>
            <a:off x="6537960" y="1965958"/>
            <a:ext cx="4754880" cy="3998743"/>
          </a:xfrm>
          <a:prstGeom prst="rect">
            <a:avLst/>
          </a:prstGeom>
          <a:noFill/>
          <a:ln/>
        </p:spPr>
        <p:txBody>
          <a:bodyPr wrap="square" rtlCol="0" anchor="t"/>
          <a:lstStyle/>
          <a:p>
            <a:pPr marL="342900" indent="-342900">
              <a:lnSpc>
                <a:spcPct val="115000"/>
              </a:lnSpc>
              <a:spcAft>
                <a:spcPts val="1200"/>
              </a:spcAft>
              <a:buSzPct val="100000"/>
              <a:buChar char="•"/>
            </a:pPr>
            <a:r>
              <a:rPr lang="en-US" sz="1350" b="1" dirty="0">
                <a:solidFill>
                  <a:srgbClr val="FFFFFF"/>
                </a:solidFill>
                <a:latin typeface="Calibri" pitchFamily="34" charset="0"/>
                <a:ea typeface="Calibri" pitchFamily="34" charset="-122"/>
                <a:cs typeface="Calibri" pitchFamily="34" charset="-120"/>
              </a:rPr>
              <a:t>Expand CSA-specific GWAS: </a:t>
            </a:r>
            <a:r>
              <a:rPr lang="en-US" sz="1350" dirty="0">
                <a:solidFill>
                  <a:srgbClr val="FFFFFF"/>
                </a:solidFill>
                <a:latin typeface="Calibri" pitchFamily="34" charset="0"/>
                <a:ea typeface="Calibri" pitchFamily="34" charset="-122"/>
                <a:cs typeface="Calibri" pitchFamily="34" charset="-120"/>
              </a:rPr>
              <a:t>Existing efforts — DIAMANTE, SAT2D, the South Asia Biobank — could substantially increase CSA case numbers well beyond the 1,662 used here.</a:t>
            </a:r>
            <a:r>
              <a:rPr lang="en-US" sz="1100" i="1" dirty="0">
                <a:solidFill>
                  <a:srgbClr val="AEB4DE"/>
                </a:solidFill>
                <a:latin typeface="Calibri" pitchFamily="34" charset="0"/>
              </a:rPr>
              <a:t> (cf. Mahajan et al., 2022)</a:t>
            </a:r>
            <a:br>
              <a:rPr lang="en-US" sz="1350" dirty="0">
                <a:solidFill>
                  <a:srgbClr val="FFFFFF"/>
                </a:solidFill>
                <a:latin typeface="Calibri" pitchFamily="34" charset="0"/>
                <a:ea typeface="Calibri" pitchFamily="34" charset="-122"/>
                <a:cs typeface="Calibri" pitchFamily="34" charset="-120"/>
              </a:rPr>
            </a:br>
            <a:br>
              <a:rPr lang="en-US" sz="1350" dirty="0">
                <a:solidFill>
                  <a:srgbClr val="FFFFFF"/>
                </a:solidFill>
                <a:latin typeface="Calibri" pitchFamily="34" charset="0"/>
                <a:ea typeface="Calibri" pitchFamily="34" charset="-122"/>
                <a:cs typeface="Calibri" pitchFamily="34" charset="-120"/>
              </a:rPr>
            </a:br>
            <a:endParaRPr lang="en-US" sz="1350" dirty="0">
              <a:solidFill>
                <a:srgbClr val="FFFFFF"/>
              </a:solidFill>
              <a:latin typeface="Calibri" pitchFamily="34" charset="0"/>
              <a:ea typeface="Calibri" pitchFamily="34" charset="-122"/>
              <a:cs typeface="Calibri" pitchFamily="34" charset="-120"/>
            </a:endParaRPr>
          </a:p>
          <a:p>
            <a:pPr marL="342900" indent="-342900">
              <a:lnSpc>
                <a:spcPct val="115000"/>
              </a:lnSpc>
              <a:spcAft>
                <a:spcPts val="1200"/>
              </a:spcAft>
              <a:buSzPct val="100000"/>
              <a:buChar char="•"/>
            </a:pPr>
            <a:r>
              <a:rPr lang="en-US" sz="1350" b="1" dirty="0">
                <a:solidFill>
                  <a:srgbClr val="FFFFFF"/>
                </a:solidFill>
                <a:latin typeface="Calibri" pitchFamily="34" charset="0"/>
                <a:ea typeface="Calibri" pitchFamily="34" charset="-122"/>
                <a:cs typeface="Calibri" pitchFamily="34" charset="-120"/>
              </a:rPr>
              <a:t>Pair genetics with larger </a:t>
            </a:r>
            <a:r>
              <a:rPr lang="en-US" sz="1350" b="1" dirty="0" err="1">
                <a:solidFill>
                  <a:srgbClr val="FFFFFF"/>
                </a:solidFill>
                <a:latin typeface="Calibri" pitchFamily="34" charset="0"/>
                <a:ea typeface="Calibri" pitchFamily="34" charset="-122"/>
                <a:cs typeface="Calibri" pitchFamily="34" charset="-120"/>
              </a:rPr>
              <a:t>phenotyped</a:t>
            </a:r>
            <a:r>
              <a:rPr lang="en-US" sz="1350" b="1" dirty="0">
                <a:solidFill>
                  <a:srgbClr val="FFFFFF"/>
                </a:solidFill>
                <a:latin typeface="Calibri" pitchFamily="34" charset="0"/>
                <a:ea typeface="Calibri" pitchFamily="34" charset="-122"/>
                <a:cs typeface="Calibri" pitchFamily="34" charset="-120"/>
              </a:rPr>
              <a:t> cohorts: </a:t>
            </a:r>
            <a:r>
              <a:rPr lang="en-US" sz="1350" dirty="0">
                <a:solidFill>
                  <a:srgbClr val="FFFFFF"/>
                </a:solidFill>
                <a:latin typeface="Calibri" pitchFamily="34" charset="0"/>
                <a:ea typeface="Calibri" pitchFamily="34" charset="-122"/>
                <a:cs typeface="Calibri" pitchFamily="34" charset="-120"/>
              </a:rPr>
              <a:t>This would allow direct testing of clinical predictive accuracy, not just genotype-level transferability.</a:t>
            </a:r>
            <a:br>
              <a:rPr lang="en-US" sz="1350" dirty="0">
                <a:solidFill>
                  <a:srgbClr val="FFFFFF"/>
                </a:solidFill>
                <a:latin typeface="Calibri" pitchFamily="34" charset="0"/>
                <a:ea typeface="Calibri" pitchFamily="34" charset="-122"/>
                <a:cs typeface="Calibri" pitchFamily="34" charset="-120"/>
              </a:rPr>
            </a:br>
            <a:endParaRPr lang="en-US" sz="1350" dirty="0">
              <a:solidFill>
                <a:srgbClr val="FFFFFF"/>
              </a:solidFill>
              <a:latin typeface="Calibri" pitchFamily="34" charset="0"/>
              <a:ea typeface="Calibri" pitchFamily="34" charset="-122"/>
              <a:cs typeface="Calibri" pitchFamily="34" charset="-120"/>
            </a:endParaRPr>
          </a:p>
          <a:p>
            <a:pPr marL="342900" indent="-342900">
              <a:lnSpc>
                <a:spcPct val="115000"/>
              </a:lnSpc>
              <a:spcAft>
                <a:spcPts val="1200"/>
              </a:spcAft>
              <a:buSzPct val="100000"/>
              <a:buChar char="•"/>
            </a:pPr>
            <a:r>
              <a:rPr lang="en-US" sz="1350" b="1" dirty="0">
                <a:solidFill>
                  <a:srgbClr val="FFFFFF"/>
                </a:solidFill>
                <a:latin typeface="Calibri" pitchFamily="34" charset="0"/>
                <a:ea typeface="Calibri" pitchFamily="34" charset="-122"/>
                <a:cs typeface="Calibri" pitchFamily="34" charset="-120"/>
              </a:rPr>
              <a:t>Prioritize representation over new methods: </a:t>
            </a:r>
            <a:r>
              <a:rPr lang="en-US" sz="1350" dirty="0">
                <a:solidFill>
                  <a:srgbClr val="FFFFFF"/>
                </a:solidFill>
                <a:latin typeface="Calibri" pitchFamily="34" charset="0"/>
                <a:ea typeface="Calibri" pitchFamily="34" charset="-122"/>
                <a:cs typeface="Calibri" pitchFamily="34" charset="-120"/>
              </a:rPr>
              <a:t>Because miscalibration reflects limited ancestry representation rather than distinct biology, expanding CSA inclusion in genomic studies is the most effective path to equitable T2D PRS — more so than further algorithmic refinement.</a:t>
            </a:r>
            <a:endParaRPr lang="en-US" sz="1350" dirty="0"/>
          </a:p>
        </p:txBody>
      </p:sp>
      <p:sp>
        <p:nvSpPr>
          <p:cNvPr id="11" name="Text 9"/>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0000" cy="640080"/>
          </a:xfrm>
          <a:prstGeom prst="rect">
            <a:avLst/>
          </a:prstGeom>
          <a:noFill/>
          <a:ln/>
        </p:spPr>
        <p:txBody>
          <a:bodyPr wrap="square" rtlCol="0" anchor="ctr"/>
          <a:lstStyle/>
          <a:p>
            <a:pPr marL="0" indent="0">
              <a:buNone/>
            </a:pPr>
            <a:r>
              <a:rPr lang="en-US" sz="2800" b="1" dirty="0">
                <a:solidFill>
                  <a:srgbClr val="1F2A5C"/>
                </a:solidFill>
                <a:latin typeface="Cambria" pitchFamily="34" charset="0"/>
                <a:ea typeface="Cambria" pitchFamily="34" charset="-122"/>
                <a:cs typeface="Cambria" pitchFamily="34" charset="-120"/>
              </a:rPr>
              <a:t>References</a:t>
            </a:r>
            <a:endParaRPr lang="en-US" sz="2800" dirty="0"/>
          </a:p>
        </p:txBody>
      </p:sp>
      <p:sp>
        <p:nvSpPr>
          <p:cNvPr id="3" name="Shape 1"/>
          <p:cNvSpPr/>
          <p:nvPr/>
        </p:nvSpPr>
        <p:spPr>
          <a:xfrm>
            <a:off x="548640" y="1005840"/>
            <a:ext cx="11094720" cy="5394960"/>
          </a:xfrm>
          <a:prstGeom prst="roundRect">
            <a:avLst>
              <a:gd name="adj" fmla="val 3030"/>
            </a:avLst>
          </a:prstGeom>
          <a:solidFill>
            <a:srgbClr val="F7F7FA"/>
          </a:solidFill>
          <a:ln w="12700">
            <a:solidFill>
              <a:srgbClr val="E1E3EF"/>
            </a:solidFill>
            <a:prstDash val="solid"/>
          </a:ln>
        </p:spPr>
        <p:txBody>
          <a:bodyPr/>
          <a:lstStyle/>
          <a:p>
            <a:endParaRPr lang="en-US"/>
          </a:p>
        </p:txBody>
      </p:sp>
      <p:sp>
        <p:nvSpPr>
          <p:cNvPr id="5" name="Text 3"/>
          <p:cNvSpPr/>
          <p:nvPr/>
        </p:nvSpPr>
        <p:spPr>
          <a:xfrm>
            <a:off x="822959" y="1222587"/>
            <a:ext cx="10656278" cy="4995333"/>
          </a:xfrm>
          <a:prstGeom prst="rect">
            <a:avLst/>
          </a:prstGeom>
          <a:noFill/>
          <a:ln/>
        </p:spPr>
        <p:txBody>
          <a:bodyPr wrap="square" rtlCol="0" anchor="t">
            <a:normAutofit fontScale="92500" lnSpcReduction="20000"/>
          </a:bodyPr>
          <a:lstStyle/>
          <a:p>
            <a:pPr marL="0" indent="0">
              <a:lnSpc>
                <a:spcPct val="105000"/>
              </a:lnSpc>
              <a:spcAft>
                <a:spcPts val="900"/>
              </a:spcAft>
              <a:buNone/>
            </a:pPr>
            <a:r>
              <a:rPr lang="en-US" sz="1600" dirty="0">
                <a:latin typeface="Calibri" pitchFamily="34" charset="0"/>
                <a:ea typeface="Calibri" pitchFamily="34" charset="-122"/>
                <a:cs typeface="Calibri" pitchFamily="34" charset="-120"/>
              </a:rPr>
              <a:t>Bulik-Sullivan, B., Finucane, H. K., Anttila, V., et al. (2015). An atlas of genetic correlations across human diseases and traits. </a:t>
            </a:r>
            <a:r>
              <a:rPr lang="en-US" sz="1600" i="1" dirty="0">
                <a:latin typeface="Calibri" pitchFamily="34" charset="0"/>
                <a:ea typeface="Calibri" pitchFamily="34" charset="-122"/>
                <a:cs typeface="Calibri" pitchFamily="34" charset="-120"/>
              </a:rPr>
              <a:t>Nature Genetics, 47</a:t>
            </a:r>
            <a:r>
              <a:rPr lang="en-US" sz="1600" dirty="0">
                <a:latin typeface="Calibri" pitchFamily="34" charset="0"/>
                <a:ea typeface="Calibri" pitchFamily="34" charset="-122"/>
                <a:cs typeface="Calibri" pitchFamily="34" charset="-120"/>
              </a:rPr>
              <a:t>(11), 1236–1241.</a:t>
            </a:r>
          </a:p>
          <a:p>
            <a:pPr marL="0" indent="0">
              <a:lnSpc>
                <a:spcPct val="105000"/>
              </a:lnSpc>
              <a:spcAft>
                <a:spcPts val="900"/>
              </a:spcAft>
              <a:buNone/>
            </a:pPr>
            <a:r>
              <a:rPr lang="en-US" sz="1600" dirty="0">
                <a:latin typeface="Calibri" pitchFamily="34" charset="0"/>
                <a:ea typeface="Calibri" pitchFamily="34" charset="-122"/>
                <a:cs typeface="Calibri" pitchFamily="34" charset="-120"/>
              </a:rPr>
              <a:t>Choi, S. W., Mak, T. S. H., &amp; O’Reilly, P. F. (2020). A guide to performing Polygenic Risk Score analyses. </a:t>
            </a:r>
            <a:r>
              <a:rPr lang="en-US" sz="1600" i="1" dirty="0">
                <a:latin typeface="Calibri" pitchFamily="34" charset="0"/>
                <a:ea typeface="Calibri" pitchFamily="34" charset="-122"/>
                <a:cs typeface="Calibri" pitchFamily="34" charset="-120"/>
              </a:rPr>
              <a:t>Nature Protocols, 15</a:t>
            </a:r>
            <a:r>
              <a:rPr lang="en-US" sz="1600" dirty="0">
                <a:latin typeface="Calibri" pitchFamily="34" charset="0"/>
                <a:ea typeface="Calibri" pitchFamily="34" charset="-122"/>
                <a:cs typeface="Calibri" pitchFamily="34" charset="-120"/>
              </a:rPr>
              <a:t>(9), 2759–2772.</a:t>
            </a:r>
          </a:p>
          <a:p>
            <a:pPr marL="0" indent="0">
              <a:lnSpc>
                <a:spcPct val="105000"/>
              </a:lnSpc>
              <a:spcAft>
                <a:spcPts val="900"/>
              </a:spcAft>
              <a:buNone/>
            </a:pPr>
            <a:r>
              <a:rPr lang="en-US" sz="1600" dirty="0">
                <a:latin typeface="Calibri" pitchFamily="34" charset="0"/>
                <a:ea typeface="Calibri" pitchFamily="34" charset="-122"/>
                <a:cs typeface="Calibri" pitchFamily="34" charset="-120"/>
              </a:rPr>
              <a:t>Ding, Y., Hou, K., Xu, Z., et al. (2023). Polygenic scoring accuracy varies across the genetic ancestry continuum. </a:t>
            </a:r>
            <a:r>
              <a:rPr lang="en-US" sz="1600" i="1" dirty="0">
                <a:latin typeface="Calibri" pitchFamily="34" charset="0"/>
                <a:ea typeface="Calibri" pitchFamily="34" charset="-122"/>
                <a:cs typeface="Calibri" pitchFamily="34" charset="-120"/>
              </a:rPr>
              <a:t>Nature, 618</a:t>
            </a:r>
            <a:r>
              <a:rPr lang="en-US" sz="1600" dirty="0">
                <a:latin typeface="Calibri" pitchFamily="34" charset="0"/>
                <a:ea typeface="Calibri" pitchFamily="34" charset="-122"/>
                <a:cs typeface="Calibri" pitchFamily="34" charset="-120"/>
              </a:rPr>
              <a:t>(7966), 774–781.</a:t>
            </a:r>
          </a:p>
          <a:p>
            <a:pPr marL="0" indent="0">
              <a:lnSpc>
                <a:spcPct val="105000"/>
              </a:lnSpc>
              <a:spcAft>
                <a:spcPts val="900"/>
              </a:spcAft>
              <a:buNone/>
            </a:pPr>
            <a:r>
              <a:rPr lang="en-US" sz="1600" dirty="0">
                <a:latin typeface="Calibri" pitchFamily="34" charset="0"/>
                <a:ea typeface="Calibri" pitchFamily="34" charset="-122"/>
                <a:cs typeface="Calibri" pitchFamily="34" charset="-120"/>
              </a:rPr>
              <a:t>Fitipaldi, H., &amp; Franks, P. W. (2022). Ethnic, gender and other sociodemographic biases in GWAS for the most burdensome non-communicable diseases: 2005–2022. </a:t>
            </a:r>
            <a:r>
              <a:rPr lang="en-US" sz="1600" i="1" dirty="0">
                <a:latin typeface="Calibri" pitchFamily="34" charset="0"/>
                <a:ea typeface="Calibri" pitchFamily="34" charset="-122"/>
                <a:cs typeface="Calibri" pitchFamily="34" charset="-120"/>
              </a:rPr>
              <a:t>Human Molecular Genetics, 32</a:t>
            </a:r>
            <a:r>
              <a:rPr lang="en-US" sz="1600" dirty="0">
                <a:latin typeface="Calibri" pitchFamily="34" charset="0"/>
                <a:ea typeface="Calibri" pitchFamily="34" charset="-122"/>
                <a:cs typeface="Calibri" pitchFamily="34" charset="-120"/>
              </a:rPr>
              <a:t>(3), 520–532.</a:t>
            </a:r>
          </a:p>
          <a:p>
            <a:pPr marL="0" indent="0">
              <a:lnSpc>
                <a:spcPct val="105000"/>
              </a:lnSpc>
              <a:spcAft>
                <a:spcPts val="900"/>
              </a:spcAft>
              <a:buNone/>
            </a:pPr>
            <a:r>
              <a:rPr lang="en-US" sz="1600" dirty="0">
                <a:latin typeface="Calibri" pitchFamily="34" charset="0"/>
                <a:ea typeface="Calibri" pitchFamily="34" charset="-122"/>
                <a:cs typeface="Calibri" pitchFamily="34" charset="-120"/>
              </a:rPr>
              <a:t>Hossain, M. J., Al-Mamun, M., &amp; Islam, M. R. (2024). Diabetes mellitus, the fastest growing global public health concern. </a:t>
            </a:r>
            <a:r>
              <a:rPr lang="en-US" sz="1600" i="1" dirty="0">
                <a:latin typeface="Calibri" pitchFamily="34" charset="0"/>
                <a:ea typeface="Calibri" pitchFamily="34" charset="-122"/>
                <a:cs typeface="Calibri" pitchFamily="34" charset="-120"/>
              </a:rPr>
              <a:t>Health Science Reports, 7</a:t>
            </a:r>
            <a:r>
              <a:rPr lang="en-US" sz="1600" dirty="0">
                <a:latin typeface="Calibri" pitchFamily="34" charset="0"/>
                <a:ea typeface="Calibri" pitchFamily="34" charset="-122"/>
                <a:cs typeface="Calibri" pitchFamily="34" charset="-120"/>
              </a:rPr>
              <a:t>(3), e2004.</a:t>
            </a:r>
          </a:p>
          <a:p>
            <a:pPr>
              <a:lnSpc>
                <a:spcPct val="105000"/>
              </a:lnSpc>
              <a:spcAft>
                <a:spcPts val="900"/>
              </a:spcAft>
            </a:pPr>
            <a:r>
              <a:rPr lang="en-US" sz="1600" dirty="0" err="1">
                <a:latin typeface="Calibri" pitchFamily="34" charset="0"/>
                <a:ea typeface="Calibri" pitchFamily="34" charset="-122"/>
                <a:cs typeface="Calibri" pitchFamily="34" charset="-120"/>
              </a:rPr>
              <a:t>Kachuri</a:t>
            </a:r>
            <a:r>
              <a:rPr lang="en-US" sz="1600" dirty="0">
                <a:latin typeface="Calibri" pitchFamily="34" charset="0"/>
                <a:ea typeface="Calibri" pitchFamily="34" charset="-122"/>
                <a:cs typeface="Calibri" pitchFamily="34" charset="-120"/>
              </a:rPr>
              <a:t>, L., Chatterjee, N., </a:t>
            </a:r>
            <a:r>
              <a:rPr lang="en-US" sz="1600" dirty="0" err="1">
                <a:latin typeface="Calibri" pitchFamily="34" charset="0"/>
                <a:ea typeface="Calibri" pitchFamily="34" charset="-122"/>
                <a:cs typeface="Calibri" pitchFamily="34" charset="-120"/>
              </a:rPr>
              <a:t>Hirbo</a:t>
            </a:r>
            <a:r>
              <a:rPr lang="en-US" sz="1600" dirty="0">
                <a:latin typeface="Calibri" pitchFamily="34" charset="0"/>
                <a:ea typeface="Calibri" pitchFamily="34" charset="-122"/>
                <a:cs typeface="Calibri" pitchFamily="34" charset="-120"/>
              </a:rPr>
              <a:t>, J., et al. (2024). Principles and methods for transferring polygenic risk scores across global populations. </a:t>
            </a:r>
            <a:r>
              <a:rPr lang="en-US" sz="1600" i="1" dirty="0">
                <a:latin typeface="Calibri" pitchFamily="34" charset="0"/>
                <a:ea typeface="Calibri" pitchFamily="34" charset="-122"/>
                <a:cs typeface="Calibri" pitchFamily="34" charset="-120"/>
              </a:rPr>
              <a:t>Nature Reviews Genetics, 25</a:t>
            </a:r>
            <a:r>
              <a:rPr lang="en-US" sz="1600" dirty="0">
                <a:latin typeface="Calibri" pitchFamily="34" charset="0"/>
                <a:ea typeface="Calibri" pitchFamily="34" charset="-122"/>
                <a:cs typeface="Calibri" pitchFamily="34" charset="-120"/>
              </a:rPr>
              <a:t>(1), 8–25.</a:t>
            </a:r>
          </a:p>
          <a:p>
            <a:pPr>
              <a:lnSpc>
                <a:spcPct val="105000"/>
              </a:lnSpc>
              <a:spcAft>
                <a:spcPts val="900"/>
              </a:spcAft>
            </a:pPr>
            <a:r>
              <a:rPr lang="en-US" sz="1600" dirty="0">
                <a:latin typeface="Calibri" pitchFamily="34" charset="0"/>
                <a:ea typeface="Calibri" pitchFamily="34" charset="-122"/>
                <a:cs typeface="Calibri" pitchFamily="34" charset="-120"/>
              </a:rPr>
              <a:t>Mahajan, A., Spracklen, C. N., Zhang, W., et al. (2022). Multi-ancestry genetic study of type 2 diabetes highlights the power of diverse populations for discovery and translation. </a:t>
            </a:r>
            <a:r>
              <a:rPr lang="en-US" sz="1600" i="1" dirty="0">
                <a:latin typeface="Calibri" pitchFamily="34" charset="0"/>
                <a:ea typeface="Calibri" pitchFamily="34" charset="-122"/>
                <a:cs typeface="Calibri" pitchFamily="34" charset="-120"/>
              </a:rPr>
              <a:t>Nature Genetics, 54</a:t>
            </a:r>
            <a:r>
              <a:rPr lang="en-US" sz="1600" dirty="0">
                <a:latin typeface="Calibri" pitchFamily="34" charset="0"/>
                <a:ea typeface="Calibri" pitchFamily="34" charset="-122"/>
                <a:cs typeface="Calibri" pitchFamily="34" charset="-120"/>
              </a:rPr>
              <a:t>(5), 560–572.</a:t>
            </a:r>
          </a:p>
          <a:p>
            <a:pPr>
              <a:lnSpc>
                <a:spcPct val="105000"/>
              </a:lnSpc>
              <a:spcAft>
                <a:spcPts val="900"/>
              </a:spcAft>
            </a:pPr>
            <a:r>
              <a:rPr lang="en-US" sz="1600" dirty="0">
                <a:latin typeface="Calibri" pitchFamily="34" charset="0"/>
                <a:ea typeface="Calibri" pitchFamily="34" charset="-122"/>
                <a:cs typeface="Calibri" pitchFamily="34" charset="-120"/>
              </a:rPr>
              <a:t>Martin, A. R., Kanai, M., </a:t>
            </a:r>
            <a:r>
              <a:rPr lang="en-US" sz="1600" dirty="0" err="1">
                <a:latin typeface="Calibri" pitchFamily="34" charset="0"/>
                <a:ea typeface="Calibri" pitchFamily="34" charset="-122"/>
                <a:cs typeface="Calibri" pitchFamily="34" charset="-120"/>
              </a:rPr>
              <a:t>Kamatani</a:t>
            </a:r>
            <a:r>
              <a:rPr lang="en-US" sz="1600" dirty="0">
                <a:latin typeface="Calibri" pitchFamily="34" charset="0"/>
                <a:ea typeface="Calibri" pitchFamily="34" charset="-122"/>
                <a:cs typeface="Calibri" pitchFamily="34" charset="-120"/>
              </a:rPr>
              <a:t>, Y., et al. (2019). Current clinical use of polygenic scores will risk exacerbating health disparities. </a:t>
            </a:r>
            <a:r>
              <a:rPr lang="en-US" sz="1600" i="1" dirty="0">
                <a:latin typeface="Calibri" pitchFamily="34" charset="0"/>
                <a:ea typeface="Calibri" pitchFamily="34" charset="-122"/>
                <a:cs typeface="Calibri" pitchFamily="34" charset="-120"/>
              </a:rPr>
              <a:t>Nature Genetics, 51</a:t>
            </a:r>
            <a:r>
              <a:rPr lang="en-US" sz="1600" dirty="0">
                <a:latin typeface="Calibri" pitchFamily="34" charset="0"/>
                <a:ea typeface="Calibri" pitchFamily="34" charset="-122"/>
                <a:cs typeface="Calibri" pitchFamily="34" charset="-120"/>
              </a:rPr>
              <a:t>(4), 584–591.</a:t>
            </a:r>
          </a:p>
          <a:p>
            <a:pPr>
              <a:lnSpc>
                <a:spcPct val="105000"/>
              </a:lnSpc>
              <a:spcAft>
                <a:spcPts val="900"/>
              </a:spcAft>
            </a:pPr>
            <a:r>
              <a:rPr lang="en-US" sz="1600" dirty="0">
                <a:latin typeface="Calibri" pitchFamily="34" charset="0"/>
                <a:ea typeface="Calibri" pitchFamily="34" charset="-122"/>
                <a:cs typeface="Calibri" pitchFamily="34" charset="-120"/>
              </a:rPr>
              <a:t>Privé, F., Arbel, J., &amp; Vilhjálmsson, B. J. (2021). LDpred2: Better, faster, stronger. </a:t>
            </a:r>
            <a:r>
              <a:rPr lang="en-US" sz="1600" i="1" dirty="0">
                <a:latin typeface="Calibri" pitchFamily="34" charset="0"/>
                <a:ea typeface="Calibri" pitchFamily="34" charset="-122"/>
                <a:cs typeface="Calibri" pitchFamily="34" charset="-120"/>
              </a:rPr>
              <a:t>Bioinformatics, 36</a:t>
            </a:r>
            <a:r>
              <a:rPr lang="en-US" sz="1600" dirty="0">
                <a:latin typeface="Calibri" pitchFamily="34" charset="0"/>
                <a:ea typeface="Calibri" pitchFamily="34" charset="-122"/>
                <a:cs typeface="Calibri" pitchFamily="34" charset="-120"/>
              </a:rPr>
              <a:t>(22–23), 5424–5431.</a:t>
            </a:r>
          </a:p>
          <a:p>
            <a:pPr>
              <a:lnSpc>
                <a:spcPct val="105000"/>
              </a:lnSpc>
              <a:spcAft>
                <a:spcPts val="900"/>
              </a:spcAft>
            </a:pPr>
            <a:r>
              <a:rPr lang="en-US" sz="1600" dirty="0">
                <a:latin typeface="Calibri" pitchFamily="34" charset="0"/>
                <a:ea typeface="Calibri" pitchFamily="34" charset="-122"/>
                <a:cs typeface="Calibri" pitchFamily="34" charset="-120"/>
              </a:rPr>
              <a:t>Wang, Y., Guo, J., Ni, G., et al. (2020). Theoretical and empirical quantification of the accuracy of polygenic scores in ancestry divergent populations. </a:t>
            </a:r>
            <a:r>
              <a:rPr lang="en-US" sz="1600" i="1" dirty="0">
                <a:latin typeface="Calibri" pitchFamily="34" charset="0"/>
                <a:ea typeface="Calibri" pitchFamily="34" charset="-122"/>
                <a:cs typeface="Calibri" pitchFamily="34" charset="-120"/>
              </a:rPr>
              <a:t>Nature Communications, 11</a:t>
            </a:r>
            <a:r>
              <a:rPr lang="en-US" sz="1600" dirty="0">
                <a:latin typeface="Calibri" pitchFamily="34" charset="0"/>
                <a:ea typeface="Calibri" pitchFamily="34" charset="-122"/>
                <a:cs typeface="Calibri" pitchFamily="34" charset="-120"/>
              </a:rPr>
              <a:t>, 3865.</a:t>
            </a:r>
            <a:endParaRPr lang="en-US" sz="1600" dirty="0"/>
          </a:p>
        </p:txBody>
      </p:sp>
      <p:sp>
        <p:nvSpPr>
          <p:cNvPr id="8" name="Text 6"/>
          <p:cNvSpPr/>
          <p:nvPr/>
        </p:nvSpPr>
        <p:spPr>
          <a:xfrm>
            <a:off x="6537960" y="1645920"/>
            <a:ext cx="4754880" cy="4572000"/>
          </a:xfrm>
          <a:prstGeom prst="rect">
            <a:avLst/>
          </a:prstGeom>
          <a:noFill/>
          <a:ln/>
        </p:spPr>
        <p:txBody>
          <a:bodyPr wrap="square" rtlCol="0" anchor="t">
            <a:normAutofit/>
          </a:bodyPr>
          <a:lstStyle/>
          <a:p>
            <a:pPr marL="0" indent="0">
              <a:lnSpc>
                <a:spcPct val="105000"/>
              </a:lnSpc>
              <a:spcAft>
                <a:spcPts val="900"/>
              </a:spcAft>
              <a:buNone/>
            </a:pPr>
            <a:endParaRPr lang="en-US" sz="1050" dirty="0"/>
          </a:p>
        </p:txBody>
      </p:sp>
      <p:sp>
        <p:nvSpPr>
          <p:cNvPr id="11" name="Text 9"/>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6B709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583</TotalTime>
  <Words>2869</Words>
  <Application>Microsoft Macintosh PowerPoint</Application>
  <PresentationFormat>Widescreen</PresentationFormat>
  <Paragraphs>184</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Luong, Kim Ngoc</cp:lastModifiedBy>
  <cp:revision>17</cp:revision>
  <dcterms:created xsi:type="dcterms:W3CDTF">2026-07-23T04:31:17Z</dcterms:created>
  <dcterms:modified xsi:type="dcterms:W3CDTF">2026-07-27T21:57:21Z</dcterms:modified>
</cp:coreProperties>
</file>