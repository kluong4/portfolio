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1"/>
  </p:notesMasterIdLst>
  <p:sldIdLst>
    <p:sldId id="256" r:id="rId2"/>
    <p:sldId id="279" r:id="rId3"/>
    <p:sldId id="280" r:id="rId4"/>
    <p:sldId id="281" r:id="rId5"/>
    <p:sldId id="282" r:id="rId6"/>
    <p:sldId id="284" r:id="rId7"/>
    <p:sldId id="285" r:id="rId8"/>
    <p:sldId id="286" r:id="rId9"/>
    <p:sldId id="265" r:id="rId10"/>
    <p:sldId id="266" r:id="rId11"/>
    <p:sldId id="267" r:id="rId12"/>
    <p:sldId id="268" r:id="rId13"/>
    <p:sldId id="287" r:id="rId14"/>
    <p:sldId id="270" r:id="rId15"/>
    <p:sldId id="271" r:id="rId16"/>
    <p:sldId id="273" r:id="rId17"/>
    <p:sldId id="274" r:id="rId18"/>
    <p:sldId id="275" r:id="rId19"/>
    <p:sldId id="277" r:id="rId2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7FF7573-9537-4162-8ACD-E87247B85FDE}">
  <a:tblStyle styleId="{F7FF7573-9537-4162-8ACD-E87247B85FDE}"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793"/>
    <p:restoredTop sz="55878"/>
  </p:normalViewPr>
  <p:slideViewPr>
    <p:cSldViewPr snapToGrid="0">
      <p:cViewPr varScale="1">
        <p:scale>
          <a:sx n="85" d="100"/>
          <a:sy n="85" d="100"/>
        </p:scale>
        <p:origin x="2704" y="16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Hello everyone. My name is Kim Luong, and I’ll be presenting our group’s research project on the foraging behavior of Northern Shovelers observed at Mueller Lake Park here in Austin, Texas. </a:t>
            </a:r>
          </a:p>
          <a:p>
            <a:pPr marL="0" lvl="0" indent="0" algn="l" rtl="0">
              <a:spcBef>
                <a:spcPts val="0"/>
              </a:spcBef>
              <a:spcAft>
                <a:spcPts val="0"/>
              </a:spcAft>
              <a:buNone/>
            </a:pPr>
            <a:r>
              <a:rPr lang="en-US" dirty="0"/>
              <a:t>This project was conducted by Sergio Carranco, Kim Luong, and Peter Zhang.</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So, who exactly is the Northern Shoveler? Scientifically known as Anas </a:t>
            </a:r>
            <a:r>
              <a:rPr lang="en-US" dirty="0" err="1"/>
              <a:t>clypeata</a:t>
            </a:r>
            <a:r>
              <a:rPr lang="en-US" dirty="0"/>
              <a:t>, the Northern Shoveler is a dabbling duck recognizable by its broad, spatula-shaped bill, which it uses to strain water for crustaceans, plankton, and small fish. You might recognize them from Mueller Park right here in Austin, where they're a fairly common sight. </a:t>
            </a:r>
            <a:r>
              <a:rPr lang="en-US" sz="1100" b="0" i="0" u="none" strike="noStrike" cap="none" dirty="0">
                <a:solidFill>
                  <a:srgbClr val="000000"/>
                </a:solidFill>
                <a:effectLst/>
                <a:latin typeface="Arial"/>
                <a:ea typeface="Arial"/>
                <a:cs typeface="Arial"/>
                <a:sym typeface="Arial"/>
              </a:rPr>
              <a:t>Widely distributed across the Northern Hemisphere, Northern Shovelers are highly migratory, with some populations wintering as far south as Australia. The species exhibits strong sexual dimorphism, which is when males and females look noticeably different. Males display a striking iridescent green head, white breast, and chestnut flanks, while females are mottled brown throughout. Their breeding season begins in April, shortly after the window of this study.</a:t>
            </a:r>
          </a:p>
        </p:txBody>
      </p:sp>
    </p:spTree>
    <p:extLst>
      <p:ext uri="{BB962C8B-B14F-4D97-AF65-F5344CB8AC3E}">
        <p14:creationId xmlns:p14="http://schemas.microsoft.com/office/powerpoint/2010/main" val="16132789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12CBA-D7BE-D8C6-2DD5-0E113F4450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2F3E53-B6D9-8DD6-B168-91E0229DCF7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02533B6-2B9E-B40F-A0ED-5A7A37F652D7}"/>
              </a:ext>
            </a:extLst>
          </p:cNvPr>
          <p:cNvSpPr>
            <a:spLocks noGrp="1"/>
          </p:cNvSpPr>
          <p:nvPr>
            <p:ph type="body" idx="1"/>
          </p:nvPr>
        </p:nvSpPr>
        <p:spPr/>
        <p:txBody>
          <a:bodyPr/>
          <a:lstStyle/>
          <a:p>
            <a:pPr marL="158750" indent="0">
              <a:buNone/>
            </a:pPr>
            <a:r>
              <a:rPr lang="en-US" dirty="0"/>
              <a:t>Northern Shovelers are unique feeders. They use their wide, spoon-shaped bills to strain water and capture crustaceans, plankton, and small fish. </a:t>
            </a:r>
          </a:p>
          <a:p>
            <a:pPr marL="158750" indent="0">
              <a:buNone/>
            </a:pPr>
            <a:r>
              <a:rPr lang="en-US" sz="1100" b="0" i="0" u="none" strike="noStrike" cap="none" dirty="0">
                <a:solidFill>
                  <a:srgbClr val="000000"/>
                </a:solidFill>
                <a:effectLst/>
                <a:latin typeface="Arial"/>
                <a:ea typeface="Arial"/>
                <a:cs typeface="Arial"/>
                <a:sym typeface="Arial"/>
              </a:rPr>
              <a:t>Northern Shovelers employ four primary foraging behaviors that were the focus of this study: </a:t>
            </a:r>
          </a:p>
          <a:p>
            <a:pPr marL="457200" indent="-298450"/>
            <a:r>
              <a:rPr lang="en-US" sz="1100" b="0" i="0" u="none" strike="noStrike" cap="none" dirty="0">
                <a:solidFill>
                  <a:srgbClr val="000000"/>
                </a:solidFill>
                <a:effectLst/>
                <a:latin typeface="Arial"/>
                <a:ea typeface="Arial"/>
                <a:cs typeface="Arial"/>
                <a:sym typeface="Arial"/>
              </a:rPr>
              <a:t>Pecking — a sharp forward head movement toward small particles on the ground or water surface, sustained for at least 5 seconds.</a:t>
            </a:r>
          </a:p>
          <a:p>
            <a:pPr marL="457200" indent="-298450"/>
            <a:r>
              <a:rPr lang="en-US" sz="1100" b="0" i="0" u="none" strike="noStrike" cap="none" dirty="0">
                <a:solidFill>
                  <a:srgbClr val="000000"/>
                </a:solidFill>
                <a:effectLst/>
                <a:latin typeface="Arial"/>
                <a:ea typeface="Arial"/>
                <a:cs typeface="Arial"/>
                <a:sym typeface="Arial"/>
              </a:rPr>
              <a:t>Dabbling — forward swimming with the bill skimming the water surface to filter food particles.</a:t>
            </a:r>
          </a:p>
          <a:p>
            <a:pPr marL="457200" indent="-298450"/>
            <a:r>
              <a:rPr lang="en-US" sz="1100" b="0" i="0" u="none" strike="noStrike" cap="none" dirty="0">
                <a:solidFill>
                  <a:srgbClr val="000000"/>
                </a:solidFill>
                <a:effectLst/>
                <a:latin typeface="Arial"/>
                <a:ea typeface="Arial"/>
                <a:cs typeface="Arial"/>
                <a:sym typeface="Arial"/>
              </a:rPr>
              <a:t>Dipping — rapid submersion of the head into the water.</a:t>
            </a:r>
          </a:p>
          <a:p>
            <a:pPr marL="457200" indent="-298450"/>
            <a:r>
              <a:rPr lang="en-US" sz="1100" b="0" i="0" u="none" strike="noStrike" cap="none" dirty="0">
                <a:solidFill>
                  <a:srgbClr val="000000"/>
                </a:solidFill>
                <a:effectLst/>
                <a:latin typeface="Arial"/>
                <a:ea typeface="Arial"/>
                <a:cs typeface="Arial"/>
                <a:sym typeface="Arial"/>
              </a:rPr>
              <a:t>Upending — full submersion of the head and foreparts with the tail raised vertically in the air.</a:t>
            </a:r>
          </a:p>
          <a:p>
            <a:pPr marL="158750" indent="0">
              <a:buNone/>
            </a:pPr>
            <a:r>
              <a:rPr lang="en-US" sz="1100" b="0" i="0" u="none" strike="noStrike" cap="none" dirty="0">
                <a:solidFill>
                  <a:srgbClr val="000000"/>
                </a:solidFill>
                <a:effectLst/>
                <a:latin typeface="Arial"/>
                <a:ea typeface="Arial"/>
                <a:cs typeface="Arial"/>
                <a:sym typeface="Arial"/>
              </a:rPr>
              <a:t>Prior literature has established that the relative frequency of these behaviors varies between sexes and seasons. Afton (1979) found that females spent significantly more time foraging than males during the early breeding season, while Guillemain et al. (2000) documented that straining (analogous to dabbling in this study) represented the dominant foraging mode in wintering shovelers in France, accounting for over 60% of all foraging time.</a:t>
            </a:r>
          </a:p>
        </p:txBody>
      </p:sp>
    </p:spTree>
    <p:extLst>
      <p:ext uri="{BB962C8B-B14F-4D97-AF65-F5344CB8AC3E}">
        <p14:creationId xmlns:p14="http://schemas.microsoft.com/office/powerpoint/2010/main" val="5192092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10211-723E-8044-C9D8-D400F486FF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AAF7F6-90F9-D058-214E-AAB7D24AB8A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273A526-53B8-C3E2-AA3E-78FE0537AD8F}"/>
              </a:ext>
            </a:extLst>
          </p:cNvPr>
          <p:cNvSpPr>
            <a:spLocks noGrp="1"/>
          </p:cNvSpPr>
          <p:nvPr>
            <p:ph type="body" idx="1"/>
          </p:nvPr>
        </p:nvSpPr>
        <p:spPr/>
        <p:txBody>
          <a:bodyPr/>
          <a:lstStyle/>
          <a:p>
            <a:r>
              <a:rPr lang="en-US" dirty="0"/>
              <a:t>Now, why is studying foraging behavior important? Northern Shovelers are not currently threatened, but their population is declining, largely due to habitat loss. As natural habitats shrink, parks like Mueller become increasingly critical refuges. But parks come with something natural habitats don't — a constant human presence. And that raises an important question: does human activity affect how shovelers feed?</a:t>
            </a:r>
          </a:p>
          <a:p>
            <a:r>
              <a:rPr lang="en-US" dirty="0"/>
              <a:t>Feeding is fundamental to their survival and reproduction, so anything that disrupts their foraging efficiency has real biological consequences. Our study aimed to understand what's driving changes in foraging patterns — is it the time of day, the sex of the bird, or the human activity around them?</a:t>
            </a:r>
          </a:p>
        </p:txBody>
      </p:sp>
    </p:spTree>
    <p:extLst>
      <p:ext uri="{BB962C8B-B14F-4D97-AF65-F5344CB8AC3E}">
        <p14:creationId xmlns:p14="http://schemas.microsoft.com/office/powerpoint/2010/main" val="14407998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02806-6542-83CA-FA23-1C65B38E37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CB1E13-2149-BBCD-B6F9-7228B0D5D7B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AE68E1B-72A2-5BA0-275B-609D0AFB3B2F}"/>
              </a:ext>
            </a:extLst>
          </p:cNvPr>
          <p:cNvSpPr>
            <a:spLocks noGrp="1"/>
          </p:cNvSpPr>
          <p:nvPr>
            <p:ph type="body" idx="1"/>
          </p:nvPr>
        </p:nvSpPr>
        <p:spPr/>
        <p:txBody>
          <a:bodyPr/>
          <a:lstStyle/>
          <a:p>
            <a:pPr marL="158750" indent="0">
              <a:buNone/>
            </a:pPr>
            <a:r>
              <a:rPr lang="en-US" dirty="0"/>
              <a:t>That brings us to our research question: How does foraging behavior differ throughout different times of the day? Is this due to the time of day, the sex of the bird, or other factors?</a:t>
            </a:r>
          </a:p>
          <a:p>
            <a:pPr marL="158750" indent="0">
              <a:buNone/>
            </a:pPr>
            <a:endParaRPr lang="en-US" dirty="0"/>
          </a:p>
          <a:p>
            <a:pPr marL="158750" indent="0">
              <a:buNone/>
            </a:pPr>
            <a:r>
              <a:rPr lang="en-US" dirty="0"/>
              <a:t>We identified our key variables as follows:</a:t>
            </a:r>
          </a:p>
          <a:p>
            <a:r>
              <a:rPr lang="en-US" dirty="0"/>
              <a:t>Independent variables: Time of day (morning, afternoon, evening) and sex (male or female)</a:t>
            </a:r>
          </a:p>
          <a:p>
            <a:r>
              <a:rPr lang="en-US" dirty="0"/>
              <a:t>Dependent variable: The frequency of each of the four foraging behaviors per 10-minute observation interval</a:t>
            </a:r>
          </a:p>
          <a:p>
            <a:r>
              <a:rPr lang="en-US" dirty="0"/>
              <a:t>Environmental variables we tracked: Temperature, human presence, human feeding of the ducks, time of year, weather, and noise</a:t>
            </a:r>
          </a:p>
        </p:txBody>
      </p:sp>
    </p:spTree>
    <p:extLst>
      <p:ext uri="{BB962C8B-B14F-4D97-AF65-F5344CB8AC3E}">
        <p14:creationId xmlns:p14="http://schemas.microsoft.com/office/powerpoint/2010/main" val="39097830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249D1-8113-3F9B-A07B-F218E093CC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32D79B-2F0F-1DF2-2D58-A9D4CF500D5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D6ED9A2-A6C5-FAB8-FDB6-AAC837D66705}"/>
              </a:ext>
            </a:extLst>
          </p:cNvPr>
          <p:cNvSpPr>
            <a:spLocks noGrp="1"/>
          </p:cNvSpPr>
          <p:nvPr>
            <p:ph type="body" idx="1"/>
          </p:nvPr>
        </p:nvSpPr>
        <p:spPr/>
        <p:txBody>
          <a:bodyPr/>
          <a:lstStyle/>
          <a:p>
            <a:pPr marL="457200" indent="-298450"/>
            <a:r>
              <a:rPr lang="en-US" dirty="0"/>
              <a:t>Our biological hypothesis was: </a:t>
            </a:r>
            <a:r>
              <a:rPr lang="en-US" b="1" dirty="0"/>
              <a:t>Due to human interference throughout the day, foraging frequencies of Northern Shovelers will be affected regardless of sex.</a:t>
            </a:r>
          </a:p>
          <a:p>
            <a:pPr marL="457200" indent="-298450"/>
            <a:r>
              <a:rPr lang="en-US" sz="1100" b="0" i="0" u="none" strike="noStrike" cap="none" dirty="0">
                <a:solidFill>
                  <a:srgbClr val="000000"/>
                </a:solidFill>
                <a:effectLst/>
                <a:latin typeface="Arial"/>
                <a:ea typeface="Arial"/>
                <a:cs typeface="Arial"/>
                <a:sym typeface="Arial"/>
              </a:rPr>
              <a:t>This hypothesis was motivated by two lines of evidence. First, Afton (1979) established that females naturally forage more than males, while males spend more time in alert postures. Second, Rose et al. (2022) demonstrated that human visitors reduce duck alertness in captive and semi-captive settings, such as a public park with frequent visitors. </a:t>
            </a:r>
            <a:r>
              <a:rPr lang="en-US" dirty="0"/>
              <a:t>We reasoned this effect would offset the natural sex difference in foraging time.</a:t>
            </a:r>
          </a:p>
          <a:p>
            <a:r>
              <a:rPr lang="en-US" dirty="0"/>
              <a:t>We also drew on documented foraging behavior of wintering Northern Shovelers in France, and Webb and Brotherson (1988), who reported that shovelers spent about 25% of their time feeding during pre-breeding months — a window that closely matches our February–March study period.</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0" i="0" u="none" strike="noStrike" cap="none" dirty="0">
                <a:solidFill>
                  <a:srgbClr val="000000"/>
                </a:solidFill>
                <a:effectLst/>
                <a:latin typeface="Arial"/>
                <a:ea typeface="Arial"/>
                <a:cs typeface="Arial"/>
                <a:sym typeface="Arial"/>
              </a:rPr>
              <a:t>Additionally, Guillemain et al. (2000) described daily variation in foraging location and behavior in wild shovelers, and we hypothesized that human activity throughout the day would modulate this variation in ways not observed in undisturbed populations.</a:t>
            </a:r>
            <a:endParaRPr lang="en-US" b="0" dirty="0">
              <a:effectLst/>
            </a:endParaRPr>
          </a:p>
          <a:p>
            <a:endParaRPr lang="en-US" dirty="0"/>
          </a:p>
          <a:p>
            <a:pPr marL="158750" indent="0">
              <a:buNone/>
            </a:pPr>
            <a:endParaRPr lang="en-US" dirty="0"/>
          </a:p>
        </p:txBody>
      </p:sp>
    </p:spTree>
    <p:extLst>
      <p:ext uri="{BB962C8B-B14F-4D97-AF65-F5344CB8AC3E}">
        <p14:creationId xmlns:p14="http://schemas.microsoft.com/office/powerpoint/2010/main" val="30757104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81383-49C0-48A2-71E7-73E39F43A7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301D0E-9472-3EA5-FDE0-9443148E107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BEC632E-2AED-5853-062F-34A0B170C78E}"/>
              </a:ext>
            </a:extLst>
          </p:cNvPr>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0" i="0" u="none" strike="noStrike" cap="none" dirty="0">
                <a:solidFill>
                  <a:srgbClr val="000000"/>
                </a:solidFill>
                <a:effectLst/>
                <a:latin typeface="Arial"/>
                <a:ea typeface="Arial"/>
                <a:cs typeface="Arial"/>
                <a:sym typeface="Arial"/>
              </a:rPr>
              <a:t>Observations were conducted at Mueller Lake Park (Austin, Texas) from February 23 to March 6. This site was selected because it supports a reliably visible Northern Shoveler population during the late winter period and provides open sightlines for scan sampling. Observations took place daily from 9:00 AM to 6:00 PM, with data collected across three time blocks: morning (9 AM–12 PM), afternoon (12–3 PM), and evening (3–7 PM). </a:t>
            </a:r>
          </a:p>
          <a:p>
            <a:pPr marL="457200" indent="-298450"/>
            <a:r>
              <a:rPr lang="en-US" sz="1100" b="0" i="0" u="none" strike="noStrike" cap="none" dirty="0">
                <a:solidFill>
                  <a:srgbClr val="000000"/>
                </a:solidFill>
                <a:effectLst/>
                <a:latin typeface="Arial"/>
                <a:ea typeface="Arial"/>
                <a:cs typeface="Arial"/>
                <a:sym typeface="Arial"/>
              </a:rPr>
              <a:t>Scan sampling (Lehner, 1998) was used because all four target behaviors are state behaviors with clear, observable onset and offset points. This method enabled simultaneous recording of behavior across all visible individuals at a given moment, making it efficient for tracking population-level time budgets across large, variable group sizes. At 10-minute intervals, observers scanned all visible Northern Shovelers and recorded the count of individuals of each sex performing each of the four foraging behaviors. Six scan samples were collected per observation hour, and observers documented their presence via timestamped photographs at each site visit.</a:t>
            </a:r>
          </a:p>
          <a:p>
            <a:pPr marL="457200" indent="-298450"/>
            <a:r>
              <a:rPr lang="en-US" sz="1100" b="0" i="0" u="none" strike="noStrike" cap="none" dirty="0">
                <a:solidFill>
                  <a:srgbClr val="000000"/>
                </a:solidFill>
                <a:effectLst/>
                <a:latin typeface="Arial"/>
                <a:ea typeface="Arial"/>
                <a:cs typeface="Arial"/>
                <a:sym typeface="Arial"/>
              </a:rPr>
              <a:t>Morning sessions were characterized by cooler temperatures (64–68°F) and lower numbers of park visitors. Afternoon and evening sessions were warmer (73–78°F) and coincided with higher human foot traffic. </a:t>
            </a:r>
          </a:p>
          <a:p>
            <a:pPr marL="457200" indent="-298450"/>
            <a:r>
              <a:rPr lang="en-US" dirty="0"/>
              <a:t>Shoveler sample sizes ranged dramatically, from zero to as many as 50 birds on a given day. </a:t>
            </a:r>
            <a:r>
              <a:rPr lang="en-US" sz="1100" b="0" i="0" u="none" strike="noStrike" cap="none" dirty="0">
                <a:solidFill>
                  <a:srgbClr val="000000"/>
                </a:solidFill>
                <a:effectLst/>
                <a:latin typeface="Arial"/>
                <a:ea typeface="Arial"/>
                <a:cs typeface="Arial"/>
                <a:sym typeface="Arial"/>
              </a:rPr>
              <a:t>While other waterfowl species — including mallards, American coots, and pigeons — were present at the site, no systematic effects of these species on shoveler behavior were observed.</a:t>
            </a:r>
            <a:endParaRPr lang="en-US" dirty="0"/>
          </a:p>
        </p:txBody>
      </p:sp>
    </p:spTree>
    <p:extLst>
      <p:ext uri="{BB962C8B-B14F-4D97-AF65-F5344CB8AC3E}">
        <p14:creationId xmlns:p14="http://schemas.microsoft.com/office/powerpoint/2010/main" val="13421958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A3BB4-2EE9-6AFD-6497-1BB2471490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27598C-2B46-DBE5-2E44-922E2960F10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3F380A1-B205-E5C9-F331-72644BF91FB6}"/>
              </a:ext>
            </a:extLst>
          </p:cNvPr>
          <p:cNvSpPr>
            <a:spLocks noGrp="1"/>
          </p:cNvSpPr>
          <p:nvPr>
            <p:ph type="body" idx="1"/>
          </p:nvPr>
        </p:nvSpPr>
        <p:spPr/>
        <p:txBody>
          <a:bodyPr/>
          <a:lstStyle/>
          <a:p>
            <a:pPr marL="158750" indent="0">
              <a:buNone/>
            </a:pPr>
            <a:r>
              <a:rPr lang="en-US" dirty="0"/>
              <a:t>Before analyzing our data, we made three key predictions:</a:t>
            </a:r>
          </a:p>
          <a:p>
            <a:r>
              <a:rPr lang="en-US" sz="1100" b="0" i="0" u="none" strike="noStrike" cap="none" dirty="0">
                <a:solidFill>
                  <a:srgbClr val="000000"/>
                </a:solidFill>
                <a:effectLst/>
                <a:latin typeface="Arial"/>
                <a:ea typeface="Arial"/>
                <a:cs typeface="Arial"/>
                <a:sym typeface="Arial"/>
              </a:rPr>
              <a:t>The time budgets of foraging behaviors would not differ significantly between male and female shovelers, as human presence in the park was expected to neutralize the naturally higher female foraging rate documented by Afton (1979)</a:t>
            </a:r>
          </a:p>
          <a:p>
            <a:r>
              <a:rPr lang="en-US" sz="1100" b="0" i="0" u="none" strike="noStrike" cap="none" dirty="0">
                <a:solidFill>
                  <a:srgbClr val="000000"/>
                </a:solidFill>
                <a:effectLst/>
                <a:latin typeface="Arial"/>
                <a:ea typeface="Arial"/>
                <a:cs typeface="Arial"/>
                <a:sym typeface="Arial"/>
              </a:rPr>
              <a:t>The time budgets of foraging behaviors would differ significantly across the three time periods </a:t>
            </a:r>
            <a:r>
              <a:rPr lang="en-US" dirty="0"/>
              <a:t>— driven by human activity and the shovelers' own daily rhythms.</a:t>
            </a:r>
          </a:p>
          <a:p>
            <a:r>
              <a:rPr lang="en-US" b="1" dirty="0"/>
              <a:t>Dabbling would be the most frequent foraging behavior</a:t>
            </a:r>
            <a:r>
              <a:rPr lang="en-US" dirty="0"/>
              <a:t> — consistent with Guillemain et al. (2000), who found straining (what we call dabbling) represented over 60% of feeding behavior in wild shovelers.</a:t>
            </a:r>
          </a:p>
        </p:txBody>
      </p:sp>
    </p:spTree>
    <p:extLst>
      <p:ext uri="{BB962C8B-B14F-4D97-AF65-F5344CB8AC3E}">
        <p14:creationId xmlns:p14="http://schemas.microsoft.com/office/powerpoint/2010/main" val="2543731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22bd4cd2941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22bd4cd2941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Before running our main statistical tests, we first checked whether our data followed a normal distribution using the Shapiro-Wilk test. The results are shown here in Table 1.</a:t>
            </a:r>
          </a:p>
          <a:p>
            <a:r>
              <a:rPr lang="en-US" dirty="0"/>
              <a:t>All four behaviors — pecking, dabbling, dipping, and upending — had p-values far below 0.05, and the corresponding histograms in Figure 1 all show a strong right skew. This means the normality assumption was violated, which directed us toward non-parametric statistical tests for our main analyses.</a:t>
            </a:r>
          </a:p>
          <a:p>
            <a:pPr marL="0" lvl="0" indent="0" algn="l" rtl="0">
              <a:spcBef>
                <a:spcPts val="0"/>
              </a:spcBef>
              <a:spcAft>
                <a:spcPts val="0"/>
              </a:spcAft>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22bd4cd2941_2_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22bd4cd2941_2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Now for the main results. First, we looked at whether foraging behavior differed between males and females.</a:t>
            </a:r>
          </a:p>
          <a:p>
            <a:r>
              <a:rPr lang="en-US" dirty="0"/>
              <a:t>Table 2 summarizes the mean and standard deviation of each foraging behavior broken down by sex. You can see that the values are quite close between males and females across all four behaviors. The means for dabbling and dipping were higher than pecking and upending in both sexes.</a:t>
            </a:r>
          </a:p>
          <a:p>
            <a:r>
              <a:rPr lang="en-US" dirty="0"/>
              <a:t>To test this statistically, we used the </a:t>
            </a:r>
            <a:r>
              <a:rPr lang="en-US" b="1" dirty="0"/>
              <a:t>Wilcoxon-Mann Whitney test</a:t>
            </a:r>
            <a:r>
              <a:rPr lang="en-US" dirty="0"/>
              <a:t>, which is appropriate for two independent non-normal groups. The result: </a:t>
            </a:r>
            <a:r>
              <a:rPr lang="en-US" b="1" dirty="0"/>
              <a:t>W = 134,036, p-value = 0.1</a:t>
            </a:r>
            <a:r>
              <a:rPr lang="en-US" dirty="0"/>
              <a:t>. Since p &gt; 0.05, we fail to reject the null hypothesis — there is </a:t>
            </a:r>
            <a:r>
              <a:rPr lang="en-US" b="1" dirty="0"/>
              <a:t>no significant difference</a:t>
            </a:r>
            <a:r>
              <a:rPr lang="en-US" dirty="0"/>
              <a:t> in foraging frequency between males and females.</a:t>
            </a:r>
          </a:p>
          <a:p>
            <a:pPr marL="0" lvl="0" indent="0" algn="l" rtl="0">
              <a:spcBef>
                <a:spcPts val="0"/>
              </a:spcBef>
              <a:spcAft>
                <a:spcPts val="0"/>
              </a:spcAft>
              <a:buNone/>
            </a:pP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22bd4cd2941_2_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22bd4cd2941_2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dirty="0"/>
              <a:t>Figure 2 shows the box-and-whisker plots for foraging behavior frequency broken down by sex. As you can see visually, the distributions overlap considerably, and the medians are similar across all four behaviors for males and females. This is consistent with our statistical result — sex did not significantly predict foraging frequency.</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22bd4cd2941_2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22bd4cd2941_2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Next, we looked at how foraging behavior changed throughout the day.</a:t>
            </a:r>
          </a:p>
          <a:p>
            <a:r>
              <a:rPr lang="en-US" dirty="0"/>
              <a:t>Table 3 shows a clear trend: the frequency of </a:t>
            </a:r>
            <a:r>
              <a:rPr lang="en-US" b="1" dirty="0"/>
              <a:t>all four foraging behaviors increased steadily from morning to evening</a:t>
            </a:r>
            <a:r>
              <a:rPr lang="en-US" dirty="0"/>
              <a:t>. For example, dabbling had a mean of about 2.4 in the morning, 2.8 in the afternoon, and 7.9 in the evening. The same pattern holds for dipping, pecking, and upending.</a:t>
            </a:r>
          </a:p>
          <a:p>
            <a:r>
              <a:rPr lang="en-US" dirty="0"/>
              <a:t>To test this, we used the </a:t>
            </a:r>
            <a:r>
              <a:rPr lang="en-US" b="1" dirty="0"/>
              <a:t>Kruskal-Wallis test</a:t>
            </a:r>
            <a:r>
              <a:rPr lang="en-US" dirty="0"/>
              <a:t>, appropriate for three or more independent non-normal groups. The result: </a:t>
            </a:r>
            <a:r>
              <a:rPr lang="en-US" b="1" dirty="0"/>
              <a:t>chi-squared = 150.26, </a:t>
            </a:r>
            <a:r>
              <a:rPr lang="en-US" b="1" dirty="0" err="1"/>
              <a:t>df</a:t>
            </a:r>
            <a:r>
              <a:rPr lang="en-US" b="1" dirty="0"/>
              <a:t> = 2, p-value &lt; 2.2e-16</a:t>
            </a:r>
            <a:r>
              <a:rPr lang="en-US" dirty="0"/>
              <a:t> — a highly significant result. The null hypothesis is rejected: foraging frequency </a:t>
            </a:r>
            <a:r>
              <a:rPr lang="en-US" b="1" dirty="0"/>
              <a:t>does differ significantly</a:t>
            </a:r>
            <a:r>
              <a:rPr lang="en-US" dirty="0"/>
              <a:t> by time of day.</a:t>
            </a:r>
          </a:p>
          <a:p>
            <a:pPr marL="0" lvl="0" indent="0" algn="l" rtl="0">
              <a:spcBef>
                <a:spcPts val="0"/>
              </a:spcBef>
              <a:spcAft>
                <a:spcPts val="0"/>
              </a:spcAft>
              <a:buNone/>
            </a:pP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a:extLst>
            <a:ext uri="{FF2B5EF4-FFF2-40B4-BE49-F238E27FC236}">
              <a16:creationId xmlns:a16="http://schemas.microsoft.com/office/drawing/2014/main" id="{8D05F0E1-3DE7-B9DB-B502-C39A373D5852}"/>
            </a:ext>
          </a:extLst>
        </p:cNvPr>
        <p:cNvGrpSpPr/>
        <p:nvPr/>
      </p:nvGrpSpPr>
      <p:grpSpPr>
        <a:xfrm>
          <a:off x="0" y="0"/>
          <a:ext cx="0" cy="0"/>
          <a:chOff x="0" y="0"/>
          <a:chExt cx="0" cy="0"/>
        </a:xfrm>
      </p:grpSpPr>
      <p:sp>
        <p:nvSpPr>
          <p:cNvPr id="168" name="Google Shape;168;g22bd4cd2941_2_116:notes">
            <a:extLst>
              <a:ext uri="{FF2B5EF4-FFF2-40B4-BE49-F238E27FC236}">
                <a16:creationId xmlns:a16="http://schemas.microsoft.com/office/drawing/2014/main" id="{45E8C826-5398-9EDC-2710-3AE26D56C1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22bd4cd2941_2_116:notes">
            <a:extLst>
              <a:ext uri="{FF2B5EF4-FFF2-40B4-BE49-F238E27FC236}">
                <a16:creationId xmlns:a16="http://schemas.microsoft.com/office/drawing/2014/main" id="{8BA51CAB-BE85-9A9A-DA5A-887E3D560FB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dirty="0"/>
              <a:t>Figure 3 visualizes this clearly with box-and-whisker plots by time of day. Each of the four foraging behaviors shows a gradual increase from morning to afternoon to evening, with the evening showing notably higher medians and wider spreads. The statistical significance we found is plainly visible in these distributions.</a:t>
            </a:r>
          </a:p>
        </p:txBody>
      </p:sp>
    </p:spTree>
    <p:extLst>
      <p:ext uri="{BB962C8B-B14F-4D97-AF65-F5344CB8AC3E}">
        <p14:creationId xmlns:p14="http://schemas.microsoft.com/office/powerpoint/2010/main" val="23991449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2bd4cd2941_2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22bd4cd2941_2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marR="0" lvl="0" indent="-171450" algn="l" defTabSz="914400" rtl="0" eaLnBrk="1" fontAlgn="auto" latinLnBrk="0" hangingPunct="1">
              <a:lnSpc>
                <a:spcPct val="100000"/>
              </a:lnSpc>
              <a:spcBef>
                <a:spcPts val="0"/>
              </a:spcBef>
              <a:spcAft>
                <a:spcPts val="0"/>
              </a:spcAft>
              <a:buClr>
                <a:srgbClr val="000000"/>
              </a:buClr>
              <a:buSzPts val="1100"/>
              <a:tabLst/>
              <a:defRPr/>
            </a:pPr>
            <a:r>
              <a:rPr lang="en-US" dirty="0"/>
              <a:t>Finally, we compared the frequencies of the four foraging behaviors against each other using </a:t>
            </a:r>
            <a:r>
              <a:rPr lang="en-US" b="1" dirty="0"/>
              <a:t>paired t-tests</a:t>
            </a:r>
            <a:r>
              <a:rPr lang="en-US" dirty="0"/>
              <a:t>. The results are summarized in Table 4.</a:t>
            </a:r>
          </a:p>
          <a:p>
            <a:pPr marL="171450" marR="0" lvl="0" indent="-171450" algn="l" defTabSz="914400" rtl="0" eaLnBrk="1" fontAlgn="auto" latinLnBrk="0" hangingPunct="1">
              <a:lnSpc>
                <a:spcPct val="100000"/>
              </a:lnSpc>
              <a:spcBef>
                <a:spcPts val="0"/>
              </a:spcBef>
              <a:spcAft>
                <a:spcPts val="0"/>
              </a:spcAft>
              <a:buClr>
                <a:srgbClr val="000000"/>
              </a:buClr>
              <a:buSzPts val="1100"/>
              <a:tabLst/>
              <a:defRPr/>
            </a:pPr>
            <a:r>
              <a:rPr lang="en-US" sz="1100" dirty="0"/>
              <a:t>There is a significant difference between the frequency of pecking and dabbling, the frequency of pecking and dipping, the frequency of dabbling and dipping, the frequency of dabbling and upending, and the frequency of dipping and upending. There is no significant difference between the frequency of pecking and upending as well as between the frequency of dabbling and dipping. </a:t>
            </a:r>
          </a:p>
          <a:p>
            <a:pPr marL="171450" marR="0" lvl="0" indent="-171450" algn="l" defTabSz="914400" rtl="0" eaLnBrk="1" fontAlgn="auto" latinLnBrk="0" hangingPunct="1">
              <a:lnSpc>
                <a:spcPct val="100000"/>
              </a:lnSpc>
              <a:spcBef>
                <a:spcPts val="0"/>
              </a:spcBef>
              <a:spcAft>
                <a:spcPts val="0"/>
              </a:spcAft>
              <a:buClr>
                <a:srgbClr val="000000"/>
              </a:buClr>
              <a:buSzPts val="1100"/>
              <a:tabLst/>
              <a:defRPr/>
            </a:pPr>
            <a:r>
              <a:rPr lang="en-US" dirty="0"/>
              <a:t>The negative confidence intervals for pecking-vs-dabbling and pecking-vs-dipping show pecking was less frequent. The positive CIs for dabbling-vs-upending confirm dabbling was more frequent than upending.</a:t>
            </a:r>
          </a:p>
          <a:p>
            <a:pPr marL="171450" marR="0" lvl="0" indent="-171450" algn="l" defTabSz="914400" rtl="0" eaLnBrk="1" fontAlgn="auto" latinLnBrk="0" hangingPunct="1">
              <a:lnSpc>
                <a:spcPct val="100000"/>
              </a:lnSpc>
              <a:spcBef>
                <a:spcPts val="0"/>
              </a:spcBef>
              <a:spcAft>
                <a:spcPts val="0"/>
              </a:spcAft>
              <a:buClr>
                <a:srgbClr val="000000"/>
              </a:buClr>
              <a:buSzPts val="1100"/>
              <a:tabLst/>
              <a:defRPr/>
            </a:pPr>
            <a:r>
              <a:rPr lang="en-US" dirty="0"/>
              <a:t>Also, </a:t>
            </a:r>
            <a:r>
              <a:rPr lang="en-US" b="1" dirty="0"/>
              <a:t>dabbling and dipping were the most frequent behaviors; pecking and upending were the least frequent</a:t>
            </a:r>
            <a:r>
              <a:rPr lang="en-US" dirty="0"/>
              <a:t>.</a:t>
            </a:r>
            <a:endParaRPr lang="en-US" sz="1100"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dirty="0"/>
          </a:p>
          <a:p>
            <a:pPr marL="0" lvl="0" indent="0" algn="l" rtl="0">
              <a:spcBef>
                <a:spcPts val="0"/>
              </a:spcBef>
              <a:spcAft>
                <a:spcPts val="0"/>
              </a:spcAft>
              <a:buNone/>
            </a:pP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22bd4cd2941_2_1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22bd4cd2941_2_1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Three predictions were made prior to data collection. Two were confirmed and one was partially disproved.</a:t>
            </a:r>
          </a:p>
          <a:p>
            <a:pPr rtl="0"/>
            <a:r>
              <a:rPr lang="en-US" sz="1100" b="0" i="0" u="none" strike="noStrike" cap="none" dirty="0">
                <a:solidFill>
                  <a:srgbClr val="000000"/>
                </a:solidFill>
                <a:effectLst/>
                <a:latin typeface="Arial"/>
                <a:ea typeface="Arial"/>
                <a:cs typeface="Arial"/>
                <a:sym typeface="Arial"/>
              </a:rPr>
              <a:t>The Wilcoxon-Mann Whitney test supported the prediction that foraging frequency would not differ significantly between males and females. E</a:t>
            </a:r>
            <a:r>
              <a:rPr lang="en-US" dirty="0"/>
              <a:t>ven though females are known to forage more than males in the wild, the similar rates we observed align with Rose who found that captive ducks show reduced alertness around humans, which may have equalized foraging rates between sexes.</a:t>
            </a:r>
            <a:endParaRPr lang="en-US" b="0" dirty="0">
              <a:effectLst/>
            </a:endParaRPr>
          </a:p>
          <a:p>
            <a:pPr rtl="0"/>
            <a:r>
              <a:rPr lang="en-US" sz="1100" b="0" i="0" u="none" strike="noStrike" cap="none" dirty="0">
                <a:solidFill>
                  <a:srgbClr val="000000"/>
                </a:solidFill>
                <a:effectLst/>
                <a:latin typeface="Arial"/>
                <a:ea typeface="Arial"/>
                <a:cs typeface="Arial"/>
                <a:sym typeface="Arial"/>
              </a:rPr>
              <a:t>The Kruskal-Wallis result confirmed a significant increase in foraging frequency across the day. Foraging was lowest in the morning and highest in the evening, aligning with Guillemain’s conclusion that foraging activity and location shift throughout the day, partly in response to prey distribution. An additional factor observed in this study was that shovelers were predominantly asleep during morning hours — a confounding variable not anticipated in the original hypothesis, and there was an </a:t>
            </a:r>
            <a:r>
              <a:rPr lang="en-US" b="0" dirty="0"/>
              <a:t>inverse relationship between human presence and foraging frequency.</a:t>
            </a:r>
            <a:endParaRPr lang="en-US" b="0" dirty="0">
              <a:effectLst/>
            </a:endParaRP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0" i="0" u="none" strike="noStrike" cap="none" dirty="0">
                <a:solidFill>
                  <a:srgbClr val="000000"/>
                </a:solidFill>
                <a:effectLst/>
                <a:latin typeface="Arial"/>
                <a:ea typeface="Arial"/>
                <a:cs typeface="Arial"/>
                <a:sym typeface="Arial"/>
              </a:rPr>
              <a:t>While dabbling was among the most frequent behaviors, it was statistically indistinguishable from dipping. Our original prediction was too narrow; the data support a revised conclusion that both dabbling and dipping function as the primary foraging strategies, with pecking and upending serving as secondary behaviors. However, the difference may reflect the role of human feeding of the ducks at Mueller Park, which could promote shallow-water behaviors like dipping.</a:t>
            </a:r>
            <a:endParaRPr lang="en-US" b="0" dirty="0">
              <a:effectLst/>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22bd4cd2941_2_2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 name="Google Shape;215;g22bd4cd2941_2_2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rtl="0"/>
            <a:r>
              <a:rPr lang="en-US" sz="1100" b="0" i="0" u="none" strike="noStrike" cap="none" dirty="0">
                <a:solidFill>
                  <a:srgbClr val="000000"/>
                </a:solidFill>
                <a:effectLst/>
                <a:latin typeface="Arial"/>
                <a:ea typeface="Arial"/>
                <a:cs typeface="Arial"/>
                <a:sym typeface="Arial"/>
              </a:rPr>
              <a:t>Our findings are best interpreted at the functional level of Tinbergen's (1963) four levels of analysis, which asks what adaptive value a behavior provides. Foraging directly enables energy acquisition, which underpins survival, migration, and reproductive fitness. The time-of-day variation in foraging frequency reflects how environmental factors — including temperature, prey availability, human presence, and endogenous activity cycles — interact to shape energy acquisition strategies in a park-dwelling population.</a:t>
            </a:r>
            <a:endParaRPr lang="en-US" b="0" dirty="0">
              <a:effectLst/>
            </a:endParaRPr>
          </a:p>
          <a:p>
            <a:pPr rtl="0"/>
            <a:r>
              <a:rPr lang="en-US" sz="1100" b="0" i="0" u="none" strike="noStrike" cap="none" dirty="0">
                <a:solidFill>
                  <a:srgbClr val="000000"/>
                </a:solidFill>
                <a:effectLst/>
                <a:latin typeface="Arial"/>
                <a:ea typeface="Arial"/>
                <a:cs typeface="Arial"/>
                <a:sym typeface="Arial"/>
              </a:rPr>
              <a:t>Future work could additionally examine the mechanistic level (hormonal or neurological triggers of foraging initiation), the developmental level (how individual shovelers learn to forage in the presence of humans), and the phylogenetic level (whether dabbling ducks as a group show similar park-mediated behavioral plasticity)</a:t>
            </a:r>
            <a:endParaRPr lang="en-US" b="0" dirty="0">
              <a:effectLst/>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22bd4cd2941_2_1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22bd4cd2941_2_1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Our study had some notable limitations. </a:t>
            </a:r>
            <a:r>
              <a:rPr lang="en-US" b="1" dirty="0"/>
              <a:t>Sample size varied dramatically</a:t>
            </a:r>
            <a:r>
              <a:rPr lang="en-US" dirty="0"/>
              <a:t> — some days had zero shovelers present, which reduced our data quality. A longer observation window would allow us to discard low-count days without losing too many usable data points.</a:t>
            </a:r>
          </a:p>
          <a:p>
            <a:r>
              <a:rPr lang="en-US" b="1" dirty="0"/>
              <a:t>Weather was a confounding variable</a:t>
            </a:r>
            <a:r>
              <a:rPr lang="en-US" dirty="0"/>
              <a:t> — cold fronts noticeably reduced duck numbers. Future studies should either control for temperature or explicitly model it as a predictor.</a:t>
            </a:r>
          </a:p>
          <a:p>
            <a:r>
              <a:rPr lang="en-US" b="1" dirty="0"/>
              <a:t>Species identification</a:t>
            </a:r>
            <a:r>
              <a:rPr lang="en-US" dirty="0"/>
              <a:t> was occasionally challenging from a distance, particularly distinguishing shovelers from mallards.</a:t>
            </a:r>
          </a:p>
          <a:p>
            <a:pPr marL="158750" indent="0" rtl="0">
              <a:buNone/>
            </a:pPr>
            <a:r>
              <a:rPr lang="en-US" sz="1100" b="0" i="0" u="none" strike="noStrike" cap="none" dirty="0">
                <a:solidFill>
                  <a:srgbClr val="000000"/>
                </a:solidFill>
                <a:effectLst/>
                <a:latin typeface="Arial"/>
                <a:ea typeface="Arial"/>
                <a:cs typeface="Arial"/>
                <a:sym typeface="Arial"/>
              </a:rPr>
              <a:t>Key questions emerging from this study include:</a:t>
            </a:r>
            <a:endParaRPr lang="en-US" b="0" dirty="0">
              <a:effectLst/>
            </a:endParaRPr>
          </a:p>
          <a:p>
            <a:pPr rtl="0" fontAlgn="base"/>
            <a:r>
              <a:rPr lang="en-US" sz="1100" b="0" i="0" u="none" strike="noStrike" cap="none" dirty="0">
                <a:solidFill>
                  <a:srgbClr val="000000"/>
                </a:solidFill>
                <a:effectLst/>
                <a:latin typeface="Arial"/>
                <a:ea typeface="Arial"/>
                <a:cs typeface="Arial"/>
                <a:sym typeface="Arial"/>
              </a:rPr>
              <a:t>Would foraging behaviors differ significantly during breeding season (April–July)? Afton (1979) found dramatically higher foraging rates at the onset of breeding, and our pre-breeding observation window may have missed important behavioral variation.</a:t>
            </a:r>
          </a:p>
          <a:p>
            <a:pPr rtl="0" fontAlgn="base"/>
            <a:r>
              <a:rPr lang="en-US" sz="1100" b="0" i="0" u="none" strike="noStrike" cap="none" dirty="0">
                <a:solidFill>
                  <a:srgbClr val="000000"/>
                </a:solidFill>
                <a:effectLst/>
                <a:latin typeface="Arial"/>
                <a:ea typeface="Arial"/>
                <a:cs typeface="Arial"/>
                <a:sym typeface="Arial"/>
              </a:rPr>
              <a:t>Is there a positive correlation between daily temperature and shoveler group size at the lake? Informal observations suggested fewer ducks on colder or cloudier days, but this was not formally tested.</a:t>
            </a:r>
          </a:p>
          <a:p>
            <a:pPr marL="0" lvl="0" indent="0" algn="l" rtl="0">
              <a:spcBef>
                <a:spcPts val="0"/>
              </a:spcBef>
              <a:spcAft>
                <a:spcPts val="0"/>
              </a:spcAft>
              <a:buNone/>
            </a:pPr>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22bd4cd2941_2_2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22bd4cd2941_2_2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The bigger picture here is one of conservation relevance. Our data tentatively support the idea that human presence in public parks influences shoveler foraging behavior, even if the causality is not fully isolated. With Northern Shoveler populations declining due to habitat loss, understanding how park environments alter their behavior matters for their long-term health.</a:t>
            </a:r>
          </a:p>
          <a:p>
            <a:r>
              <a:rPr lang="en-US" dirty="0"/>
              <a:t>Mueller Lake Park alone hosts over a hundred shovelers on peak days. If behavioral patterns — like reduced alertness and increased human-facilitated feeding — become the norm, it could affect their nutritional efficiency, conditioning for migration, and ultimately population fitness.</a:t>
            </a:r>
          </a:p>
          <a:p>
            <a:pPr marL="158750" indent="0" rtl="0">
              <a:buNone/>
            </a:pPr>
            <a:endParaRPr lang="en-US" sz="1100" b="0" i="0" u="none" strike="noStrike" cap="none" dirty="0">
              <a:solidFill>
                <a:srgbClr val="000000"/>
              </a:solidFill>
              <a:effectLst/>
              <a:latin typeface="Arial"/>
              <a:ea typeface="Arial"/>
              <a:cs typeface="Arial"/>
              <a:sym typeface="Arial"/>
            </a:endParaRPr>
          </a:p>
          <a:p>
            <a:pPr marL="158750" indent="0" rtl="0">
              <a:buNone/>
            </a:pPr>
            <a:r>
              <a:rPr lang="en-US" sz="1100" b="0" i="0" u="none" strike="noStrike" cap="none" dirty="0">
                <a:solidFill>
                  <a:srgbClr val="000000"/>
                </a:solidFill>
                <a:effectLst/>
                <a:latin typeface="Arial"/>
                <a:ea typeface="Arial"/>
                <a:cs typeface="Arial"/>
                <a:sym typeface="Arial"/>
              </a:rPr>
              <a:t>Practical management strategies based on these findings include:</a:t>
            </a:r>
            <a:endParaRPr lang="en-US" b="0" dirty="0">
              <a:effectLst/>
            </a:endParaRPr>
          </a:p>
          <a:p>
            <a:pPr rtl="0" fontAlgn="base"/>
            <a:r>
              <a:rPr lang="en-US" sz="1100" b="0" i="0" u="none" strike="noStrike" cap="none" dirty="0">
                <a:solidFill>
                  <a:srgbClr val="000000"/>
                </a:solidFill>
                <a:effectLst/>
                <a:latin typeface="Arial"/>
                <a:ea typeface="Arial"/>
                <a:cs typeface="Arial"/>
                <a:sym typeface="Arial"/>
              </a:rPr>
              <a:t>Restricting duck feeding by park visitors during critical foraging periods, as supplementary food likely alters natural foraging behavior.</a:t>
            </a:r>
          </a:p>
          <a:p>
            <a:pPr rtl="0" fontAlgn="base"/>
            <a:r>
              <a:rPr lang="en-US" sz="1100" b="0" i="0" u="none" strike="noStrike" cap="none" dirty="0">
                <a:solidFill>
                  <a:srgbClr val="000000"/>
                </a:solidFill>
                <a:effectLst/>
                <a:latin typeface="Arial"/>
                <a:ea typeface="Arial"/>
                <a:cs typeface="Arial"/>
                <a:sym typeface="Arial"/>
              </a:rPr>
              <a:t>Establishing buffer zones that limit human approach distance to resting and nesting areas, particularly during morning hours when birds are inactive.</a:t>
            </a:r>
          </a:p>
          <a:p>
            <a:pPr rtl="0" fontAlgn="base"/>
            <a:r>
              <a:rPr lang="en-US" sz="1100" b="0" i="0" u="none" strike="noStrike" cap="none" dirty="0">
                <a:solidFill>
                  <a:srgbClr val="000000"/>
                </a:solidFill>
                <a:effectLst/>
                <a:latin typeface="Arial"/>
                <a:ea typeface="Arial"/>
                <a:cs typeface="Arial"/>
                <a:sym typeface="Arial"/>
              </a:rPr>
              <a:t>Applying these findings to captive breeding programs to calibrate appropriate levels of human contact during rearing.</a:t>
            </a:r>
          </a:p>
          <a:p>
            <a:endParaRPr lang="en-US" dirty="0"/>
          </a:p>
          <a:p>
            <a:pPr marL="0" lvl="0" indent="0" algn="l" rtl="0">
              <a:spcBef>
                <a:spcPts val="0"/>
              </a:spcBef>
              <a:spcAft>
                <a:spcPts val="0"/>
              </a:spcAft>
              <a:buNone/>
            </a:pP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22bd4cd2941_2_2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22bd4cd2941_2_2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Thank you.</a:t>
            </a: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hyperlink" Target="https://doi.org/10.1016/j.applanim.2022.105626" TargetMode="Externa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20.jpeg"/></Relationships>
</file>

<file path=ppt/slides/_rels/slide1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p:nvPr/>
        </p:nvSpPr>
        <p:spPr>
          <a:xfrm>
            <a:off x="0" y="1675"/>
            <a:ext cx="9155700" cy="5143500"/>
          </a:xfrm>
          <a:prstGeom prst="rect">
            <a:avLst/>
          </a:prstGeom>
          <a:solidFill>
            <a:srgbClr val="D0E0E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13"/>
          <p:cNvSpPr/>
          <p:nvPr/>
        </p:nvSpPr>
        <p:spPr>
          <a:xfrm>
            <a:off x="238725" y="116525"/>
            <a:ext cx="369300" cy="5028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13"/>
          <p:cNvSpPr/>
          <p:nvPr/>
        </p:nvSpPr>
        <p:spPr>
          <a:xfrm>
            <a:off x="0" y="75500"/>
            <a:ext cx="9144000" cy="188700"/>
          </a:xfrm>
          <a:prstGeom prst="rect">
            <a:avLst/>
          </a:prstGeom>
          <a:solidFill>
            <a:schemeClr val="accent5"/>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13"/>
          <p:cNvSpPr/>
          <p:nvPr/>
        </p:nvSpPr>
        <p:spPr>
          <a:xfrm>
            <a:off x="0" y="1675"/>
            <a:ext cx="148500" cy="5143500"/>
          </a:xfrm>
          <a:prstGeom prst="rect">
            <a:avLst/>
          </a:prstGeom>
          <a:solidFill>
            <a:schemeClr val="accent5"/>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13"/>
          <p:cNvSpPr/>
          <p:nvPr/>
        </p:nvSpPr>
        <p:spPr>
          <a:xfrm>
            <a:off x="8826800" y="1675"/>
            <a:ext cx="148500" cy="5143500"/>
          </a:xfrm>
          <a:prstGeom prst="rect">
            <a:avLst/>
          </a:prstGeom>
          <a:solidFill>
            <a:schemeClr val="accent5"/>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2" name="Google Shape;62;p13"/>
          <p:cNvPicPr preferRelativeResize="0"/>
          <p:nvPr/>
        </p:nvPicPr>
        <p:blipFill>
          <a:blip r:embed="rId3">
            <a:alphaModFix/>
          </a:blip>
          <a:stretch>
            <a:fillRect/>
          </a:stretch>
        </p:blipFill>
        <p:spPr>
          <a:xfrm>
            <a:off x="5521950" y="2886950"/>
            <a:ext cx="3147200" cy="2098176"/>
          </a:xfrm>
          <a:prstGeom prst="rect">
            <a:avLst/>
          </a:prstGeom>
          <a:noFill/>
          <a:ln w="28575" cap="flat" cmpd="sng">
            <a:solidFill>
              <a:schemeClr val="accent5"/>
            </a:solidFill>
            <a:prstDash val="solid"/>
            <a:round/>
            <a:headEnd type="none" w="sm" len="sm"/>
            <a:tailEnd type="none" w="sm" len="sm"/>
          </a:ln>
        </p:spPr>
      </p:pic>
      <p:pic>
        <p:nvPicPr>
          <p:cNvPr id="63" name="Google Shape;63;p13"/>
          <p:cNvPicPr preferRelativeResize="0"/>
          <p:nvPr/>
        </p:nvPicPr>
        <p:blipFill>
          <a:blip r:embed="rId4">
            <a:alphaModFix/>
          </a:blip>
          <a:stretch>
            <a:fillRect/>
          </a:stretch>
        </p:blipFill>
        <p:spPr>
          <a:xfrm>
            <a:off x="5492150" y="395450"/>
            <a:ext cx="3147200" cy="2173550"/>
          </a:xfrm>
          <a:prstGeom prst="rect">
            <a:avLst/>
          </a:prstGeom>
          <a:noFill/>
          <a:ln w="28575" cap="flat" cmpd="sng">
            <a:solidFill>
              <a:schemeClr val="accent5"/>
            </a:solidFill>
            <a:prstDash val="solid"/>
            <a:round/>
            <a:headEnd type="none" w="sm" len="sm"/>
            <a:tailEnd type="none" w="sm" len="sm"/>
          </a:ln>
        </p:spPr>
      </p:pic>
      <p:sp>
        <p:nvSpPr>
          <p:cNvPr id="5" name="TextBox 4">
            <a:extLst>
              <a:ext uri="{FF2B5EF4-FFF2-40B4-BE49-F238E27FC236}">
                <a16:creationId xmlns:a16="http://schemas.microsoft.com/office/drawing/2014/main" id="{8B900D07-53C0-151C-EDE0-67BDB4F88239}"/>
              </a:ext>
            </a:extLst>
          </p:cNvPr>
          <p:cNvSpPr txBox="1"/>
          <p:nvPr/>
        </p:nvSpPr>
        <p:spPr>
          <a:xfrm>
            <a:off x="720000" y="602723"/>
            <a:ext cx="4584700" cy="4370427"/>
          </a:xfrm>
          <a:prstGeom prst="rect">
            <a:avLst/>
          </a:prstGeom>
          <a:noFill/>
        </p:spPr>
        <p:txBody>
          <a:bodyPr wrap="square">
            <a:spAutoFit/>
          </a:bodyPr>
          <a:lstStyle/>
          <a:p>
            <a:pPr algn="ctr" rtl="0">
              <a:spcBef>
                <a:spcPts val="7200"/>
              </a:spcBef>
              <a:spcAft>
                <a:spcPts val="1200"/>
              </a:spcAft>
              <a:buNone/>
            </a:pPr>
            <a:r>
              <a:rPr lang="en-US" sz="3200" b="1" i="0" u="none" strike="noStrike" dirty="0">
                <a:solidFill>
                  <a:srgbClr val="1F4E79"/>
                </a:solidFill>
                <a:effectLst/>
                <a:latin typeface="Arial" panose="020B0604020202020204" pitchFamily="34" charset="0"/>
              </a:rPr>
              <a:t>Time Budget of Feeding in Northern Shovelers</a:t>
            </a:r>
            <a:endParaRPr lang="en-US" sz="1200" b="0" dirty="0">
              <a:effectLst/>
            </a:endParaRPr>
          </a:p>
          <a:p>
            <a:pPr algn="ctr" rtl="0">
              <a:spcAft>
                <a:spcPts val="600"/>
              </a:spcAft>
              <a:buNone/>
            </a:pPr>
            <a:r>
              <a:rPr lang="en-US" sz="2400" b="1" i="0" u="none" strike="noStrike" dirty="0">
                <a:solidFill>
                  <a:srgbClr val="2E75B6"/>
                </a:solidFill>
                <a:effectLst/>
                <a:latin typeface="Arial" panose="020B0604020202020204" pitchFamily="34" charset="0"/>
              </a:rPr>
              <a:t>at Mueller Park, Austin, Texas</a:t>
            </a:r>
            <a:endParaRPr lang="en-US" sz="1200" b="0" dirty="0">
              <a:effectLst/>
            </a:endParaRPr>
          </a:p>
          <a:p>
            <a:pPr>
              <a:buNone/>
            </a:pPr>
            <a:br>
              <a:rPr lang="en-US" sz="1200" b="0" dirty="0">
                <a:effectLst/>
              </a:rPr>
            </a:br>
            <a:endParaRPr lang="en-US" sz="1200" b="0" dirty="0">
              <a:effectLst/>
            </a:endParaRPr>
          </a:p>
          <a:p>
            <a:pPr algn="ctr" rtl="0">
              <a:spcBef>
                <a:spcPts val="1200"/>
              </a:spcBef>
              <a:spcAft>
                <a:spcPts val="400"/>
              </a:spcAft>
              <a:buNone/>
            </a:pPr>
            <a:endParaRPr lang="en-US" b="0" i="0" u="none" strike="noStrike" dirty="0">
              <a:solidFill>
                <a:srgbClr val="444444"/>
              </a:solidFill>
              <a:effectLst/>
              <a:latin typeface="Arial" panose="020B0604020202020204" pitchFamily="34" charset="0"/>
            </a:endParaRPr>
          </a:p>
          <a:p>
            <a:pPr algn="ctr" rtl="0">
              <a:spcBef>
                <a:spcPts val="1200"/>
              </a:spcBef>
              <a:spcAft>
                <a:spcPts val="400"/>
              </a:spcAft>
              <a:buNone/>
            </a:pPr>
            <a:br>
              <a:rPr lang="en-US" dirty="0">
                <a:solidFill>
                  <a:srgbClr val="444444"/>
                </a:solidFill>
                <a:latin typeface="Arial" panose="020B0604020202020204" pitchFamily="34" charset="0"/>
              </a:rPr>
            </a:br>
            <a:br>
              <a:rPr lang="en-US" dirty="0">
                <a:solidFill>
                  <a:srgbClr val="444444"/>
                </a:solidFill>
                <a:latin typeface="Arial" panose="020B0604020202020204" pitchFamily="34" charset="0"/>
              </a:rPr>
            </a:br>
            <a:endParaRPr lang="en-US" dirty="0">
              <a:solidFill>
                <a:srgbClr val="444444"/>
              </a:solidFill>
              <a:latin typeface="Arial" panose="020B0604020202020204" pitchFamily="34" charset="0"/>
            </a:endParaRPr>
          </a:p>
          <a:p>
            <a:pPr algn="ctr" rtl="0">
              <a:spcBef>
                <a:spcPts val="1200"/>
              </a:spcBef>
              <a:spcAft>
                <a:spcPts val="400"/>
              </a:spcAft>
              <a:buNone/>
            </a:pPr>
            <a:r>
              <a:rPr lang="en-US" sz="1200" b="0" i="0" u="none" strike="noStrike" dirty="0">
                <a:solidFill>
                  <a:srgbClr val="444444"/>
                </a:solidFill>
                <a:effectLst/>
                <a:latin typeface="Arial" panose="020B0604020202020204" pitchFamily="34" charset="0"/>
              </a:rPr>
              <a:t>Sergio Carranco  |  Kim Luong  |  Peter Zhang</a:t>
            </a:r>
            <a:endParaRPr lang="en-US" sz="1100" b="0" dirty="0">
              <a:effectLst/>
            </a:endParaRPr>
          </a:p>
          <a:p>
            <a:pPr algn="ctr" rtl="0">
              <a:spcAft>
                <a:spcPts val="400"/>
              </a:spcAft>
              <a:buNone/>
            </a:pPr>
            <a:r>
              <a:rPr lang="en-US" sz="1100" b="0" i="1" u="none" strike="noStrike" dirty="0">
                <a:solidFill>
                  <a:srgbClr val="666666"/>
                </a:solidFill>
                <a:effectLst/>
                <a:latin typeface="Arial" panose="020B0604020202020204" pitchFamily="34" charset="0"/>
              </a:rPr>
              <a:t>Discussion Section: Friday 9–10 AM</a:t>
            </a:r>
            <a:endParaRPr lang="en-US" sz="1100" b="0" dirty="0">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A953A00-6D9D-D0AF-E709-92C8DBE6CA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17BC6E-97AF-78B6-A9AF-9696B7FEADD4}"/>
              </a:ext>
            </a:extLst>
          </p:cNvPr>
          <p:cNvSpPr>
            <a:spLocks noGrp="1"/>
          </p:cNvSpPr>
          <p:nvPr>
            <p:ph type="title"/>
          </p:nvPr>
        </p:nvSpPr>
        <p:spPr>
          <a:xfrm>
            <a:off x="766916" y="445025"/>
            <a:ext cx="8065384" cy="572700"/>
          </a:xfrm>
        </p:spPr>
        <p:txBody>
          <a:bodyPr>
            <a:normAutofit fontScale="90000"/>
          </a:bodyPr>
          <a:lstStyle/>
          <a:p>
            <a:r>
              <a:rPr lang="en-US" b="1" dirty="0">
                <a:solidFill>
                  <a:srgbClr val="1F4E79"/>
                </a:solidFill>
                <a:latin typeface="Arial" panose="020B0604020202020204" pitchFamily="34" charset="0"/>
              </a:rPr>
              <a:t>Introduction </a:t>
            </a:r>
            <a:r>
              <a:rPr lang="en-US" dirty="0">
                <a:solidFill>
                  <a:srgbClr val="1F4E79"/>
                </a:solidFill>
                <a:latin typeface="Arial" panose="020B0604020202020204" pitchFamily="34" charset="0"/>
              </a:rPr>
              <a:t>– Background on the Study Species</a:t>
            </a:r>
            <a:endParaRPr lang="en-US" dirty="0"/>
          </a:p>
        </p:txBody>
      </p:sp>
      <p:sp>
        <p:nvSpPr>
          <p:cNvPr id="3" name="Text Placeholder 2">
            <a:extLst>
              <a:ext uri="{FF2B5EF4-FFF2-40B4-BE49-F238E27FC236}">
                <a16:creationId xmlns:a16="http://schemas.microsoft.com/office/drawing/2014/main" id="{A0C213F9-9207-0485-EA03-5E73488D1D6A}"/>
              </a:ext>
            </a:extLst>
          </p:cNvPr>
          <p:cNvSpPr>
            <a:spLocks noGrp="1"/>
          </p:cNvSpPr>
          <p:nvPr>
            <p:ph type="body" idx="1"/>
          </p:nvPr>
        </p:nvSpPr>
        <p:spPr>
          <a:xfrm>
            <a:off x="678426" y="1214950"/>
            <a:ext cx="8065384" cy="572700"/>
          </a:xfrm>
        </p:spPr>
        <p:txBody>
          <a:bodyPr>
            <a:normAutofit/>
          </a:bodyPr>
          <a:lstStyle/>
          <a:p>
            <a:pPr marL="114300" indent="0">
              <a:buNone/>
            </a:pPr>
            <a:r>
              <a:rPr lang="en-US" sz="1600" dirty="0">
                <a:solidFill>
                  <a:schemeClr val="tx1"/>
                </a:solidFill>
                <a:latin typeface="Arial" panose="020B0604020202020204" pitchFamily="34" charset="0"/>
              </a:rPr>
              <a:t>The Northern Shoveler (Anas </a:t>
            </a:r>
            <a:r>
              <a:rPr lang="en-US" sz="1600" dirty="0" err="1">
                <a:solidFill>
                  <a:schemeClr val="tx1"/>
                </a:solidFill>
                <a:latin typeface="Arial" panose="020B0604020202020204" pitchFamily="34" charset="0"/>
              </a:rPr>
              <a:t>clypeata</a:t>
            </a:r>
            <a:r>
              <a:rPr lang="en-US" sz="1600" dirty="0">
                <a:solidFill>
                  <a:schemeClr val="tx1"/>
                </a:solidFill>
                <a:latin typeface="Arial" panose="020B0604020202020204" pitchFamily="34" charset="0"/>
              </a:rPr>
              <a:t>) aka Dabbling duck (broad, spatula-shaped bill)</a:t>
            </a:r>
            <a:endParaRPr lang="en-US" sz="1600" dirty="0">
              <a:solidFill>
                <a:schemeClr val="tx1"/>
              </a:solidFill>
            </a:endParaRPr>
          </a:p>
        </p:txBody>
      </p:sp>
      <p:pic>
        <p:nvPicPr>
          <p:cNvPr id="4" name="Picture 3">
            <a:extLst>
              <a:ext uri="{FF2B5EF4-FFF2-40B4-BE49-F238E27FC236}">
                <a16:creationId xmlns:a16="http://schemas.microsoft.com/office/drawing/2014/main" id="{FC4E9953-827B-FADC-02D6-9D218DD245E8}"/>
              </a:ext>
            </a:extLst>
          </p:cNvPr>
          <p:cNvPicPr>
            <a:picLocks noChangeAspect="1"/>
          </p:cNvPicPr>
          <p:nvPr/>
        </p:nvPicPr>
        <p:blipFill>
          <a:blip r:embed="rId4"/>
          <a:stretch>
            <a:fillRect/>
          </a:stretch>
        </p:blipFill>
        <p:spPr>
          <a:xfrm>
            <a:off x="888336" y="1842277"/>
            <a:ext cx="4170361" cy="1949644"/>
          </a:xfrm>
          <a:prstGeom prst="rect">
            <a:avLst/>
          </a:prstGeom>
        </p:spPr>
      </p:pic>
      <p:sp>
        <p:nvSpPr>
          <p:cNvPr id="5" name="Text Placeholder 2">
            <a:extLst>
              <a:ext uri="{FF2B5EF4-FFF2-40B4-BE49-F238E27FC236}">
                <a16:creationId xmlns:a16="http://schemas.microsoft.com/office/drawing/2014/main" id="{C7EDF3AD-6A8A-899D-EAB6-2013FA1F518F}"/>
              </a:ext>
            </a:extLst>
          </p:cNvPr>
          <p:cNvSpPr txBox="1">
            <a:spLocks/>
          </p:cNvSpPr>
          <p:nvPr/>
        </p:nvSpPr>
        <p:spPr>
          <a:xfrm>
            <a:off x="766916" y="3719923"/>
            <a:ext cx="4288347" cy="1224473"/>
          </a:xfrm>
          <a:prstGeom prst="rect">
            <a:avLst/>
          </a:prstGeom>
          <a:noFill/>
          <a:ln>
            <a:noFill/>
          </a:ln>
        </p:spPr>
        <p:txBody>
          <a:bodyPr spcFirstLastPara="1" wrap="square" lIns="91425" tIns="91425" rIns="91425" bIns="91425" anchor="t" anchorCtr="0">
            <a:normAutofit lnSpcReduction="10000"/>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14300" indent="0">
              <a:buNone/>
            </a:pPr>
            <a:r>
              <a:rPr lang="en-US" sz="1200" dirty="0">
                <a:solidFill>
                  <a:srgbClr val="2E75B6"/>
                </a:solidFill>
                <a:latin typeface="Arial" panose="020B0604020202020204" pitchFamily="34" charset="0"/>
              </a:rPr>
              <a:t>Distribution map of Northern Shovelers</a:t>
            </a:r>
            <a:endParaRPr lang="en-US" sz="1200" dirty="0">
              <a:solidFill>
                <a:schemeClr val="tx1"/>
              </a:solidFill>
            </a:endParaRPr>
          </a:p>
          <a:p>
            <a:pPr>
              <a:buFont typeface="Arial" panose="020B0604020202020204" pitchFamily="34" charset="0"/>
              <a:buChar char="•"/>
            </a:pPr>
            <a:r>
              <a:rPr lang="en-US" sz="1200" dirty="0">
                <a:solidFill>
                  <a:schemeClr val="tx1"/>
                </a:solidFill>
              </a:rPr>
              <a:t>Found widely across the Northern Hemisphere</a:t>
            </a:r>
          </a:p>
          <a:p>
            <a:pPr>
              <a:buFont typeface="Arial" panose="020B0604020202020204" pitchFamily="34" charset="0"/>
              <a:buChar char="•"/>
            </a:pPr>
            <a:r>
              <a:rPr lang="en-US" sz="1200" dirty="0">
                <a:solidFill>
                  <a:schemeClr val="tx1"/>
                </a:solidFill>
              </a:rPr>
              <a:t>Migrants (traveling as far south as Australia during the winter)</a:t>
            </a:r>
          </a:p>
          <a:p>
            <a:pPr>
              <a:buFont typeface="Arial" panose="020B0604020202020204" pitchFamily="34" charset="0"/>
              <a:buChar char="•"/>
            </a:pPr>
            <a:r>
              <a:rPr lang="en-US" sz="1200" dirty="0">
                <a:solidFill>
                  <a:schemeClr val="tx1"/>
                </a:solidFill>
              </a:rPr>
              <a:t>Breeding season starting in April</a:t>
            </a:r>
          </a:p>
        </p:txBody>
      </p:sp>
      <p:sp>
        <p:nvSpPr>
          <p:cNvPr id="8" name="Text Placeholder 2">
            <a:extLst>
              <a:ext uri="{FF2B5EF4-FFF2-40B4-BE49-F238E27FC236}">
                <a16:creationId xmlns:a16="http://schemas.microsoft.com/office/drawing/2014/main" id="{231FF239-72F7-BD87-7E2B-5AC16142393A}"/>
              </a:ext>
            </a:extLst>
          </p:cNvPr>
          <p:cNvSpPr txBox="1">
            <a:spLocks/>
          </p:cNvSpPr>
          <p:nvPr/>
        </p:nvSpPr>
        <p:spPr>
          <a:xfrm>
            <a:off x="5176684" y="3719922"/>
            <a:ext cx="3410312" cy="1224473"/>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14300" indent="0">
              <a:buNone/>
            </a:pPr>
            <a:r>
              <a:rPr lang="en-US" sz="1200" dirty="0">
                <a:solidFill>
                  <a:srgbClr val="2E75B6"/>
                </a:solidFill>
                <a:latin typeface="Arial" panose="020B0604020202020204" pitchFamily="34" charset="0"/>
              </a:rPr>
              <a:t>Exhibit strong </a:t>
            </a:r>
            <a:r>
              <a:rPr lang="en-US" sz="1200" u="sng" dirty="0">
                <a:solidFill>
                  <a:srgbClr val="2E75B6"/>
                </a:solidFill>
                <a:latin typeface="Arial" panose="020B0604020202020204" pitchFamily="34" charset="0"/>
              </a:rPr>
              <a:t>Sexual Dimorphism</a:t>
            </a:r>
            <a:endParaRPr lang="en-US" sz="1200" u="sng" dirty="0">
              <a:solidFill>
                <a:schemeClr val="tx1"/>
              </a:solidFill>
            </a:endParaRPr>
          </a:p>
          <a:p>
            <a:pPr>
              <a:buFont typeface="Arial" panose="020B0604020202020204" pitchFamily="34" charset="0"/>
              <a:buChar char="•"/>
            </a:pPr>
            <a:r>
              <a:rPr lang="en-US" sz="1200" dirty="0">
                <a:solidFill>
                  <a:schemeClr val="tx1"/>
                </a:solidFill>
              </a:rPr>
              <a:t>Male (left): iridescent green head, white breast, chestnut flanks</a:t>
            </a:r>
          </a:p>
          <a:p>
            <a:pPr>
              <a:buFont typeface="Arial" panose="020B0604020202020204" pitchFamily="34" charset="0"/>
              <a:buChar char="•"/>
            </a:pPr>
            <a:r>
              <a:rPr lang="en-US" sz="1200" dirty="0">
                <a:solidFill>
                  <a:schemeClr val="tx1"/>
                </a:solidFill>
              </a:rPr>
              <a:t>Female (right): mottled brown throughout</a:t>
            </a:r>
          </a:p>
        </p:txBody>
      </p:sp>
      <p:pic>
        <p:nvPicPr>
          <p:cNvPr id="9" name="Google Shape;69;p14">
            <a:extLst>
              <a:ext uri="{FF2B5EF4-FFF2-40B4-BE49-F238E27FC236}">
                <a16:creationId xmlns:a16="http://schemas.microsoft.com/office/drawing/2014/main" id="{397DC1A8-10EC-CD6D-3087-8EB9FBFF3C10}"/>
              </a:ext>
            </a:extLst>
          </p:cNvPr>
          <p:cNvPicPr preferRelativeResize="0"/>
          <p:nvPr/>
        </p:nvPicPr>
        <p:blipFill rotWithShape="1">
          <a:blip r:embed="rId5">
            <a:alphaModFix/>
          </a:blip>
          <a:srcRect l="13759" t="16671" r="13519" b="20420"/>
          <a:stretch/>
        </p:blipFill>
        <p:spPr>
          <a:xfrm>
            <a:off x="5379326" y="1842277"/>
            <a:ext cx="3005027" cy="1949644"/>
          </a:xfrm>
          <a:prstGeom prst="rect">
            <a:avLst/>
          </a:prstGeom>
          <a:noFill/>
          <a:ln>
            <a:noFill/>
          </a:ln>
        </p:spPr>
      </p:pic>
    </p:spTree>
    <p:extLst>
      <p:ext uri="{BB962C8B-B14F-4D97-AF65-F5344CB8AC3E}">
        <p14:creationId xmlns:p14="http://schemas.microsoft.com/office/powerpoint/2010/main" val="2556971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AF2876E5-D24D-425A-D577-140D2A906619}"/>
            </a:ext>
          </a:extLst>
        </p:cNvPr>
        <p:cNvGrpSpPr/>
        <p:nvPr/>
      </p:nvGrpSpPr>
      <p:grpSpPr>
        <a:xfrm>
          <a:off x="0" y="0"/>
          <a:ext cx="0" cy="0"/>
          <a:chOff x="0" y="0"/>
          <a:chExt cx="0" cy="0"/>
        </a:xfrm>
      </p:grpSpPr>
      <p:graphicFrame>
        <p:nvGraphicFramePr>
          <p:cNvPr id="20" name="Table 19">
            <a:extLst>
              <a:ext uri="{FF2B5EF4-FFF2-40B4-BE49-F238E27FC236}">
                <a16:creationId xmlns:a16="http://schemas.microsoft.com/office/drawing/2014/main" id="{8AEDE8EB-DEA1-5427-D178-EEB39C5B69B6}"/>
              </a:ext>
            </a:extLst>
          </p:cNvPr>
          <p:cNvGraphicFramePr>
            <a:graphicFrameLocks noGrp="1"/>
          </p:cNvGraphicFramePr>
          <p:nvPr>
            <p:extLst>
              <p:ext uri="{D42A27DB-BD31-4B8C-83A1-F6EECF244321}">
                <p14:modId xmlns:p14="http://schemas.microsoft.com/office/powerpoint/2010/main" val="672356837"/>
              </p:ext>
            </p:extLst>
          </p:nvPr>
        </p:nvGraphicFramePr>
        <p:xfrm>
          <a:off x="882445" y="1017725"/>
          <a:ext cx="4014020" cy="3981978"/>
        </p:xfrm>
        <a:graphic>
          <a:graphicData uri="http://schemas.openxmlformats.org/drawingml/2006/table">
            <a:tbl>
              <a:tblPr firstRow="1" bandRow="1">
                <a:tableStyleId>{F7FF7573-9537-4162-8ACD-E87247B85FDE}</a:tableStyleId>
              </a:tblPr>
              <a:tblGrid>
                <a:gridCol w="2007010">
                  <a:extLst>
                    <a:ext uri="{9D8B030D-6E8A-4147-A177-3AD203B41FA5}">
                      <a16:colId xmlns:a16="http://schemas.microsoft.com/office/drawing/2014/main" val="3921814756"/>
                    </a:ext>
                  </a:extLst>
                </a:gridCol>
                <a:gridCol w="2007010">
                  <a:extLst>
                    <a:ext uri="{9D8B030D-6E8A-4147-A177-3AD203B41FA5}">
                      <a16:colId xmlns:a16="http://schemas.microsoft.com/office/drawing/2014/main" val="4126068419"/>
                    </a:ext>
                  </a:extLst>
                </a:gridCol>
              </a:tblGrid>
              <a:tr h="1990989">
                <a:tc>
                  <a:txBody>
                    <a:bodyPr/>
                    <a:lstStyle/>
                    <a:p>
                      <a:endParaRPr lang="en-US" dirty="0"/>
                    </a:p>
                  </a:txBody>
                  <a:tcPr/>
                </a:tc>
                <a:tc>
                  <a:txBody>
                    <a:bodyPr/>
                    <a:lstStyle/>
                    <a:p>
                      <a:endParaRPr lang="en-US"/>
                    </a:p>
                  </a:txBody>
                  <a:tcPr/>
                </a:tc>
                <a:extLst>
                  <a:ext uri="{0D108BD9-81ED-4DB2-BD59-A6C34878D82A}">
                    <a16:rowId xmlns:a16="http://schemas.microsoft.com/office/drawing/2014/main" val="1855355799"/>
                  </a:ext>
                </a:extLst>
              </a:tr>
              <a:tr h="1990989">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526925870"/>
                  </a:ext>
                </a:extLst>
              </a:tr>
            </a:tbl>
          </a:graphicData>
        </a:graphic>
      </p:graphicFrame>
      <p:sp>
        <p:nvSpPr>
          <p:cNvPr id="2" name="Title 1">
            <a:extLst>
              <a:ext uri="{FF2B5EF4-FFF2-40B4-BE49-F238E27FC236}">
                <a16:creationId xmlns:a16="http://schemas.microsoft.com/office/drawing/2014/main" id="{41882668-864A-0479-780A-4D7A646427D2}"/>
              </a:ext>
            </a:extLst>
          </p:cNvPr>
          <p:cNvSpPr>
            <a:spLocks noGrp="1"/>
          </p:cNvSpPr>
          <p:nvPr>
            <p:ph type="title"/>
          </p:nvPr>
        </p:nvSpPr>
        <p:spPr>
          <a:xfrm>
            <a:off x="766916" y="445025"/>
            <a:ext cx="8065384" cy="572700"/>
          </a:xfrm>
        </p:spPr>
        <p:txBody>
          <a:bodyPr>
            <a:normAutofit fontScale="90000"/>
          </a:bodyPr>
          <a:lstStyle/>
          <a:p>
            <a:r>
              <a:rPr lang="en-US" b="1" dirty="0">
                <a:solidFill>
                  <a:srgbClr val="1F4E79"/>
                </a:solidFill>
                <a:latin typeface="Arial" panose="020B0604020202020204" pitchFamily="34" charset="0"/>
              </a:rPr>
              <a:t>Introduction </a:t>
            </a:r>
            <a:r>
              <a:rPr lang="en-US" dirty="0">
                <a:solidFill>
                  <a:srgbClr val="1F4E79"/>
                </a:solidFill>
                <a:latin typeface="Arial" panose="020B0604020202020204" pitchFamily="34" charset="0"/>
              </a:rPr>
              <a:t>– Foraging Behaviors</a:t>
            </a:r>
            <a:endParaRPr lang="en-US" dirty="0"/>
          </a:p>
        </p:txBody>
      </p:sp>
      <p:sp>
        <p:nvSpPr>
          <p:cNvPr id="5" name="Text Placeholder 2">
            <a:extLst>
              <a:ext uri="{FF2B5EF4-FFF2-40B4-BE49-F238E27FC236}">
                <a16:creationId xmlns:a16="http://schemas.microsoft.com/office/drawing/2014/main" id="{914A8940-874E-B0A5-BC89-B1C6912CADAD}"/>
              </a:ext>
            </a:extLst>
          </p:cNvPr>
          <p:cNvSpPr txBox="1">
            <a:spLocks/>
          </p:cNvSpPr>
          <p:nvPr/>
        </p:nvSpPr>
        <p:spPr>
          <a:xfrm>
            <a:off x="766916" y="2138559"/>
            <a:ext cx="2065866" cy="870155"/>
          </a:xfrm>
          <a:prstGeom prst="rect">
            <a:avLst/>
          </a:prstGeom>
          <a:noFill/>
          <a:ln>
            <a:noFill/>
          </a:ln>
        </p:spPr>
        <p:txBody>
          <a:bodyPr spcFirstLastPara="1" wrap="square" lIns="91425" tIns="91425" rIns="91425" bIns="91425" anchor="t" anchorCtr="0">
            <a:normAutofit fontScale="92500" lnSpcReduction="20000"/>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14300" indent="0">
              <a:buNone/>
            </a:pPr>
            <a:r>
              <a:rPr lang="en-US" sz="1200" dirty="0">
                <a:solidFill>
                  <a:srgbClr val="2E75B6"/>
                </a:solidFill>
                <a:latin typeface="Arial" panose="020B0604020202020204" pitchFamily="34" charset="0"/>
              </a:rPr>
              <a:t>Pecking</a:t>
            </a:r>
            <a:r>
              <a:rPr lang="en-US" sz="1200" dirty="0">
                <a:solidFill>
                  <a:schemeClr val="tx1"/>
                </a:solidFill>
                <a:latin typeface="Arial" panose="020B0604020202020204" pitchFamily="34" charset="0"/>
              </a:rPr>
              <a:t> – a sharp forward head movement toward small particles on the ground, sustained for ≥ 5s</a:t>
            </a:r>
            <a:endParaRPr lang="en-US" sz="1200" dirty="0">
              <a:solidFill>
                <a:schemeClr val="tx1"/>
              </a:solidFill>
            </a:endParaRPr>
          </a:p>
        </p:txBody>
      </p:sp>
      <p:pic>
        <p:nvPicPr>
          <p:cNvPr id="21" name="Google Shape;84;p15">
            <a:extLst>
              <a:ext uri="{FF2B5EF4-FFF2-40B4-BE49-F238E27FC236}">
                <a16:creationId xmlns:a16="http://schemas.microsoft.com/office/drawing/2014/main" id="{1A7DDBB1-F440-EA65-4A0F-D61DEE9BB878}"/>
              </a:ext>
            </a:extLst>
          </p:cNvPr>
          <p:cNvPicPr preferRelativeResize="0"/>
          <p:nvPr/>
        </p:nvPicPr>
        <p:blipFill>
          <a:blip r:embed="rId4">
            <a:alphaModFix/>
          </a:blip>
          <a:stretch>
            <a:fillRect/>
          </a:stretch>
        </p:blipFill>
        <p:spPr>
          <a:xfrm>
            <a:off x="5025260" y="1017725"/>
            <a:ext cx="3590476" cy="2696300"/>
          </a:xfrm>
          <a:prstGeom prst="rect">
            <a:avLst/>
          </a:prstGeom>
          <a:noFill/>
          <a:ln>
            <a:noFill/>
          </a:ln>
        </p:spPr>
      </p:pic>
      <p:pic>
        <p:nvPicPr>
          <p:cNvPr id="22" name="Google Shape;87;p15">
            <a:extLst>
              <a:ext uri="{FF2B5EF4-FFF2-40B4-BE49-F238E27FC236}">
                <a16:creationId xmlns:a16="http://schemas.microsoft.com/office/drawing/2014/main" id="{C33B8FA0-929A-A4FF-5CD1-711F36646792}"/>
              </a:ext>
            </a:extLst>
          </p:cNvPr>
          <p:cNvPicPr preferRelativeResize="0"/>
          <p:nvPr/>
        </p:nvPicPr>
        <p:blipFill>
          <a:blip r:embed="rId5">
            <a:alphaModFix/>
          </a:blip>
          <a:stretch>
            <a:fillRect/>
          </a:stretch>
        </p:blipFill>
        <p:spPr>
          <a:xfrm>
            <a:off x="1278378" y="1103789"/>
            <a:ext cx="1200648" cy="983110"/>
          </a:xfrm>
          <a:prstGeom prst="rect">
            <a:avLst/>
          </a:prstGeom>
          <a:noFill/>
          <a:ln>
            <a:noFill/>
          </a:ln>
        </p:spPr>
      </p:pic>
      <p:pic>
        <p:nvPicPr>
          <p:cNvPr id="23" name="Google Shape;88;p15">
            <a:extLst>
              <a:ext uri="{FF2B5EF4-FFF2-40B4-BE49-F238E27FC236}">
                <a16:creationId xmlns:a16="http://schemas.microsoft.com/office/drawing/2014/main" id="{61F39679-2F6B-49F6-9945-569AD44FC16B}"/>
              </a:ext>
            </a:extLst>
          </p:cNvPr>
          <p:cNvPicPr preferRelativeResize="0"/>
          <p:nvPr/>
        </p:nvPicPr>
        <p:blipFill>
          <a:blip r:embed="rId6">
            <a:alphaModFix/>
          </a:blip>
          <a:stretch>
            <a:fillRect/>
          </a:stretch>
        </p:blipFill>
        <p:spPr>
          <a:xfrm>
            <a:off x="2943768" y="1103789"/>
            <a:ext cx="1909172" cy="983108"/>
          </a:xfrm>
          <a:prstGeom prst="rect">
            <a:avLst/>
          </a:prstGeom>
          <a:noFill/>
          <a:ln>
            <a:noFill/>
          </a:ln>
        </p:spPr>
      </p:pic>
      <p:pic>
        <p:nvPicPr>
          <p:cNvPr id="24" name="Google Shape;89;p15">
            <a:extLst>
              <a:ext uri="{FF2B5EF4-FFF2-40B4-BE49-F238E27FC236}">
                <a16:creationId xmlns:a16="http://schemas.microsoft.com/office/drawing/2014/main" id="{3881D95E-93AA-7953-87A6-1935CE5507A0}"/>
              </a:ext>
            </a:extLst>
          </p:cNvPr>
          <p:cNvPicPr preferRelativeResize="0"/>
          <p:nvPr/>
        </p:nvPicPr>
        <p:blipFill>
          <a:blip r:embed="rId7">
            <a:alphaModFix/>
          </a:blip>
          <a:stretch>
            <a:fillRect/>
          </a:stretch>
        </p:blipFill>
        <p:spPr>
          <a:xfrm>
            <a:off x="939369" y="3056603"/>
            <a:ext cx="1893413" cy="1131417"/>
          </a:xfrm>
          <a:prstGeom prst="rect">
            <a:avLst/>
          </a:prstGeom>
          <a:noFill/>
          <a:ln>
            <a:noFill/>
          </a:ln>
        </p:spPr>
      </p:pic>
      <p:pic>
        <p:nvPicPr>
          <p:cNvPr id="25" name="Google Shape;90;p15">
            <a:extLst>
              <a:ext uri="{FF2B5EF4-FFF2-40B4-BE49-F238E27FC236}">
                <a16:creationId xmlns:a16="http://schemas.microsoft.com/office/drawing/2014/main" id="{106E426A-960E-B4B7-A713-A652CA70A5FE}"/>
              </a:ext>
            </a:extLst>
          </p:cNvPr>
          <p:cNvPicPr preferRelativeResize="0"/>
          <p:nvPr/>
        </p:nvPicPr>
        <p:blipFill>
          <a:blip r:embed="rId8">
            <a:alphaModFix/>
          </a:blip>
          <a:stretch>
            <a:fillRect/>
          </a:stretch>
        </p:blipFill>
        <p:spPr>
          <a:xfrm>
            <a:off x="3346777" y="3056602"/>
            <a:ext cx="1035693" cy="1131418"/>
          </a:xfrm>
          <a:prstGeom prst="rect">
            <a:avLst/>
          </a:prstGeom>
          <a:noFill/>
          <a:ln>
            <a:noFill/>
          </a:ln>
        </p:spPr>
      </p:pic>
      <p:sp>
        <p:nvSpPr>
          <p:cNvPr id="26" name="Text Placeholder 2">
            <a:extLst>
              <a:ext uri="{FF2B5EF4-FFF2-40B4-BE49-F238E27FC236}">
                <a16:creationId xmlns:a16="http://schemas.microsoft.com/office/drawing/2014/main" id="{A2613130-23CD-3916-CDEA-33BF7BA6D39D}"/>
              </a:ext>
            </a:extLst>
          </p:cNvPr>
          <p:cNvSpPr txBox="1">
            <a:spLocks/>
          </p:cNvSpPr>
          <p:nvPr/>
        </p:nvSpPr>
        <p:spPr>
          <a:xfrm>
            <a:off x="2787074" y="2136672"/>
            <a:ext cx="2065866" cy="870155"/>
          </a:xfrm>
          <a:prstGeom prst="rect">
            <a:avLst/>
          </a:prstGeom>
          <a:noFill/>
          <a:ln>
            <a:noFill/>
          </a:ln>
        </p:spPr>
        <p:txBody>
          <a:bodyPr spcFirstLastPara="1" wrap="square" lIns="91425" tIns="91425" rIns="91425" bIns="91425" anchor="t" anchorCtr="0">
            <a:normAutofit fontScale="92500" lnSpcReduction="20000"/>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14300" indent="0">
              <a:buNone/>
            </a:pPr>
            <a:r>
              <a:rPr lang="en-US" sz="1200" dirty="0">
                <a:solidFill>
                  <a:srgbClr val="2E75B6"/>
                </a:solidFill>
                <a:latin typeface="Arial" panose="020B0604020202020204" pitchFamily="34" charset="0"/>
              </a:rPr>
              <a:t>Dabbling</a:t>
            </a:r>
            <a:r>
              <a:rPr lang="en-US" sz="1200" dirty="0">
                <a:solidFill>
                  <a:schemeClr val="tx1"/>
                </a:solidFill>
                <a:latin typeface="Arial" panose="020B0604020202020204" pitchFamily="34" charset="0"/>
              </a:rPr>
              <a:t> – forward swimming with the bill skimming the water surface to filter food particles</a:t>
            </a:r>
            <a:endParaRPr lang="en-US" sz="1200" dirty="0">
              <a:solidFill>
                <a:schemeClr val="tx1"/>
              </a:solidFill>
            </a:endParaRPr>
          </a:p>
        </p:txBody>
      </p:sp>
      <p:sp>
        <p:nvSpPr>
          <p:cNvPr id="27" name="Text Placeholder 2">
            <a:extLst>
              <a:ext uri="{FF2B5EF4-FFF2-40B4-BE49-F238E27FC236}">
                <a16:creationId xmlns:a16="http://schemas.microsoft.com/office/drawing/2014/main" id="{3311662F-AB0C-9F5B-52C0-D6A4DB62C27D}"/>
              </a:ext>
            </a:extLst>
          </p:cNvPr>
          <p:cNvSpPr txBox="1">
            <a:spLocks/>
          </p:cNvSpPr>
          <p:nvPr/>
        </p:nvSpPr>
        <p:spPr>
          <a:xfrm>
            <a:off x="766916" y="4215612"/>
            <a:ext cx="2065866" cy="870155"/>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14300" indent="0">
              <a:buNone/>
            </a:pPr>
            <a:r>
              <a:rPr lang="en-US" sz="1200" dirty="0">
                <a:solidFill>
                  <a:srgbClr val="2E75B6"/>
                </a:solidFill>
                <a:latin typeface="Arial" panose="020B0604020202020204" pitchFamily="34" charset="0"/>
              </a:rPr>
              <a:t>Dipping</a:t>
            </a:r>
            <a:r>
              <a:rPr lang="en-US" sz="1200" dirty="0">
                <a:solidFill>
                  <a:schemeClr val="tx1"/>
                </a:solidFill>
                <a:latin typeface="Arial" panose="020B0604020202020204" pitchFamily="34" charset="0"/>
              </a:rPr>
              <a:t> – rapid submersion of the head into the water</a:t>
            </a:r>
            <a:endParaRPr lang="en-US" sz="1200" dirty="0">
              <a:solidFill>
                <a:schemeClr val="tx1"/>
              </a:solidFill>
            </a:endParaRPr>
          </a:p>
        </p:txBody>
      </p:sp>
      <p:sp>
        <p:nvSpPr>
          <p:cNvPr id="28" name="Text Placeholder 2">
            <a:extLst>
              <a:ext uri="{FF2B5EF4-FFF2-40B4-BE49-F238E27FC236}">
                <a16:creationId xmlns:a16="http://schemas.microsoft.com/office/drawing/2014/main" id="{20B7FBEA-798B-8FDB-B99E-28DF09C36965}"/>
              </a:ext>
            </a:extLst>
          </p:cNvPr>
          <p:cNvSpPr txBox="1">
            <a:spLocks/>
          </p:cNvSpPr>
          <p:nvPr/>
        </p:nvSpPr>
        <p:spPr>
          <a:xfrm>
            <a:off x="2787074" y="4213725"/>
            <a:ext cx="2065866" cy="870155"/>
          </a:xfrm>
          <a:prstGeom prst="rect">
            <a:avLst/>
          </a:prstGeom>
          <a:noFill/>
          <a:ln>
            <a:noFill/>
          </a:ln>
        </p:spPr>
        <p:txBody>
          <a:bodyPr spcFirstLastPara="1" wrap="square" lIns="91425" tIns="91425" rIns="91425" bIns="91425" anchor="t" anchorCtr="0">
            <a:normAutofit fontScale="92500" lnSpcReduction="20000"/>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14300" indent="0">
              <a:buNone/>
            </a:pPr>
            <a:r>
              <a:rPr lang="en-US" sz="1200" dirty="0">
                <a:solidFill>
                  <a:srgbClr val="2E75B6"/>
                </a:solidFill>
                <a:latin typeface="Arial" panose="020B0604020202020204" pitchFamily="34" charset="0"/>
              </a:rPr>
              <a:t>Dabbling</a:t>
            </a:r>
            <a:r>
              <a:rPr lang="en-US" sz="1200" dirty="0">
                <a:solidFill>
                  <a:schemeClr val="tx1"/>
                </a:solidFill>
                <a:latin typeface="Arial" panose="020B0604020202020204" pitchFamily="34" charset="0"/>
              </a:rPr>
              <a:t> – full submersion of the head and foreparts with the tail raised vertically in the air</a:t>
            </a:r>
            <a:endParaRPr lang="en-US" sz="1200" dirty="0">
              <a:solidFill>
                <a:schemeClr val="tx1"/>
              </a:solidFill>
            </a:endParaRPr>
          </a:p>
        </p:txBody>
      </p:sp>
      <p:sp>
        <p:nvSpPr>
          <p:cNvPr id="29" name="Text Placeholder 2">
            <a:extLst>
              <a:ext uri="{FF2B5EF4-FFF2-40B4-BE49-F238E27FC236}">
                <a16:creationId xmlns:a16="http://schemas.microsoft.com/office/drawing/2014/main" id="{4A6633F4-0D4D-9C7F-D648-52D67B942E0A}"/>
              </a:ext>
            </a:extLst>
          </p:cNvPr>
          <p:cNvSpPr txBox="1">
            <a:spLocks/>
          </p:cNvSpPr>
          <p:nvPr/>
        </p:nvSpPr>
        <p:spPr>
          <a:xfrm>
            <a:off x="5025260" y="3719922"/>
            <a:ext cx="3561736" cy="1423578"/>
          </a:xfrm>
          <a:prstGeom prst="rect">
            <a:avLst/>
          </a:prstGeom>
          <a:noFill/>
          <a:ln>
            <a:noFill/>
          </a:ln>
        </p:spPr>
        <p:txBody>
          <a:bodyPr spcFirstLastPara="1" wrap="square" lIns="91425" tIns="91425" rIns="91425" bIns="91425" anchor="t" anchorCtr="0">
            <a:normAutofit lnSpcReduction="10000"/>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14300" indent="0">
              <a:buNone/>
            </a:pPr>
            <a:r>
              <a:rPr lang="en-US" sz="1200" dirty="0">
                <a:solidFill>
                  <a:srgbClr val="2E75B6"/>
                </a:solidFill>
                <a:latin typeface="Arial" panose="020B0604020202020204" pitchFamily="34" charset="0"/>
              </a:rPr>
              <a:t>Prior research</a:t>
            </a:r>
            <a:endParaRPr lang="en-US" sz="1200" u="sng" dirty="0">
              <a:solidFill>
                <a:schemeClr val="tx1"/>
              </a:solidFill>
            </a:endParaRPr>
          </a:p>
          <a:p>
            <a:pPr>
              <a:buFont typeface="Arial" panose="020B0604020202020204" pitchFamily="34" charset="0"/>
              <a:buChar char="•"/>
            </a:pPr>
            <a:r>
              <a:rPr lang="en-US" sz="1200" dirty="0">
                <a:solidFill>
                  <a:schemeClr val="tx1"/>
                </a:solidFill>
              </a:rPr>
              <a:t>The time budgets for each of these behaviors differs between sex (Rose et al., 2022).</a:t>
            </a:r>
          </a:p>
          <a:p>
            <a:pPr>
              <a:buFont typeface="Arial" panose="020B0604020202020204" pitchFamily="34" charset="0"/>
              <a:buChar char="•"/>
            </a:pPr>
            <a:r>
              <a:rPr lang="en-US" sz="1200" dirty="0">
                <a:solidFill>
                  <a:schemeClr val="tx1"/>
                </a:solidFill>
              </a:rPr>
              <a:t>These time budgets also change during breeding season (Afton, 1979).</a:t>
            </a:r>
          </a:p>
        </p:txBody>
      </p:sp>
      <p:sp>
        <p:nvSpPr>
          <p:cNvPr id="30" name="5-Point Star 29">
            <a:extLst>
              <a:ext uri="{FF2B5EF4-FFF2-40B4-BE49-F238E27FC236}">
                <a16:creationId xmlns:a16="http://schemas.microsoft.com/office/drawing/2014/main" id="{18E01B63-ABCA-E2CF-4B53-2449D1020BA4}"/>
              </a:ext>
            </a:extLst>
          </p:cNvPr>
          <p:cNvSpPr/>
          <p:nvPr/>
        </p:nvSpPr>
        <p:spPr>
          <a:xfrm>
            <a:off x="2904674" y="1067500"/>
            <a:ext cx="331839" cy="331839"/>
          </a:xfrm>
          <a:prstGeom prst="star5">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1A8A97D1-9EAE-A238-9775-AB88D2CE2E1D}"/>
              </a:ext>
            </a:extLst>
          </p:cNvPr>
          <p:cNvSpPr txBox="1"/>
          <p:nvPr/>
        </p:nvSpPr>
        <p:spPr>
          <a:xfrm>
            <a:off x="3465404" y="1717564"/>
            <a:ext cx="1426630" cy="369332"/>
          </a:xfrm>
          <a:prstGeom prst="rect">
            <a:avLst/>
          </a:prstGeom>
          <a:noFill/>
        </p:spPr>
        <p:txBody>
          <a:bodyPr wrap="square">
            <a:spAutoFit/>
          </a:bodyPr>
          <a:lstStyle/>
          <a:p>
            <a:pPr algn="r"/>
            <a:r>
              <a:rPr lang="en-US" sz="900" dirty="0">
                <a:solidFill>
                  <a:srgbClr val="FFFF00"/>
                </a:solidFill>
                <a:latin typeface="Arial" panose="020B0604020202020204" pitchFamily="34" charset="0"/>
              </a:rPr>
              <a:t>60% foraging time (Guillemain et al., 2000)</a:t>
            </a:r>
            <a:endParaRPr lang="en-US" sz="900" dirty="0">
              <a:solidFill>
                <a:srgbClr val="FFFF00"/>
              </a:solidFill>
            </a:endParaRPr>
          </a:p>
        </p:txBody>
      </p:sp>
    </p:spTree>
    <p:extLst>
      <p:ext uri="{BB962C8B-B14F-4D97-AF65-F5344CB8AC3E}">
        <p14:creationId xmlns:p14="http://schemas.microsoft.com/office/powerpoint/2010/main" val="207843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F0B41DD9-AA5D-B0A7-2A80-F33F611A9D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7BC025-66E9-F8E6-B9F4-6A62CCB386AF}"/>
              </a:ext>
            </a:extLst>
          </p:cNvPr>
          <p:cNvSpPr>
            <a:spLocks noGrp="1"/>
          </p:cNvSpPr>
          <p:nvPr>
            <p:ph type="title"/>
          </p:nvPr>
        </p:nvSpPr>
        <p:spPr>
          <a:xfrm>
            <a:off x="766916" y="445025"/>
            <a:ext cx="8065384" cy="572700"/>
          </a:xfrm>
        </p:spPr>
        <p:txBody>
          <a:bodyPr>
            <a:normAutofit fontScale="90000"/>
          </a:bodyPr>
          <a:lstStyle/>
          <a:p>
            <a:r>
              <a:rPr lang="en-US" b="1" dirty="0">
                <a:solidFill>
                  <a:srgbClr val="1F4E79"/>
                </a:solidFill>
                <a:latin typeface="Arial" panose="020B0604020202020204" pitchFamily="34" charset="0"/>
              </a:rPr>
              <a:t>Significance </a:t>
            </a:r>
            <a:r>
              <a:rPr lang="en-US" dirty="0">
                <a:solidFill>
                  <a:srgbClr val="1F4E79"/>
                </a:solidFill>
                <a:latin typeface="Arial" panose="020B0604020202020204" pitchFamily="34" charset="0"/>
              </a:rPr>
              <a:t>– Why Does It Matter?</a:t>
            </a:r>
            <a:endParaRPr lang="en-US" dirty="0"/>
          </a:p>
        </p:txBody>
      </p:sp>
      <p:pic>
        <p:nvPicPr>
          <p:cNvPr id="10" name="Picture 9">
            <a:extLst>
              <a:ext uri="{FF2B5EF4-FFF2-40B4-BE49-F238E27FC236}">
                <a16:creationId xmlns:a16="http://schemas.microsoft.com/office/drawing/2014/main" id="{E3769765-6BA3-B840-2434-ACC7F0020B33}"/>
              </a:ext>
            </a:extLst>
          </p:cNvPr>
          <p:cNvPicPr>
            <a:picLocks noChangeAspect="1"/>
          </p:cNvPicPr>
          <p:nvPr/>
        </p:nvPicPr>
        <p:blipFill>
          <a:blip r:embed="rId4"/>
          <a:stretch>
            <a:fillRect/>
          </a:stretch>
        </p:blipFill>
        <p:spPr>
          <a:xfrm>
            <a:off x="2818911" y="1323501"/>
            <a:ext cx="5615196" cy="3053643"/>
          </a:xfrm>
          <a:prstGeom prst="rect">
            <a:avLst/>
          </a:prstGeom>
        </p:spPr>
      </p:pic>
      <p:sp>
        <p:nvSpPr>
          <p:cNvPr id="11" name="Google Shape;109;p16">
            <a:extLst>
              <a:ext uri="{FF2B5EF4-FFF2-40B4-BE49-F238E27FC236}">
                <a16:creationId xmlns:a16="http://schemas.microsoft.com/office/drawing/2014/main" id="{FE500FD7-80F5-B7BB-AF91-FEA4E7BFC8B7}"/>
              </a:ext>
            </a:extLst>
          </p:cNvPr>
          <p:cNvSpPr txBox="1"/>
          <p:nvPr/>
        </p:nvSpPr>
        <p:spPr>
          <a:xfrm>
            <a:off x="595799" y="4681800"/>
            <a:ext cx="81291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sz="900" dirty="0">
                <a:solidFill>
                  <a:schemeClr val="dk2"/>
                </a:solidFill>
              </a:rPr>
              <a:t>Source: Rose, P. et al. (2022). Evaluation of the Time-Activity Budgets of Captive shovelers (Anatidae) Compared to Wild Counterparts. ScienceDirect, 251. </a:t>
            </a:r>
            <a:r>
              <a:rPr lang="en" sz="900" u="sng" dirty="0">
                <a:solidFill>
                  <a:schemeClr val="dk2"/>
                </a:solidFill>
                <a:hlinkClick r:id="rId5">
                  <a:extLst>
                    <a:ext uri="{A12FA001-AC4F-418D-AE19-62706E023703}">
                      <ahyp:hlinkClr xmlns:ahyp="http://schemas.microsoft.com/office/drawing/2018/hyperlinkcolor" val="tx"/>
                    </a:ext>
                  </a:extLst>
                </a:hlinkClick>
              </a:rPr>
              <a:t>https://doi.org/10.1016/j.applanim.2022.105626</a:t>
            </a:r>
            <a:r>
              <a:rPr lang="en" sz="900" dirty="0">
                <a:solidFill>
                  <a:schemeClr val="dk2"/>
                </a:solidFill>
              </a:rPr>
              <a:t>. </a:t>
            </a:r>
            <a:endParaRPr sz="900" dirty="0"/>
          </a:p>
        </p:txBody>
      </p:sp>
      <p:sp>
        <p:nvSpPr>
          <p:cNvPr id="5" name="Text Placeholder 2">
            <a:extLst>
              <a:ext uri="{FF2B5EF4-FFF2-40B4-BE49-F238E27FC236}">
                <a16:creationId xmlns:a16="http://schemas.microsoft.com/office/drawing/2014/main" id="{2545FA1A-1D1C-B598-0ED6-0395FE0037EF}"/>
              </a:ext>
            </a:extLst>
          </p:cNvPr>
          <p:cNvSpPr txBox="1">
            <a:spLocks/>
          </p:cNvSpPr>
          <p:nvPr/>
        </p:nvSpPr>
        <p:spPr>
          <a:xfrm>
            <a:off x="709893" y="1220448"/>
            <a:ext cx="2003811" cy="3461352"/>
          </a:xfrm>
          <a:prstGeom prst="rect">
            <a:avLst/>
          </a:prstGeom>
          <a:noFill/>
          <a:ln>
            <a:noFill/>
          </a:ln>
        </p:spPr>
        <p:txBody>
          <a:bodyPr spcFirstLastPara="1" wrap="square" lIns="91425" tIns="91425" rIns="91425" bIns="91425" anchor="t" anchorCtr="0">
            <a:normAutofit lnSpcReduction="10000"/>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14300" indent="0">
              <a:buNone/>
            </a:pPr>
            <a:r>
              <a:rPr lang="en-US" sz="1200" dirty="0">
                <a:solidFill>
                  <a:srgbClr val="2E75B6"/>
                </a:solidFill>
                <a:latin typeface="Arial" panose="020B0604020202020204" pitchFamily="34" charset="0"/>
              </a:rPr>
              <a:t>They are not threatened, but their population is declining.</a:t>
            </a:r>
            <a:endParaRPr lang="en-US" sz="1200" dirty="0">
              <a:solidFill>
                <a:schemeClr val="tx1"/>
              </a:solidFill>
            </a:endParaRPr>
          </a:p>
          <a:p>
            <a:pPr marL="114300" indent="0">
              <a:buNone/>
            </a:pPr>
            <a:r>
              <a:rPr lang="en-US" sz="1200" dirty="0">
                <a:solidFill>
                  <a:schemeClr val="tx1"/>
                </a:solidFill>
              </a:rPr>
              <a:t>Habitat Loss </a:t>
            </a:r>
            <a:r>
              <a:rPr lang="en-US" sz="1200" dirty="0">
                <a:solidFill>
                  <a:schemeClr val="tx1"/>
                </a:solidFill>
                <a:sym typeface="Wingdings" pitchFamily="2" charset="2"/>
              </a:rPr>
              <a:t></a:t>
            </a:r>
            <a:r>
              <a:rPr lang="en-US" sz="1200" dirty="0">
                <a:solidFill>
                  <a:schemeClr val="tx1"/>
                </a:solidFill>
              </a:rPr>
              <a:t> Parks become more important </a:t>
            </a:r>
            <a:r>
              <a:rPr lang="en-US" sz="1200" dirty="0">
                <a:solidFill>
                  <a:schemeClr val="tx1"/>
                </a:solidFill>
                <a:sym typeface="Wingdings" pitchFamily="2" charset="2"/>
              </a:rPr>
              <a:t> </a:t>
            </a:r>
            <a:r>
              <a:rPr lang="en-US" sz="1200" dirty="0">
                <a:solidFill>
                  <a:schemeClr val="tx1"/>
                </a:solidFill>
              </a:rPr>
              <a:t>Human Presence </a:t>
            </a:r>
            <a:r>
              <a:rPr lang="en-US" sz="1200" dirty="0">
                <a:solidFill>
                  <a:schemeClr val="tx1"/>
                </a:solidFill>
                <a:sym typeface="Wingdings" pitchFamily="2" charset="2"/>
              </a:rPr>
              <a:t> Effects on Northern Shovelers</a:t>
            </a:r>
          </a:p>
          <a:p>
            <a:pPr marL="114300" indent="0">
              <a:buNone/>
            </a:pPr>
            <a:endParaRPr lang="en-US" sz="1200" dirty="0">
              <a:solidFill>
                <a:schemeClr val="tx1"/>
              </a:solidFill>
              <a:sym typeface="Wingdings" pitchFamily="2" charset="2"/>
            </a:endParaRPr>
          </a:p>
          <a:p>
            <a:pPr marL="114300" indent="0">
              <a:buNone/>
            </a:pPr>
            <a:r>
              <a:rPr lang="en-US" sz="1200" dirty="0">
                <a:solidFill>
                  <a:srgbClr val="2E75B6"/>
                </a:solidFill>
                <a:latin typeface="Arial" panose="020B0604020202020204" pitchFamily="34" charset="0"/>
              </a:rPr>
              <a:t>Feeding is important! What affects feeding?</a:t>
            </a:r>
          </a:p>
          <a:p>
            <a:pPr>
              <a:buFont typeface="Arial" panose="020B0604020202020204" pitchFamily="34" charset="0"/>
              <a:buChar char="•"/>
            </a:pPr>
            <a:r>
              <a:rPr lang="en-US" sz="1200" dirty="0">
                <a:solidFill>
                  <a:schemeClr val="tx1"/>
                </a:solidFill>
                <a:latin typeface="Arial" panose="020B0604020202020204" pitchFamily="34" charset="0"/>
              </a:rPr>
              <a:t>Breeding Season</a:t>
            </a:r>
          </a:p>
          <a:p>
            <a:pPr>
              <a:buFont typeface="Arial" panose="020B0604020202020204" pitchFamily="34" charset="0"/>
              <a:buChar char="•"/>
            </a:pPr>
            <a:r>
              <a:rPr lang="en-US" sz="1200" dirty="0">
                <a:solidFill>
                  <a:schemeClr val="tx1"/>
                </a:solidFill>
                <a:latin typeface="Arial" panose="020B0604020202020204" pitchFamily="34" charset="0"/>
              </a:rPr>
              <a:t>Temperature, weather, or climate</a:t>
            </a:r>
          </a:p>
          <a:p>
            <a:pPr>
              <a:buFont typeface="Arial" panose="020B0604020202020204" pitchFamily="34" charset="0"/>
              <a:buChar char="•"/>
            </a:pPr>
            <a:r>
              <a:rPr lang="en-US" sz="1200" dirty="0">
                <a:solidFill>
                  <a:schemeClr val="tx1"/>
                </a:solidFill>
                <a:latin typeface="Arial" panose="020B0604020202020204" pitchFamily="34" charset="0"/>
              </a:rPr>
              <a:t>Human presence and interaction</a:t>
            </a:r>
          </a:p>
          <a:p>
            <a:pPr>
              <a:buFont typeface="Arial" panose="020B0604020202020204" pitchFamily="34" charset="0"/>
              <a:buChar char="•"/>
            </a:pPr>
            <a:r>
              <a:rPr lang="en-US" sz="1200" dirty="0">
                <a:solidFill>
                  <a:schemeClr val="tx1"/>
                </a:solidFill>
                <a:latin typeface="Arial" panose="020B0604020202020204" pitchFamily="34" charset="0"/>
              </a:rPr>
              <a:t>Time Budget</a:t>
            </a:r>
          </a:p>
        </p:txBody>
      </p:sp>
    </p:spTree>
    <p:extLst>
      <p:ext uri="{BB962C8B-B14F-4D97-AF65-F5344CB8AC3E}">
        <p14:creationId xmlns:p14="http://schemas.microsoft.com/office/powerpoint/2010/main" val="35969225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4F92DE10-D68D-516F-318E-08E7501DD2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6B2A5E-0DFD-FC8B-0CB2-460B3C550E2E}"/>
              </a:ext>
            </a:extLst>
          </p:cNvPr>
          <p:cNvSpPr>
            <a:spLocks noGrp="1"/>
          </p:cNvSpPr>
          <p:nvPr>
            <p:ph type="title"/>
          </p:nvPr>
        </p:nvSpPr>
        <p:spPr>
          <a:xfrm>
            <a:off x="766916" y="445025"/>
            <a:ext cx="8065384" cy="1369028"/>
          </a:xfrm>
        </p:spPr>
        <p:txBody>
          <a:bodyPr>
            <a:normAutofit/>
          </a:bodyPr>
          <a:lstStyle/>
          <a:p>
            <a:r>
              <a:rPr lang="en-US" b="1" dirty="0">
                <a:solidFill>
                  <a:srgbClr val="1F4E79"/>
                </a:solidFill>
                <a:latin typeface="Arial" panose="020B0604020202020204" pitchFamily="34" charset="0"/>
              </a:rPr>
              <a:t>Research Question </a:t>
            </a:r>
            <a:r>
              <a:rPr lang="en-US" dirty="0">
                <a:solidFill>
                  <a:srgbClr val="1F4E79"/>
                </a:solidFill>
                <a:latin typeface="Arial" panose="020B0604020202020204" pitchFamily="34" charset="0"/>
              </a:rPr>
              <a:t>– </a:t>
            </a:r>
            <a:r>
              <a:rPr lang="en-US" sz="2000" dirty="0">
                <a:solidFill>
                  <a:schemeClr val="tx1"/>
                </a:solidFill>
                <a:latin typeface="Arial" panose="020B0604020202020204" pitchFamily="34" charset="0"/>
              </a:rPr>
              <a:t>How does foraging behavior differ throughout different times of the day? Is this due to the time of the day, the sex of the bird, or other factors?</a:t>
            </a:r>
            <a:endParaRPr lang="en-US" dirty="0">
              <a:solidFill>
                <a:schemeClr val="tx1"/>
              </a:solidFill>
            </a:endParaRPr>
          </a:p>
        </p:txBody>
      </p:sp>
      <p:sp>
        <p:nvSpPr>
          <p:cNvPr id="5" name="Text Placeholder 2">
            <a:extLst>
              <a:ext uri="{FF2B5EF4-FFF2-40B4-BE49-F238E27FC236}">
                <a16:creationId xmlns:a16="http://schemas.microsoft.com/office/drawing/2014/main" id="{AEF76968-C3D3-1A49-DBF1-F04386D272D6}"/>
              </a:ext>
            </a:extLst>
          </p:cNvPr>
          <p:cNvSpPr txBox="1">
            <a:spLocks/>
          </p:cNvSpPr>
          <p:nvPr/>
        </p:nvSpPr>
        <p:spPr>
          <a:xfrm>
            <a:off x="689562" y="1932038"/>
            <a:ext cx="3919154" cy="152645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14300" indent="0">
              <a:buNone/>
            </a:pPr>
            <a:r>
              <a:rPr lang="en-US" sz="1600" dirty="0">
                <a:solidFill>
                  <a:srgbClr val="2E75B6"/>
                </a:solidFill>
                <a:latin typeface="Arial" panose="020B0604020202020204" pitchFamily="34" charset="0"/>
              </a:rPr>
              <a:t>Possible Independent Variables</a:t>
            </a:r>
          </a:p>
          <a:p>
            <a:pPr>
              <a:buFont typeface="Arial" panose="020B0604020202020204" pitchFamily="34" charset="0"/>
              <a:buChar char="•"/>
            </a:pPr>
            <a:r>
              <a:rPr lang="en-US" sz="1600" dirty="0">
                <a:solidFill>
                  <a:schemeClr val="tx1"/>
                </a:solidFill>
                <a:latin typeface="Arial" panose="020B0604020202020204" pitchFamily="34" charset="0"/>
              </a:rPr>
              <a:t>Time of Day</a:t>
            </a:r>
          </a:p>
          <a:p>
            <a:pPr>
              <a:buFont typeface="Arial" panose="020B0604020202020204" pitchFamily="34" charset="0"/>
              <a:buChar char="•"/>
            </a:pPr>
            <a:r>
              <a:rPr lang="en-US" sz="1600" dirty="0">
                <a:solidFill>
                  <a:schemeClr val="tx1"/>
                </a:solidFill>
                <a:latin typeface="Arial" panose="020B0604020202020204" pitchFamily="34" charset="0"/>
              </a:rPr>
              <a:t>Sex</a:t>
            </a:r>
          </a:p>
          <a:p>
            <a:pPr>
              <a:buFont typeface="Arial" panose="020B0604020202020204" pitchFamily="34" charset="0"/>
              <a:buChar char="•"/>
            </a:pPr>
            <a:r>
              <a:rPr lang="en-US" sz="1600" dirty="0">
                <a:solidFill>
                  <a:schemeClr val="tx1"/>
                </a:solidFill>
                <a:latin typeface="Arial" panose="020B0604020202020204" pitchFamily="34" charset="0"/>
              </a:rPr>
              <a:t>Age</a:t>
            </a:r>
          </a:p>
        </p:txBody>
      </p:sp>
      <p:sp>
        <p:nvSpPr>
          <p:cNvPr id="8" name="Text Placeholder 2">
            <a:extLst>
              <a:ext uri="{FF2B5EF4-FFF2-40B4-BE49-F238E27FC236}">
                <a16:creationId xmlns:a16="http://schemas.microsoft.com/office/drawing/2014/main" id="{D943D44D-6420-6FF0-1203-EE19B06D5CE3}"/>
              </a:ext>
            </a:extLst>
          </p:cNvPr>
          <p:cNvSpPr txBox="1">
            <a:spLocks/>
          </p:cNvSpPr>
          <p:nvPr/>
        </p:nvSpPr>
        <p:spPr>
          <a:xfrm>
            <a:off x="4535284" y="1932038"/>
            <a:ext cx="3919154" cy="152645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14300" indent="0">
              <a:buNone/>
            </a:pPr>
            <a:r>
              <a:rPr lang="en-US" sz="1600" dirty="0">
                <a:solidFill>
                  <a:srgbClr val="2E75B6"/>
                </a:solidFill>
                <a:latin typeface="Arial" panose="020B0604020202020204" pitchFamily="34" charset="0"/>
              </a:rPr>
              <a:t>Possible Dependent Variables</a:t>
            </a:r>
          </a:p>
          <a:p>
            <a:pPr>
              <a:buFont typeface="Arial" panose="020B0604020202020204" pitchFamily="34" charset="0"/>
              <a:buChar char="•"/>
            </a:pPr>
            <a:r>
              <a:rPr lang="en-US" sz="1600" dirty="0">
                <a:solidFill>
                  <a:schemeClr val="tx1"/>
                </a:solidFill>
                <a:latin typeface="Arial" panose="020B0604020202020204" pitchFamily="34" charset="0"/>
              </a:rPr>
              <a:t>Frequency of specific feeding behaviors</a:t>
            </a:r>
          </a:p>
          <a:p>
            <a:pPr>
              <a:buFont typeface="Arial" panose="020B0604020202020204" pitchFamily="34" charset="0"/>
              <a:buChar char="•"/>
            </a:pPr>
            <a:endParaRPr lang="en-US" sz="1600" dirty="0">
              <a:solidFill>
                <a:schemeClr val="tx1"/>
              </a:solidFill>
              <a:latin typeface="Arial" panose="020B0604020202020204" pitchFamily="34" charset="0"/>
            </a:endParaRPr>
          </a:p>
        </p:txBody>
      </p:sp>
      <p:sp>
        <p:nvSpPr>
          <p:cNvPr id="9" name="Text Placeholder 2">
            <a:extLst>
              <a:ext uri="{FF2B5EF4-FFF2-40B4-BE49-F238E27FC236}">
                <a16:creationId xmlns:a16="http://schemas.microsoft.com/office/drawing/2014/main" id="{3497B4A7-DA38-3732-6DE7-3B77F20B2A90}"/>
              </a:ext>
            </a:extLst>
          </p:cNvPr>
          <p:cNvSpPr txBox="1">
            <a:spLocks/>
          </p:cNvSpPr>
          <p:nvPr/>
        </p:nvSpPr>
        <p:spPr>
          <a:xfrm>
            <a:off x="689561" y="3458497"/>
            <a:ext cx="7960368" cy="1526459"/>
          </a:xfrm>
          <a:prstGeom prst="rect">
            <a:avLst/>
          </a:prstGeom>
          <a:noFill/>
          <a:ln>
            <a:noFill/>
          </a:ln>
        </p:spPr>
        <p:txBody>
          <a:bodyPr spcFirstLastPara="1" wrap="square" lIns="91425" tIns="91425" rIns="91425" bIns="91425" numCol="2"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14300" indent="0">
              <a:buNone/>
            </a:pPr>
            <a:r>
              <a:rPr lang="en-US" sz="1600" dirty="0">
                <a:solidFill>
                  <a:srgbClr val="2E75B6"/>
                </a:solidFill>
                <a:latin typeface="Arial" panose="020B0604020202020204" pitchFamily="34" charset="0"/>
              </a:rPr>
              <a:t>Possible Environmental Variables</a:t>
            </a:r>
          </a:p>
          <a:p>
            <a:pPr>
              <a:buFont typeface="Arial" panose="020B0604020202020204" pitchFamily="34" charset="0"/>
              <a:buChar char="•"/>
            </a:pPr>
            <a:r>
              <a:rPr lang="en-US" sz="1600" dirty="0">
                <a:solidFill>
                  <a:schemeClr val="tx1"/>
                </a:solidFill>
                <a:latin typeface="Arial" panose="020B0604020202020204" pitchFamily="34" charset="0"/>
              </a:rPr>
              <a:t>Temperature</a:t>
            </a:r>
          </a:p>
          <a:p>
            <a:pPr>
              <a:buFont typeface="Arial" panose="020B0604020202020204" pitchFamily="34" charset="0"/>
              <a:buChar char="•"/>
            </a:pPr>
            <a:r>
              <a:rPr lang="en-US" sz="1600" dirty="0">
                <a:solidFill>
                  <a:schemeClr val="tx1"/>
                </a:solidFill>
                <a:latin typeface="Arial" panose="020B0604020202020204" pitchFamily="34" charset="0"/>
              </a:rPr>
              <a:t>Presence of many humans</a:t>
            </a:r>
          </a:p>
          <a:p>
            <a:pPr>
              <a:buFont typeface="Arial" panose="020B0604020202020204" pitchFamily="34" charset="0"/>
              <a:buChar char="•"/>
            </a:pPr>
            <a:r>
              <a:rPr lang="en-US" sz="1600" dirty="0">
                <a:solidFill>
                  <a:schemeClr val="tx1"/>
                </a:solidFill>
                <a:latin typeface="Arial" panose="020B0604020202020204" pitchFamily="34" charset="0"/>
              </a:rPr>
              <a:t>Human feeding of shovelers</a:t>
            </a:r>
          </a:p>
          <a:p>
            <a:pPr>
              <a:buFont typeface="Arial" panose="020B0604020202020204" pitchFamily="34" charset="0"/>
              <a:buChar char="•"/>
            </a:pPr>
            <a:r>
              <a:rPr lang="en-US" sz="1600" dirty="0">
                <a:solidFill>
                  <a:schemeClr val="tx1"/>
                </a:solidFill>
                <a:latin typeface="Arial" panose="020B0604020202020204" pitchFamily="34" charset="0"/>
              </a:rPr>
              <a:t>Time of year</a:t>
            </a:r>
          </a:p>
          <a:p>
            <a:pPr marL="114300" indent="0">
              <a:buNone/>
            </a:pPr>
            <a:endParaRPr lang="en-US" sz="1600" dirty="0">
              <a:solidFill>
                <a:schemeClr val="tx1"/>
              </a:solidFill>
              <a:latin typeface="Arial" panose="020B0604020202020204" pitchFamily="34" charset="0"/>
            </a:endParaRPr>
          </a:p>
          <a:p>
            <a:pPr>
              <a:buFont typeface="Arial" panose="020B0604020202020204" pitchFamily="34" charset="0"/>
              <a:buChar char="•"/>
            </a:pPr>
            <a:r>
              <a:rPr lang="en-US" sz="1600" dirty="0">
                <a:solidFill>
                  <a:schemeClr val="tx1"/>
                </a:solidFill>
                <a:latin typeface="Arial" panose="020B0604020202020204" pitchFamily="34" charset="0"/>
              </a:rPr>
              <a:t>Weather</a:t>
            </a:r>
          </a:p>
          <a:p>
            <a:pPr>
              <a:buFont typeface="Arial" panose="020B0604020202020204" pitchFamily="34" charset="0"/>
              <a:buChar char="•"/>
            </a:pPr>
            <a:r>
              <a:rPr lang="en-US" sz="1600" dirty="0">
                <a:solidFill>
                  <a:schemeClr val="tx1"/>
                </a:solidFill>
                <a:latin typeface="Arial" panose="020B0604020202020204" pitchFamily="34" charset="0"/>
              </a:rPr>
              <a:t>Noise</a:t>
            </a:r>
          </a:p>
          <a:p>
            <a:pPr>
              <a:buFont typeface="Arial" panose="020B0604020202020204" pitchFamily="34" charset="0"/>
              <a:buChar char="•"/>
            </a:pPr>
            <a:r>
              <a:rPr lang="en-US" sz="1600" dirty="0">
                <a:solidFill>
                  <a:schemeClr val="tx1"/>
                </a:solidFill>
                <a:latin typeface="Arial" panose="020B0604020202020204" pitchFamily="34" charset="0"/>
              </a:rPr>
              <a:t>Health of ducks</a:t>
            </a:r>
          </a:p>
        </p:txBody>
      </p:sp>
    </p:spTree>
    <p:extLst>
      <p:ext uri="{BB962C8B-B14F-4D97-AF65-F5344CB8AC3E}">
        <p14:creationId xmlns:p14="http://schemas.microsoft.com/office/powerpoint/2010/main" val="13105128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D7D9E2C2-E8AB-6B63-CDC7-0C975115E6B1}"/>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C77AD1FA-9C58-B2DB-0778-D1120D981731}"/>
              </a:ext>
            </a:extLst>
          </p:cNvPr>
          <p:cNvGraphicFramePr>
            <a:graphicFrameLocks noGrp="1"/>
          </p:cNvGraphicFramePr>
          <p:nvPr/>
        </p:nvGraphicFramePr>
        <p:xfrm>
          <a:off x="823452" y="1485899"/>
          <a:ext cx="7708490" cy="3487994"/>
        </p:xfrm>
        <a:graphic>
          <a:graphicData uri="http://schemas.openxmlformats.org/drawingml/2006/table">
            <a:tbl>
              <a:tblPr firstRow="1" bandRow="1">
                <a:tableStyleId>{F7FF7573-9537-4162-8ACD-E87247B85FDE}</a:tableStyleId>
              </a:tblPr>
              <a:tblGrid>
                <a:gridCol w="3854245">
                  <a:extLst>
                    <a:ext uri="{9D8B030D-6E8A-4147-A177-3AD203B41FA5}">
                      <a16:colId xmlns:a16="http://schemas.microsoft.com/office/drawing/2014/main" val="130588744"/>
                    </a:ext>
                  </a:extLst>
                </a:gridCol>
                <a:gridCol w="3854245">
                  <a:extLst>
                    <a:ext uri="{9D8B030D-6E8A-4147-A177-3AD203B41FA5}">
                      <a16:colId xmlns:a16="http://schemas.microsoft.com/office/drawing/2014/main" val="1237213671"/>
                    </a:ext>
                  </a:extLst>
                </a:gridCol>
              </a:tblGrid>
              <a:tr h="1743997">
                <a:tc>
                  <a:txBody>
                    <a:bodyPr/>
                    <a:lstStyle/>
                    <a:p>
                      <a:endParaRPr lang="en-US" dirty="0"/>
                    </a:p>
                  </a:txBody>
                  <a:tcPr/>
                </a:tc>
                <a:tc>
                  <a:txBody>
                    <a:bodyPr/>
                    <a:lstStyle/>
                    <a:p>
                      <a:endParaRPr lang="en-US"/>
                    </a:p>
                  </a:txBody>
                  <a:tcPr/>
                </a:tc>
                <a:extLst>
                  <a:ext uri="{0D108BD9-81ED-4DB2-BD59-A6C34878D82A}">
                    <a16:rowId xmlns:a16="http://schemas.microsoft.com/office/drawing/2014/main" val="214290393"/>
                  </a:ext>
                </a:extLst>
              </a:tr>
              <a:tr h="1743997">
                <a:tc>
                  <a:txBody>
                    <a:bodyPr/>
                    <a:lstStyle/>
                    <a:p>
                      <a:endParaRPr lang="en-US"/>
                    </a:p>
                  </a:txBody>
                  <a:tcPr/>
                </a:tc>
                <a:tc>
                  <a:txBody>
                    <a:bodyPr/>
                    <a:lstStyle/>
                    <a:p>
                      <a:endParaRPr lang="en-US" dirty="0"/>
                    </a:p>
                  </a:txBody>
                  <a:tcPr/>
                </a:tc>
                <a:extLst>
                  <a:ext uri="{0D108BD9-81ED-4DB2-BD59-A6C34878D82A}">
                    <a16:rowId xmlns:a16="http://schemas.microsoft.com/office/drawing/2014/main" val="4184655790"/>
                  </a:ext>
                </a:extLst>
              </a:tr>
            </a:tbl>
          </a:graphicData>
        </a:graphic>
      </p:graphicFrame>
      <p:sp>
        <p:nvSpPr>
          <p:cNvPr id="2" name="Title 1">
            <a:extLst>
              <a:ext uri="{FF2B5EF4-FFF2-40B4-BE49-F238E27FC236}">
                <a16:creationId xmlns:a16="http://schemas.microsoft.com/office/drawing/2014/main" id="{2116A047-C8B8-2389-8605-D2D7BC57DA06}"/>
              </a:ext>
            </a:extLst>
          </p:cNvPr>
          <p:cNvSpPr>
            <a:spLocks noGrp="1"/>
          </p:cNvSpPr>
          <p:nvPr>
            <p:ph type="title"/>
          </p:nvPr>
        </p:nvSpPr>
        <p:spPr>
          <a:xfrm>
            <a:off x="766916" y="445025"/>
            <a:ext cx="7765026" cy="933949"/>
          </a:xfrm>
        </p:spPr>
        <p:txBody>
          <a:bodyPr>
            <a:normAutofit/>
          </a:bodyPr>
          <a:lstStyle/>
          <a:p>
            <a:r>
              <a:rPr lang="en-US" b="1" dirty="0">
                <a:solidFill>
                  <a:srgbClr val="1F4E79"/>
                </a:solidFill>
                <a:latin typeface="Arial" panose="020B0604020202020204" pitchFamily="34" charset="0"/>
              </a:rPr>
              <a:t>Hypothesis </a:t>
            </a:r>
            <a:r>
              <a:rPr lang="en-US" dirty="0">
                <a:solidFill>
                  <a:srgbClr val="1F4E79"/>
                </a:solidFill>
                <a:latin typeface="Arial" panose="020B0604020202020204" pitchFamily="34" charset="0"/>
              </a:rPr>
              <a:t>– </a:t>
            </a:r>
            <a:r>
              <a:rPr lang="en-US" sz="1600" dirty="0">
                <a:solidFill>
                  <a:schemeClr val="tx1"/>
                </a:solidFill>
                <a:latin typeface="Arial" panose="020B0604020202020204" pitchFamily="34" charset="0"/>
              </a:rPr>
              <a:t>Due to human interference throughout the day, foraging frequencies of Northern shovelers will be affected regardless of sex.</a:t>
            </a:r>
            <a:endParaRPr lang="en-US" dirty="0">
              <a:solidFill>
                <a:schemeClr val="tx1"/>
              </a:solidFill>
            </a:endParaRPr>
          </a:p>
        </p:txBody>
      </p:sp>
      <p:sp>
        <p:nvSpPr>
          <p:cNvPr id="5" name="Text Placeholder 2">
            <a:extLst>
              <a:ext uri="{FF2B5EF4-FFF2-40B4-BE49-F238E27FC236}">
                <a16:creationId xmlns:a16="http://schemas.microsoft.com/office/drawing/2014/main" id="{82FBEC37-C84F-A023-E491-A1BC2A19165E}"/>
              </a:ext>
            </a:extLst>
          </p:cNvPr>
          <p:cNvSpPr txBox="1">
            <a:spLocks/>
          </p:cNvSpPr>
          <p:nvPr/>
        </p:nvSpPr>
        <p:spPr>
          <a:xfrm>
            <a:off x="689562" y="1485899"/>
            <a:ext cx="7938244" cy="3679723"/>
          </a:xfrm>
          <a:prstGeom prst="rect">
            <a:avLst/>
          </a:prstGeom>
          <a:noFill/>
          <a:ln>
            <a:noFill/>
          </a:ln>
        </p:spPr>
        <p:txBody>
          <a:bodyPr spcFirstLastPara="1" wrap="square" lIns="91425" tIns="91425" rIns="91425" bIns="91425" numCol="2" anchor="t" anchorCtr="0">
            <a:normAutofit fontScale="92500" lnSpcReduction="20000"/>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14300" indent="0">
              <a:buNone/>
            </a:pPr>
            <a:r>
              <a:rPr lang="en-US" sz="1600" dirty="0">
                <a:solidFill>
                  <a:srgbClr val="2E75B6"/>
                </a:solidFill>
                <a:latin typeface="Arial" panose="020B0604020202020204" pitchFamily="34" charset="0"/>
              </a:rPr>
              <a:t>What can we expect out of the different types of foraging behaviors in terms of frequency and type?</a:t>
            </a:r>
          </a:p>
          <a:p>
            <a:pPr>
              <a:buFont typeface="Arial" panose="020B0604020202020204" pitchFamily="34" charset="0"/>
              <a:buChar char="•"/>
            </a:pPr>
            <a:r>
              <a:rPr lang="en-US" sz="1600" dirty="0">
                <a:solidFill>
                  <a:schemeClr val="tx1"/>
                </a:solidFill>
                <a:latin typeface="Arial" panose="020B0604020202020204" pitchFamily="34" charset="0"/>
              </a:rPr>
              <a:t>“Foraging Behavior and Habitat Choice of Wintering Northern Shoveler in a Major Wintering Quarter in France” (Guillemain et al., 2000)</a:t>
            </a:r>
          </a:p>
          <a:p>
            <a:pPr>
              <a:buFont typeface="Arial" panose="020B0604020202020204" pitchFamily="34" charset="0"/>
              <a:buChar char="•"/>
            </a:pPr>
            <a:endParaRPr lang="en-US" sz="1600" dirty="0">
              <a:solidFill>
                <a:schemeClr val="tx1"/>
              </a:solidFill>
              <a:latin typeface="Arial" panose="020B0604020202020204" pitchFamily="34" charset="0"/>
            </a:endParaRPr>
          </a:p>
          <a:p>
            <a:pPr marL="114300" indent="0">
              <a:buNone/>
            </a:pPr>
            <a:r>
              <a:rPr lang="en-US" sz="1600" dirty="0">
                <a:solidFill>
                  <a:srgbClr val="2E75B6"/>
                </a:solidFill>
                <a:latin typeface="Arial" panose="020B0604020202020204" pitchFamily="34" charset="0"/>
              </a:rPr>
              <a:t>How do shovelers behave differently in the presence of humans?</a:t>
            </a:r>
          </a:p>
          <a:p>
            <a:pPr>
              <a:buFont typeface="Arial" panose="020B0604020202020204" pitchFamily="34" charset="0"/>
              <a:buChar char="•"/>
            </a:pPr>
            <a:r>
              <a:rPr lang="en-US" sz="1600" dirty="0">
                <a:solidFill>
                  <a:schemeClr val="tx1"/>
                </a:solidFill>
                <a:latin typeface="Arial" panose="020B0604020202020204" pitchFamily="34" charset="0"/>
              </a:rPr>
              <a:t>Females spend more time foraging than males. (Afton, 1979) </a:t>
            </a:r>
          </a:p>
          <a:p>
            <a:pPr>
              <a:buFont typeface="Arial" panose="020B0604020202020204" pitchFamily="34" charset="0"/>
              <a:buChar char="•"/>
            </a:pPr>
            <a:r>
              <a:rPr lang="en-US" sz="1600" dirty="0">
                <a:solidFill>
                  <a:schemeClr val="tx1"/>
                </a:solidFill>
                <a:latin typeface="Arial" panose="020B0604020202020204" pitchFamily="34" charset="0"/>
              </a:rPr>
              <a:t>Human interaction is expected to offset this natural difference. (Rose et al., 2022)</a:t>
            </a:r>
          </a:p>
          <a:p>
            <a:pPr>
              <a:buFont typeface="Arial" panose="020B0604020202020204" pitchFamily="34" charset="0"/>
              <a:buChar char="•"/>
            </a:pPr>
            <a:endParaRPr lang="en-US" sz="1600" dirty="0">
              <a:solidFill>
                <a:schemeClr val="tx1"/>
              </a:solidFill>
              <a:latin typeface="Arial" panose="020B0604020202020204" pitchFamily="34" charset="0"/>
            </a:endParaRPr>
          </a:p>
          <a:p>
            <a:pPr marL="114300" indent="0">
              <a:buNone/>
            </a:pPr>
            <a:r>
              <a:rPr lang="en-US" sz="1600" dirty="0">
                <a:solidFill>
                  <a:srgbClr val="2E75B6"/>
                </a:solidFill>
                <a:latin typeface="Arial" panose="020B0604020202020204" pitchFamily="34" charset="0"/>
              </a:rPr>
              <a:t>Will breeding season be an important factor? If so, in what ways?</a:t>
            </a:r>
          </a:p>
          <a:p>
            <a:pPr>
              <a:buFont typeface="Arial" panose="020B0604020202020204" pitchFamily="34" charset="0"/>
              <a:buChar char="•"/>
            </a:pPr>
            <a:r>
              <a:rPr lang="en-US" sz="1600" dirty="0">
                <a:solidFill>
                  <a:schemeClr val="tx1"/>
                </a:solidFill>
                <a:latin typeface="Arial" panose="020B0604020202020204" pitchFamily="34" charset="0"/>
              </a:rPr>
              <a:t>Pre-breeding season (Jan - Mar): 25% feeding (Webb and Brotherson, 1988) </a:t>
            </a:r>
          </a:p>
          <a:p>
            <a:pPr>
              <a:buFont typeface="Arial" panose="020B0604020202020204" pitchFamily="34" charset="0"/>
              <a:buChar char="•"/>
            </a:pPr>
            <a:r>
              <a:rPr lang="en-US" sz="1600" dirty="0">
                <a:solidFill>
                  <a:schemeClr val="tx1"/>
                </a:solidFill>
                <a:latin typeface="Arial" panose="020B0604020202020204" pitchFamily="34" charset="0"/>
              </a:rPr>
              <a:t>Early breeding season (Apr - Jul): 60% feeding (Afton, 1979)</a:t>
            </a:r>
          </a:p>
          <a:p>
            <a:pPr>
              <a:buFont typeface="Arial" panose="020B0604020202020204" pitchFamily="34" charset="0"/>
              <a:buChar char="•"/>
            </a:pPr>
            <a:endParaRPr lang="en-US" sz="1600" dirty="0">
              <a:solidFill>
                <a:schemeClr val="tx1"/>
              </a:solidFill>
              <a:latin typeface="Arial" panose="020B0604020202020204" pitchFamily="34" charset="0"/>
            </a:endParaRPr>
          </a:p>
          <a:p>
            <a:pPr marL="114300" indent="0">
              <a:buNone/>
            </a:pPr>
            <a:endParaRPr lang="en-US" sz="1600" dirty="0">
              <a:solidFill>
                <a:srgbClr val="2E75B6"/>
              </a:solidFill>
              <a:latin typeface="Arial" panose="020B0604020202020204" pitchFamily="34" charset="0"/>
            </a:endParaRPr>
          </a:p>
          <a:p>
            <a:pPr marL="114300" indent="0">
              <a:buNone/>
            </a:pPr>
            <a:r>
              <a:rPr lang="en-US" sz="1600" dirty="0">
                <a:solidFill>
                  <a:srgbClr val="2E75B6"/>
                </a:solidFill>
                <a:latin typeface="Arial" panose="020B0604020202020204" pitchFamily="34" charset="0"/>
              </a:rPr>
              <a:t>How can we expect sex to affect feeding behaviors? How will this interact with breeding season?</a:t>
            </a:r>
          </a:p>
          <a:p>
            <a:pPr>
              <a:buFont typeface="Arial" panose="020B0604020202020204" pitchFamily="34" charset="0"/>
              <a:buChar char="•"/>
            </a:pPr>
            <a:r>
              <a:rPr lang="en-US" sz="1600" dirty="0">
                <a:solidFill>
                  <a:schemeClr val="tx1"/>
                </a:solidFill>
                <a:latin typeface="Arial" panose="020B0604020202020204" pitchFamily="34" charset="0"/>
              </a:rPr>
              <a:t>Time budget for foraging decreased for paired shovelers throughout breeding season. (Afton, 1979)</a:t>
            </a:r>
          </a:p>
        </p:txBody>
      </p:sp>
    </p:spTree>
    <p:extLst>
      <p:ext uri="{BB962C8B-B14F-4D97-AF65-F5344CB8AC3E}">
        <p14:creationId xmlns:p14="http://schemas.microsoft.com/office/powerpoint/2010/main" val="4151763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F724DC27-D9D9-26E3-3B98-8BBD2C1546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335A95-6084-20C1-084C-F3BAA3DE294D}"/>
              </a:ext>
            </a:extLst>
          </p:cNvPr>
          <p:cNvSpPr>
            <a:spLocks noGrp="1"/>
          </p:cNvSpPr>
          <p:nvPr>
            <p:ph type="title"/>
          </p:nvPr>
        </p:nvSpPr>
        <p:spPr>
          <a:xfrm>
            <a:off x="766916" y="445025"/>
            <a:ext cx="8065384" cy="705349"/>
          </a:xfrm>
        </p:spPr>
        <p:txBody>
          <a:bodyPr>
            <a:normAutofit/>
          </a:bodyPr>
          <a:lstStyle/>
          <a:p>
            <a:r>
              <a:rPr lang="en-US" b="1" dirty="0">
                <a:solidFill>
                  <a:srgbClr val="1F4E79"/>
                </a:solidFill>
                <a:latin typeface="Arial" panose="020B0604020202020204" pitchFamily="34" charset="0"/>
              </a:rPr>
              <a:t>Methods</a:t>
            </a:r>
            <a:endParaRPr lang="en-US" dirty="0">
              <a:solidFill>
                <a:schemeClr val="tx1"/>
              </a:solidFill>
            </a:endParaRPr>
          </a:p>
        </p:txBody>
      </p:sp>
      <p:sp>
        <p:nvSpPr>
          <p:cNvPr id="5" name="Text Placeholder 2">
            <a:extLst>
              <a:ext uri="{FF2B5EF4-FFF2-40B4-BE49-F238E27FC236}">
                <a16:creationId xmlns:a16="http://schemas.microsoft.com/office/drawing/2014/main" id="{49ADDEA0-0E1F-4088-A60C-617A7F0BDE5A}"/>
              </a:ext>
            </a:extLst>
          </p:cNvPr>
          <p:cNvSpPr txBox="1">
            <a:spLocks/>
          </p:cNvSpPr>
          <p:nvPr/>
        </p:nvSpPr>
        <p:spPr>
          <a:xfrm>
            <a:off x="689561" y="968985"/>
            <a:ext cx="4295393" cy="4174515"/>
          </a:xfrm>
          <a:prstGeom prst="rect">
            <a:avLst/>
          </a:prstGeom>
          <a:noFill/>
          <a:ln>
            <a:noFill/>
          </a:ln>
        </p:spPr>
        <p:txBody>
          <a:bodyPr spcFirstLastPara="1" wrap="square" lIns="91425" tIns="91425" rIns="91425" bIns="91425" anchor="t" anchorCtr="0">
            <a:normAutofit fontScale="70000" lnSpcReduction="20000"/>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14300" indent="0">
              <a:buNone/>
            </a:pPr>
            <a:r>
              <a:rPr lang="en-US" sz="1600" dirty="0">
                <a:solidFill>
                  <a:srgbClr val="2E75B6"/>
                </a:solidFill>
                <a:latin typeface="Arial" panose="020B0604020202020204" pitchFamily="34" charset="0"/>
              </a:rPr>
              <a:t>Where: </a:t>
            </a:r>
            <a:r>
              <a:rPr lang="en-US" sz="1600" dirty="0">
                <a:solidFill>
                  <a:schemeClr val="tx1"/>
                </a:solidFill>
                <a:latin typeface="Arial" panose="020B0604020202020204" pitchFamily="34" charset="0"/>
              </a:rPr>
              <a:t>Mueller Lake Park in Austin, Texas</a:t>
            </a:r>
            <a:endParaRPr lang="en-US" sz="1600" dirty="0">
              <a:solidFill>
                <a:srgbClr val="2E75B6"/>
              </a:solidFill>
              <a:latin typeface="Arial" panose="020B0604020202020204" pitchFamily="34" charset="0"/>
            </a:endParaRPr>
          </a:p>
          <a:p>
            <a:pPr marL="114300" indent="0">
              <a:buNone/>
            </a:pPr>
            <a:endParaRPr lang="en-US" sz="1600" dirty="0">
              <a:solidFill>
                <a:srgbClr val="2E75B6"/>
              </a:solidFill>
              <a:latin typeface="Arial" panose="020B0604020202020204" pitchFamily="34" charset="0"/>
            </a:endParaRPr>
          </a:p>
          <a:p>
            <a:pPr marL="114300" indent="0">
              <a:buNone/>
            </a:pPr>
            <a:r>
              <a:rPr lang="en-US" sz="1600" dirty="0">
                <a:solidFill>
                  <a:srgbClr val="2E75B6"/>
                </a:solidFill>
                <a:latin typeface="Arial" panose="020B0604020202020204" pitchFamily="34" charset="0"/>
              </a:rPr>
              <a:t>When: </a:t>
            </a:r>
            <a:r>
              <a:rPr lang="en-US" sz="1600" dirty="0">
                <a:solidFill>
                  <a:schemeClr val="tx1"/>
                </a:solidFill>
                <a:latin typeface="Arial" panose="020B0604020202020204" pitchFamily="34" charset="0"/>
              </a:rPr>
              <a:t>Feb 23 - Mar 6 from 9 AM – 7 PM</a:t>
            </a:r>
          </a:p>
          <a:p>
            <a:pPr marL="114300" indent="0">
              <a:buNone/>
            </a:pPr>
            <a:endParaRPr lang="en-US" sz="1600" dirty="0">
              <a:solidFill>
                <a:srgbClr val="2E75B6"/>
              </a:solidFill>
              <a:latin typeface="Arial" panose="020B0604020202020204" pitchFamily="34" charset="0"/>
            </a:endParaRPr>
          </a:p>
          <a:p>
            <a:pPr marL="114300" indent="0">
              <a:buNone/>
            </a:pPr>
            <a:r>
              <a:rPr lang="en-US" sz="1600" dirty="0">
                <a:solidFill>
                  <a:srgbClr val="2E75B6"/>
                </a:solidFill>
                <a:latin typeface="Arial" panose="020B0604020202020204" pitchFamily="34" charset="0"/>
              </a:rPr>
              <a:t>Experiment Variables: </a:t>
            </a:r>
          </a:p>
          <a:p>
            <a:pPr marL="114300" indent="0">
              <a:buNone/>
            </a:pPr>
            <a:r>
              <a:rPr lang="en-US" sz="1600" dirty="0">
                <a:solidFill>
                  <a:schemeClr val="tx1"/>
                </a:solidFill>
                <a:latin typeface="Arial" panose="020B0604020202020204" pitchFamily="34" charset="0"/>
              </a:rPr>
              <a:t>a)</a:t>
            </a:r>
            <a:r>
              <a:rPr lang="en-US" sz="1600" dirty="0">
                <a:solidFill>
                  <a:srgbClr val="2E75B6"/>
                </a:solidFill>
                <a:latin typeface="Arial" panose="020B0604020202020204" pitchFamily="34" charset="0"/>
              </a:rPr>
              <a:t> </a:t>
            </a:r>
            <a:r>
              <a:rPr lang="en-US" sz="1600" dirty="0">
                <a:solidFill>
                  <a:schemeClr val="tx1"/>
                </a:solidFill>
                <a:latin typeface="Arial" panose="020B0604020202020204" pitchFamily="34" charset="0"/>
              </a:rPr>
              <a:t>Independent variable: </a:t>
            </a:r>
            <a:br>
              <a:rPr lang="en-US" sz="1600" dirty="0">
                <a:solidFill>
                  <a:schemeClr val="tx1"/>
                </a:solidFill>
                <a:latin typeface="Arial" panose="020B0604020202020204" pitchFamily="34" charset="0"/>
              </a:rPr>
            </a:br>
            <a:r>
              <a:rPr lang="en-US" sz="1600" dirty="0">
                <a:solidFill>
                  <a:schemeClr val="tx1"/>
                </a:solidFill>
                <a:latin typeface="Arial" panose="020B0604020202020204" pitchFamily="34" charset="0"/>
              </a:rPr>
              <a:t>       Time of Day (ordinal: morning (9 AM–12 PM), afternoon </a:t>
            </a:r>
          </a:p>
          <a:p>
            <a:pPr marL="114300" indent="0">
              <a:buNone/>
            </a:pPr>
            <a:r>
              <a:rPr lang="en-US" sz="1600" dirty="0">
                <a:solidFill>
                  <a:schemeClr val="tx1"/>
                </a:solidFill>
                <a:latin typeface="Arial" panose="020B0604020202020204" pitchFamily="34" charset="0"/>
              </a:rPr>
              <a:t>                             (12–3 PM), and evening (3–7 PM))</a:t>
            </a:r>
          </a:p>
          <a:p>
            <a:pPr marL="114300" indent="0">
              <a:buNone/>
            </a:pPr>
            <a:r>
              <a:rPr lang="en-US" sz="1600" dirty="0">
                <a:solidFill>
                  <a:schemeClr val="tx1"/>
                </a:solidFill>
                <a:latin typeface="Arial" panose="020B0604020202020204" pitchFamily="34" charset="0"/>
              </a:rPr>
              <a:t>       Sex (nominal: female and male) </a:t>
            </a:r>
          </a:p>
          <a:p>
            <a:pPr marL="114300" indent="0">
              <a:buNone/>
            </a:pPr>
            <a:r>
              <a:rPr lang="en-US" sz="1600" dirty="0">
                <a:solidFill>
                  <a:schemeClr val="tx1"/>
                </a:solidFill>
                <a:latin typeface="Arial" panose="020B0604020202020204" pitchFamily="34" charset="0"/>
              </a:rPr>
              <a:t>b) Dependent variable: </a:t>
            </a:r>
            <a:br>
              <a:rPr lang="en-US" sz="1600" dirty="0">
                <a:solidFill>
                  <a:schemeClr val="tx1"/>
                </a:solidFill>
                <a:latin typeface="Arial" panose="020B0604020202020204" pitchFamily="34" charset="0"/>
              </a:rPr>
            </a:br>
            <a:r>
              <a:rPr lang="en-US" sz="1600" dirty="0">
                <a:solidFill>
                  <a:schemeClr val="tx1"/>
                </a:solidFill>
                <a:latin typeface="Arial" panose="020B0604020202020204" pitchFamily="34" charset="0"/>
              </a:rPr>
              <a:t>       Frequency of Feeding Behaviors per 10 minutes </a:t>
            </a:r>
          </a:p>
          <a:p>
            <a:pPr marL="114300" indent="0">
              <a:buNone/>
            </a:pPr>
            <a:r>
              <a:rPr lang="en-US" sz="1600" dirty="0">
                <a:solidFill>
                  <a:schemeClr val="tx1"/>
                </a:solidFill>
                <a:latin typeface="Arial" panose="020B0604020202020204" pitchFamily="34" charset="0"/>
              </a:rPr>
              <a:t>       (Scan Sampling (Lehner, 1998))</a:t>
            </a:r>
          </a:p>
          <a:p>
            <a:pPr marL="114300" indent="0">
              <a:buNone/>
            </a:pPr>
            <a:endParaRPr lang="en-US" sz="1600" dirty="0">
              <a:solidFill>
                <a:srgbClr val="2E75B6"/>
              </a:solidFill>
              <a:latin typeface="Arial" panose="020B0604020202020204" pitchFamily="34" charset="0"/>
            </a:endParaRPr>
          </a:p>
          <a:p>
            <a:pPr marL="114300" indent="0">
              <a:buNone/>
            </a:pPr>
            <a:r>
              <a:rPr lang="en-US" dirty="0">
                <a:solidFill>
                  <a:srgbClr val="2E75B6"/>
                </a:solidFill>
                <a:latin typeface="Arial" panose="020B0604020202020204" pitchFamily="34" charset="0"/>
              </a:rPr>
              <a:t>Environmental Variables Tracked:</a:t>
            </a:r>
          </a:p>
          <a:p>
            <a:pPr marL="114300" indent="0">
              <a:buNone/>
            </a:pPr>
            <a:r>
              <a:rPr lang="en-US" sz="1600" dirty="0">
                <a:solidFill>
                  <a:schemeClr val="tx1"/>
                </a:solidFill>
                <a:latin typeface="Arial" panose="020B0604020202020204" pitchFamily="34" charset="0"/>
              </a:rPr>
              <a:t>Temperature (continuous – hourly from </a:t>
            </a:r>
            <a:r>
              <a:rPr lang="en-US" sz="1600" dirty="0" err="1">
                <a:solidFill>
                  <a:schemeClr val="tx1"/>
                </a:solidFill>
                <a:latin typeface="Arial" panose="020B0604020202020204" pitchFamily="34" charset="0"/>
              </a:rPr>
              <a:t>weather.com</a:t>
            </a:r>
            <a:r>
              <a:rPr lang="en-US" sz="1600" dirty="0">
                <a:solidFill>
                  <a:schemeClr val="tx1"/>
                </a:solidFill>
                <a:latin typeface="Arial" panose="020B0604020202020204" pitchFamily="34" charset="0"/>
              </a:rPr>
              <a:t>), human presence (nominal), proximity to breeding season (ordinal), and weather conditions </a:t>
            </a:r>
          </a:p>
          <a:p>
            <a:pPr marL="114300" indent="0">
              <a:buNone/>
            </a:pPr>
            <a:endParaRPr lang="en-US" sz="1600" dirty="0">
              <a:solidFill>
                <a:srgbClr val="2E75B6"/>
              </a:solidFill>
              <a:latin typeface="Arial" panose="020B0604020202020204" pitchFamily="34" charset="0"/>
            </a:endParaRPr>
          </a:p>
          <a:p>
            <a:pPr marL="114300" indent="0">
              <a:buNone/>
            </a:pPr>
            <a:r>
              <a:rPr lang="en-US" sz="1600" dirty="0">
                <a:solidFill>
                  <a:srgbClr val="2E75B6"/>
                </a:solidFill>
                <a:latin typeface="Arial" panose="020B0604020202020204" pitchFamily="34" charset="0"/>
              </a:rPr>
              <a:t>Sample Size: </a:t>
            </a:r>
            <a:r>
              <a:rPr lang="en-US" sz="1600" dirty="0">
                <a:solidFill>
                  <a:schemeClr val="tx1"/>
                </a:solidFill>
                <a:latin typeface="Arial" panose="020B0604020202020204" pitchFamily="34" charset="0"/>
              </a:rPr>
              <a:t>varies 0 – 50 </a:t>
            </a:r>
            <a:endParaRPr lang="en-US" sz="1600" dirty="0">
              <a:solidFill>
                <a:srgbClr val="2E75B6"/>
              </a:solidFill>
              <a:latin typeface="Arial" panose="020B0604020202020204" pitchFamily="34" charset="0"/>
            </a:endParaRPr>
          </a:p>
          <a:p>
            <a:pPr marL="114300" indent="0">
              <a:buNone/>
            </a:pPr>
            <a:endParaRPr lang="en-US" sz="1600" dirty="0">
              <a:solidFill>
                <a:srgbClr val="2E75B6"/>
              </a:solidFill>
              <a:latin typeface="Arial" panose="020B0604020202020204" pitchFamily="34" charset="0"/>
            </a:endParaRPr>
          </a:p>
          <a:p>
            <a:pPr marL="114300" indent="0">
              <a:buNone/>
            </a:pPr>
            <a:r>
              <a:rPr lang="en-US" sz="1600" dirty="0">
                <a:solidFill>
                  <a:srgbClr val="2E75B6"/>
                </a:solidFill>
                <a:latin typeface="Arial" panose="020B0604020202020204" pitchFamily="34" charset="0"/>
              </a:rPr>
              <a:t>Other Species: </a:t>
            </a:r>
            <a:r>
              <a:rPr lang="en-US" sz="1600" dirty="0">
                <a:solidFill>
                  <a:schemeClr val="tx1"/>
                </a:solidFill>
                <a:latin typeface="Arial" panose="020B0604020202020204" pitchFamily="34" charset="0"/>
              </a:rPr>
              <a:t>waterfowl species (e.g., mallards (</a:t>
            </a:r>
            <a:r>
              <a:rPr lang="en-US" sz="1600" i="1" dirty="0">
                <a:solidFill>
                  <a:schemeClr val="tx1"/>
                </a:solidFill>
                <a:latin typeface="Arial" panose="020B0604020202020204" pitchFamily="34" charset="0"/>
              </a:rPr>
              <a:t>Anas platyrhynchos</a:t>
            </a:r>
            <a:r>
              <a:rPr lang="en-US" sz="1600" dirty="0">
                <a:solidFill>
                  <a:schemeClr val="tx1"/>
                </a:solidFill>
                <a:latin typeface="Arial" panose="020B0604020202020204" pitchFamily="34" charset="0"/>
              </a:rPr>
              <a:t>), pigeons (</a:t>
            </a:r>
            <a:r>
              <a:rPr lang="en-US" sz="1600" i="1" dirty="0">
                <a:solidFill>
                  <a:schemeClr val="tx1"/>
                </a:solidFill>
                <a:latin typeface="Arial" panose="020B0604020202020204" pitchFamily="34" charset="0"/>
              </a:rPr>
              <a:t>Columba </a:t>
            </a:r>
            <a:r>
              <a:rPr lang="en-US" sz="1600" i="1" dirty="0" err="1">
                <a:solidFill>
                  <a:schemeClr val="tx1"/>
                </a:solidFill>
                <a:latin typeface="Arial" panose="020B0604020202020204" pitchFamily="34" charset="0"/>
              </a:rPr>
              <a:t>livia</a:t>
            </a:r>
            <a:r>
              <a:rPr lang="en-US" sz="1600" dirty="0">
                <a:solidFill>
                  <a:schemeClr val="tx1"/>
                </a:solidFill>
                <a:latin typeface="Arial" panose="020B0604020202020204" pitchFamily="34" charset="0"/>
              </a:rPr>
              <a:t>), American coots (</a:t>
            </a:r>
            <a:r>
              <a:rPr lang="en-US" sz="1600" i="1" dirty="0">
                <a:solidFill>
                  <a:schemeClr val="tx1"/>
                </a:solidFill>
                <a:latin typeface="Arial" panose="020B0604020202020204" pitchFamily="34" charset="0"/>
              </a:rPr>
              <a:t>Fulica americana</a:t>
            </a:r>
            <a:r>
              <a:rPr lang="en-US" sz="1600" dirty="0">
                <a:solidFill>
                  <a:schemeClr val="tx1"/>
                </a:solidFill>
                <a:latin typeface="Arial" panose="020B0604020202020204" pitchFamily="34" charset="0"/>
              </a:rPr>
              <a:t>)) </a:t>
            </a:r>
          </a:p>
          <a:p>
            <a:pPr marL="114300" indent="0">
              <a:buNone/>
            </a:pPr>
            <a:endParaRPr lang="en-US" sz="1600" dirty="0">
              <a:solidFill>
                <a:srgbClr val="2E75B6"/>
              </a:solidFill>
              <a:latin typeface="Arial" panose="020B0604020202020204" pitchFamily="34" charset="0"/>
            </a:endParaRPr>
          </a:p>
          <a:p>
            <a:pPr marL="114300" indent="0">
              <a:buNone/>
            </a:pPr>
            <a:endParaRPr lang="en-US" sz="1600" dirty="0">
              <a:solidFill>
                <a:schemeClr val="tx1"/>
              </a:solidFill>
              <a:latin typeface="Arial" panose="020B0604020202020204" pitchFamily="34" charset="0"/>
            </a:endParaRPr>
          </a:p>
        </p:txBody>
      </p:sp>
      <p:pic>
        <p:nvPicPr>
          <p:cNvPr id="3" name="Google Shape;130;p19">
            <a:extLst>
              <a:ext uri="{FF2B5EF4-FFF2-40B4-BE49-F238E27FC236}">
                <a16:creationId xmlns:a16="http://schemas.microsoft.com/office/drawing/2014/main" id="{31993E6E-2C26-505B-A8BD-5199AB80A8F3}"/>
              </a:ext>
            </a:extLst>
          </p:cNvPr>
          <p:cNvPicPr preferRelativeResize="0"/>
          <p:nvPr/>
        </p:nvPicPr>
        <p:blipFill>
          <a:blip r:embed="rId4">
            <a:alphaModFix/>
          </a:blip>
          <a:stretch>
            <a:fillRect/>
          </a:stretch>
        </p:blipFill>
        <p:spPr>
          <a:xfrm>
            <a:off x="5031815" y="1319063"/>
            <a:ext cx="3422624" cy="2350180"/>
          </a:xfrm>
          <a:prstGeom prst="rect">
            <a:avLst/>
          </a:prstGeom>
          <a:noFill/>
          <a:ln w="28575" cap="flat" cmpd="sng">
            <a:solidFill>
              <a:schemeClr val="lt1"/>
            </a:solidFill>
            <a:prstDash val="solid"/>
            <a:round/>
            <a:headEnd type="none" w="sm" len="sm"/>
            <a:tailEnd type="none" w="sm" len="sm"/>
          </a:ln>
        </p:spPr>
      </p:pic>
      <p:pic>
        <p:nvPicPr>
          <p:cNvPr id="4" name="Google Shape;131;p19">
            <a:extLst>
              <a:ext uri="{FF2B5EF4-FFF2-40B4-BE49-F238E27FC236}">
                <a16:creationId xmlns:a16="http://schemas.microsoft.com/office/drawing/2014/main" id="{92131C3F-BD38-09F6-D63E-E5F451FE4205}"/>
              </a:ext>
            </a:extLst>
          </p:cNvPr>
          <p:cNvPicPr preferRelativeResize="0"/>
          <p:nvPr/>
        </p:nvPicPr>
        <p:blipFill>
          <a:blip r:embed="rId5">
            <a:alphaModFix/>
          </a:blip>
          <a:stretch>
            <a:fillRect/>
          </a:stretch>
        </p:blipFill>
        <p:spPr>
          <a:xfrm flipH="1">
            <a:off x="5132022" y="3988234"/>
            <a:ext cx="975809" cy="1074150"/>
          </a:xfrm>
          <a:prstGeom prst="rect">
            <a:avLst/>
          </a:prstGeom>
          <a:noFill/>
          <a:ln>
            <a:noFill/>
          </a:ln>
        </p:spPr>
      </p:pic>
      <p:pic>
        <p:nvPicPr>
          <p:cNvPr id="6" name="Google Shape;132;p19">
            <a:extLst>
              <a:ext uri="{FF2B5EF4-FFF2-40B4-BE49-F238E27FC236}">
                <a16:creationId xmlns:a16="http://schemas.microsoft.com/office/drawing/2014/main" id="{CE605537-3724-012B-BD8B-6160EB645E10}"/>
              </a:ext>
            </a:extLst>
          </p:cNvPr>
          <p:cNvPicPr preferRelativeResize="0"/>
          <p:nvPr/>
        </p:nvPicPr>
        <p:blipFill>
          <a:blip r:embed="rId6">
            <a:alphaModFix/>
          </a:blip>
          <a:stretch>
            <a:fillRect/>
          </a:stretch>
        </p:blipFill>
        <p:spPr>
          <a:xfrm>
            <a:off x="6254899" y="4169523"/>
            <a:ext cx="794340" cy="794338"/>
          </a:xfrm>
          <a:prstGeom prst="rect">
            <a:avLst/>
          </a:prstGeom>
          <a:noFill/>
          <a:ln>
            <a:noFill/>
          </a:ln>
        </p:spPr>
      </p:pic>
      <p:pic>
        <p:nvPicPr>
          <p:cNvPr id="7" name="Google Shape;133;p19">
            <a:extLst>
              <a:ext uri="{FF2B5EF4-FFF2-40B4-BE49-F238E27FC236}">
                <a16:creationId xmlns:a16="http://schemas.microsoft.com/office/drawing/2014/main" id="{B122F217-5D1B-5F7F-4C60-C5350473D9AC}"/>
              </a:ext>
            </a:extLst>
          </p:cNvPr>
          <p:cNvPicPr preferRelativeResize="0"/>
          <p:nvPr/>
        </p:nvPicPr>
        <p:blipFill>
          <a:blip r:embed="rId7">
            <a:alphaModFix/>
          </a:blip>
          <a:stretch>
            <a:fillRect/>
          </a:stretch>
        </p:blipFill>
        <p:spPr>
          <a:xfrm>
            <a:off x="7049239" y="4169518"/>
            <a:ext cx="1332837" cy="794338"/>
          </a:xfrm>
          <a:prstGeom prst="rect">
            <a:avLst/>
          </a:prstGeom>
          <a:noFill/>
          <a:ln>
            <a:noFill/>
          </a:ln>
        </p:spPr>
      </p:pic>
    </p:spTree>
    <p:extLst>
      <p:ext uri="{BB962C8B-B14F-4D97-AF65-F5344CB8AC3E}">
        <p14:creationId xmlns:p14="http://schemas.microsoft.com/office/powerpoint/2010/main" val="20963839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7D6B2B4-43D2-C1ED-256D-E0D1E5D64D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F872CE-D005-A388-C9EF-AC99C1FE58B2}"/>
              </a:ext>
            </a:extLst>
          </p:cNvPr>
          <p:cNvSpPr>
            <a:spLocks noGrp="1"/>
          </p:cNvSpPr>
          <p:nvPr>
            <p:ph type="title"/>
          </p:nvPr>
        </p:nvSpPr>
        <p:spPr>
          <a:xfrm>
            <a:off x="766916" y="445025"/>
            <a:ext cx="8065384" cy="572700"/>
          </a:xfrm>
        </p:spPr>
        <p:txBody>
          <a:bodyPr>
            <a:normAutofit fontScale="90000"/>
          </a:bodyPr>
          <a:lstStyle/>
          <a:p>
            <a:r>
              <a:rPr lang="en-US" b="1" dirty="0">
                <a:solidFill>
                  <a:srgbClr val="1F4E79"/>
                </a:solidFill>
                <a:latin typeface="Arial" panose="020B0604020202020204" pitchFamily="34" charset="0"/>
              </a:rPr>
              <a:t>Predictions</a:t>
            </a:r>
            <a:endParaRPr lang="en-US" dirty="0"/>
          </a:p>
        </p:txBody>
      </p:sp>
      <p:sp>
        <p:nvSpPr>
          <p:cNvPr id="3" name="Text Placeholder 2">
            <a:extLst>
              <a:ext uri="{FF2B5EF4-FFF2-40B4-BE49-F238E27FC236}">
                <a16:creationId xmlns:a16="http://schemas.microsoft.com/office/drawing/2014/main" id="{B511DBFF-9736-6896-5A50-D1F03FA3459A}"/>
              </a:ext>
            </a:extLst>
          </p:cNvPr>
          <p:cNvSpPr>
            <a:spLocks noGrp="1"/>
          </p:cNvSpPr>
          <p:nvPr>
            <p:ph type="body" idx="1"/>
          </p:nvPr>
        </p:nvSpPr>
        <p:spPr>
          <a:xfrm>
            <a:off x="678426" y="1214949"/>
            <a:ext cx="8065384" cy="3777380"/>
          </a:xfrm>
        </p:spPr>
        <p:txBody>
          <a:bodyPr>
            <a:normAutofit/>
          </a:bodyPr>
          <a:lstStyle/>
          <a:p>
            <a:pPr marL="114300" indent="0">
              <a:buNone/>
            </a:pPr>
            <a:r>
              <a:rPr lang="en-US" sz="1600" dirty="0">
                <a:solidFill>
                  <a:schemeClr val="tx1"/>
                </a:solidFill>
              </a:rPr>
              <a:t>Based on the biological hypothesis and prior literature, the following predictions were made prior to data collection:</a:t>
            </a:r>
          </a:p>
          <a:p>
            <a:pPr marL="114300" indent="0">
              <a:buNone/>
            </a:pPr>
            <a:endParaRPr lang="en-US" sz="1600" dirty="0">
              <a:solidFill>
                <a:schemeClr val="tx1"/>
              </a:solidFill>
              <a:latin typeface="Arial" panose="020B0604020202020204" pitchFamily="34" charset="0"/>
            </a:endParaRPr>
          </a:p>
          <a:p>
            <a:pPr marL="114300" indent="0">
              <a:buNone/>
            </a:pPr>
            <a:r>
              <a:rPr lang="en-US" sz="1600" dirty="0">
                <a:solidFill>
                  <a:schemeClr val="tx1"/>
                </a:solidFill>
                <a:latin typeface="Arial" panose="020B0604020202020204" pitchFamily="34" charset="0"/>
              </a:rPr>
              <a:t>1. The time budgets of foraging behaviors should not differ greatly between male and female Northern shovelers. </a:t>
            </a:r>
          </a:p>
          <a:p>
            <a:pPr marL="114300" indent="0">
              <a:buNone/>
            </a:pPr>
            <a:endParaRPr lang="en-US" sz="1600" dirty="0">
              <a:solidFill>
                <a:schemeClr val="tx1"/>
              </a:solidFill>
              <a:latin typeface="Arial" panose="020B0604020202020204" pitchFamily="34" charset="0"/>
            </a:endParaRPr>
          </a:p>
          <a:p>
            <a:pPr marL="114300" indent="0">
              <a:buNone/>
            </a:pPr>
            <a:r>
              <a:rPr lang="en-US" sz="1600" dirty="0">
                <a:solidFill>
                  <a:schemeClr val="tx1"/>
                </a:solidFill>
                <a:latin typeface="Arial" panose="020B0604020202020204" pitchFamily="34" charset="0"/>
              </a:rPr>
              <a:t>2. The time budgets of foraging behaviors should differ greatly throughout the different times of day (morning, afternoon, and evening). </a:t>
            </a:r>
          </a:p>
          <a:p>
            <a:pPr marL="114300" indent="0">
              <a:buNone/>
            </a:pPr>
            <a:endParaRPr lang="en-US" sz="1600" dirty="0">
              <a:solidFill>
                <a:schemeClr val="tx1"/>
              </a:solidFill>
              <a:latin typeface="Arial" panose="020B0604020202020204" pitchFamily="34" charset="0"/>
            </a:endParaRPr>
          </a:p>
          <a:p>
            <a:pPr marL="114300" indent="0">
              <a:buNone/>
            </a:pPr>
            <a:r>
              <a:rPr lang="en-US" sz="1600" dirty="0">
                <a:solidFill>
                  <a:schemeClr val="tx1"/>
                </a:solidFill>
                <a:latin typeface="Arial" panose="020B0604020202020204" pitchFamily="34" charset="0"/>
              </a:rPr>
              <a:t>3. The dabbling behavior will be the most frequent foraging behavior.</a:t>
            </a:r>
            <a:endParaRPr lang="en-US" sz="1600" dirty="0">
              <a:solidFill>
                <a:schemeClr val="tx1"/>
              </a:solidFill>
            </a:endParaRPr>
          </a:p>
        </p:txBody>
      </p:sp>
    </p:spTree>
    <p:extLst>
      <p:ext uri="{BB962C8B-B14F-4D97-AF65-F5344CB8AC3E}">
        <p14:creationId xmlns:p14="http://schemas.microsoft.com/office/powerpoint/2010/main" val="28720135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3"/>
        <p:cNvGrpSpPr/>
        <p:nvPr/>
      </p:nvGrpSpPr>
      <p:grpSpPr>
        <a:xfrm>
          <a:off x="0" y="0"/>
          <a:ext cx="0" cy="0"/>
          <a:chOff x="0" y="0"/>
          <a:chExt cx="0" cy="0"/>
        </a:xfrm>
      </p:grpSpPr>
      <p:graphicFrame>
        <p:nvGraphicFramePr>
          <p:cNvPr id="155" name="Google Shape;155;p22"/>
          <p:cNvGraphicFramePr/>
          <p:nvPr>
            <p:extLst>
              <p:ext uri="{D42A27DB-BD31-4B8C-83A1-F6EECF244321}">
                <p14:modId xmlns:p14="http://schemas.microsoft.com/office/powerpoint/2010/main" val="3670009884"/>
              </p:ext>
            </p:extLst>
          </p:nvPr>
        </p:nvGraphicFramePr>
        <p:xfrm>
          <a:off x="5024800" y="1017724"/>
          <a:ext cx="3339900" cy="1447500"/>
        </p:xfrm>
        <a:graphic>
          <a:graphicData uri="http://schemas.openxmlformats.org/drawingml/2006/table">
            <a:tbl>
              <a:tblPr>
                <a:noFill/>
                <a:tableStyleId>{F7FF7573-9537-4162-8ACD-E87247B85FDE}</a:tableStyleId>
              </a:tblPr>
              <a:tblGrid>
                <a:gridCol w="1113300">
                  <a:extLst>
                    <a:ext uri="{9D8B030D-6E8A-4147-A177-3AD203B41FA5}">
                      <a16:colId xmlns:a16="http://schemas.microsoft.com/office/drawing/2014/main" val="20000"/>
                    </a:ext>
                  </a:extLst>
                </a:gridCol>
                <a:gridCol w="1113300">
                  <a:extLst>
                    <a:ext uri="{9D8B030D-6E8A-4147-A177-3AD203B41FA5}">
                      <a16:colId xmlns:a16="http://schemas.microsoft.com/office/drawing/2014/main" val="20001"/>
                    </a:ext>
                  </a:extLst>
                </a:gridCol>
                <a:gridCol w="1113300">
                  <a:extLst>
                    <a:ext uri="{9D8B030D-6E8A-4147-A177-3AD203B41FA5}">
                      <a16:colId xmlns:a16="http://schemas.microsoft.com/office/drawing/2014/main" val="20002"/>
                    </a:ext>
                  </a:extLst>
                </a:gridCol>
              </a:tblGrid>
              <a:tr h="289500">
                <a:tc>
                  <a:txBody>
                    <a:bodyPr/>
                    <a:lstStyle/>
                    <a:p>
                      <a:pPr marL="0" lvl="0" indent="0" algn="ctr" rtl="0">
                        <a:lnSpc>
                          <a:spcPct val="115000"/>
                        </a:lnSpc>
                        <a:spcBef>
                          <a:spcPts val="0"/>
                        </a:spcBef>
                        <a:spcAft>
                          <a:spcPts val="0"/>
                        </a:spcAft>
                        <a:buNone/>
                      </a:pPr>
                      <a:r>
                        <a:rPr lang="en" b="1"/>
                        <a:t>Behavior</a:t>
                      </a:r>
                      <a:endParaRPr b="1"/>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ctr" rtl="0">
                        <a:lnSpc>
                          <a:spcPct val="115000"/>
                        </a:lnSpc>
                        <a:spcBef>
                          <a:spcPts val="0"/>
                        </a:spcBef>
                        <a:spcAft>
                          <a:spcPts val="0"/>
                        </a:spcAft>
                        <a:buNone/>
                      </a:pPr>
                      <a:r>
                        <a:rPr lang="en" b="1"/>
                        <a:t>W</a:t>
                      </a:r>
                      <a:endParaRPr b="1"/>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ctr" rtl="0">
                        <a:lnSpc>
                          <a:spcPct val="115000"/>
                        </a:lnSpc>
                        <a:spcBef>
                          <a:spcPts val="0"/>
                        </a:spcBef>
                        <a:spcAft>
                          <a:spcPts val="0"/>
                        </a:spcAft>
                        <a:buNone/>
                      </a:pPr>
                      <a:r>
                        <a:rPr lang="en" b="1"/>
                        <a:t>p-value</a:t>
                      </a:r>
                      <a:endParaRPr b="1"/>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extLst>
                  <a:ext uri="{0D108BD9-81ED-4DB2-BD59-A6C34878D82A}">
                    <a16:rowId xmlns:a16="http://schemas.microsoft.com/office/drawing/2014/main" val="10000"/>
                  </a:ext>
                </a:extLst>
              </a:tr>
              <a:tr h="289500">
                <a:tc>
                  <a:txBody>
                    <a:bodyPr/>
                    <a:lstStyle/>
                    <a:p>
                      <a:pPr marL="0" lvl="0" indent="0" algn="l" rtl="0">
                        <a:lnSpc>
                          <a:spcPct val="115000"/>
                        </a:lnSpc>
                        <a:spcBef>
                          <a:spcPts val="0"/>
                        </a:spcBef>
                        <a:spcAft>
                          <a:spcPts val="0"/>
                        </a:spcAft>
                        <a:buNone/>
                      </a:pPr>
                      <a:r>
                        <a:rPr lang="en"/>
                        <a:t>pecking</a:t>
                      </a:r>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r" rtl="0">
                        <a:lnSpc>
                          <a:spcPct val="115000"/>
                        </a:lnSpc>
                        <a:spcBef>
                          <a:spcPts val="0"/>
                        </a:spcBef>
                        <a:spcAft>
                          <a:spcPts val="0"/>
                        </a:spcAft>
                        <a:buNone/>
                      </a:pPr>
                      <a:r>
                        <a:rPr lang="en"/>
                        <a:t>0.72116</a:t>
                      </a:r>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r" rtl="0">
                        <a:lnSpc>
                          <a:spcPct val="115000"/>
                        </a:lnSpc>
                        <a:spcBef>
                          <a:spcPts val="0"/>
                        </a:spcBef>
                        <a:spcAft>
                          <a:spcPts val="0"/>
                        </a:spcAft>
                        <a:buNone/>
                      </a:pPr>
                      <a:r>
                        <a:rPr lang="en"/>
                        <a:t>3.66E-14</a:t>
                      </a:r>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extLst>
                  <a:ext uri="{0D108BD9-81ED-4DB2-BD59-A6C34878D82A}">
                    <a16:rowId xmlns:a16="http://schemas.microsoft.com/office/drawing/2014/main" val="10001"/>
                  </a:ext>
                </a:extLst>
              </a:tr>
              <a:tr h="289500">
                <a:tc>
                  <a:txBody>
                    <a:bodyPr/>
                    <a:lstStyle/>
                    <a:p>
                      <a:pPr marL="0" lvl="0" indent="0" algn="l" rtl="0">
                        <a:lnSpc>
                          <a:spcPct val="115000"/>
                        </a:lnSpc>
                        <a:spcBef>
                          <a:spcPts val="0"/>
                        </a:spcBef>
                        <a:spcAft>
                          <a:spcPts val="0"/>
                        </a:spcAft>
                        <a:buNone/>
                      </a:pPr>
                      <a:r>
                        <a:rPr lang="en"/>
                        <a:t>dabbling</a:t>
                      </a:r>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r" rtl="0">
                        <a:lnSpc>
                          <a:spcPct val="115000"/>
                        </a:lnSpc>
                        <a:spcBef>
                          <a:spcPts val="0"/>
                        </a:spcBef>
                        <a:spcAft>
                          <a:spcPts val="0"/>
                        </a:spcAft>
                        <a:buNone/>
                      </a:pPr>
                      <a:r>
                        <a:rPr lang="en"/>
                        <a:t>0.7334</a:t>
                      </a:r>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r" rtl="0">
                        <a:lnSpc>
                          <a:spcPct val="115000"/>
                        </a:lnSpc>
                        <a:spcBef>
                          <a:spcPts val="0"/>
                        </a:spcBef>
                        <a:spcAft>
                          <a:spcPts val="0"/>
                        </a:spcAft>
                        <a:buNone/>
                      </a:pPr>
                      <a:r>
                        <a:rPr lang="en"/>
                        <a:t>7.84E-14</a:t>
                      </a:r>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extLst>
                  <a:ext uri="{0D108BD9-81ED-4DB2-BD59-A6C34878D82A}">
                    <a16:rowId xmlns:a16="http://schemas.microsoft.com/office/drawing/2014/main" val="10002"/>
                  </a:ext>
                </a:extLst>
              </a:tr>
              <a:tr h="289500">
                <a:tc>
                  <a:txBody>
                    <a:bodyPr/>
                    <a:lstStyle/>
                    <a:p>
                      <a:pPr marL="0" lvl="0" indent="0" algn="l" rtl="0">
                        <a:lnSpc>
                          <a:spcPct val="115000"/>
                        </a:lnSpc>
                        <a:spcBef>
                          <a:spcPts val="0"/>
                        </a:spcBef>
                        <a:spcAft>
                          <a:spcPts val="0"/>
                        </a:spcAft>
                        <a:buNone/>
                      </a:pPr>
                      <a:r>
                        <a:rPr lang="en"/>
                        <a:t>dipping</a:t>
                      </a:r>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r" rtl="0">
                        <a:lnSpc>
                          <a:spcPct val="115000"/>
                        </a:lnSpc>
                        <a:spcBef>
                          <a:spcPts val="0"/>
                        </a:spcBef>
                        <a:spcAft>
                          <a:spcPts val="0"/>
                        </a:spcAft>
                        <a:buNone/>
                      </a:pPr>
                      <a:r>
                        <a:rPr lang="en"/>
                        <a:t>0.86133</a:t>
                      </a:r>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r" rtl="0">
                        <a:lnSpc>
                          <a:spcPct val="115000"/>
                        </a:lnSpc>
                        <a:spcBef>
                          <a:spcPts val="0"/>
                        </a:spcBef>
                        <a:spcAft>
                          <a:spcPts val="0"/>
                        </a:spcAft>
                        <a:buNone/>
                      </a:pPr>
                      <a:r>
                        <a:rPr lang="en"/>
                        <a:t>1.68E-09</a:t>
                      </a:r>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extLst>
                  <a:ext uri="{0D108BD9-81ED-4DB2-BD59-A6C34878D82A}">
                    <a16:rowId xmlns:a16="http://schemas.microsoft.com/office/drawing/2014/main" val="10003"/>
                  </a:ext>
                </a:extLst>
              </a:tr>
              <a:tr h="289500">
                <a:tc>
                  <a:txBody>
                    <a:bodyPr/>
                    <a:lstStyle/>
                    <a:p>
                      <a:pPr marL="0" lvl="0" indent="0" algn="l" rtl="0">
                        <a:lnSpc>
                          <a:spcPct val="115000"/>
                        </a:lnSpc>
                        <a:spcBef>
                          <a:spcPts val="0"/>
                        </a:spcBef>
                        <a:spcAft>
                          <a:spcPts val="0"/>
                        </a:spcAft>
                        <a:buNone/>
                      </a:pPr>
                      <a:r>
                        <a:rPr lang="en"/>
                        <a:t>upending</a:t>
                      </a:r>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r" rtl="0">
                        <a:lnSpc>
                          <a:spcPct val="115000"/>
                        </a:lnSpc>
                        <a:spcBef>
                          <a:spcPts val="0"/>
                        </a:spcBef>
                        <a:spcAft>
                          <a:spcPts val="0"/>
                        </a:spcAft>
                        <a:buNone/>
                      </a:pPr>
                      <a:r>
                        <a:rPr lang="en"/>
                        <a:t>0.73759</a:t>
                      </a:r>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r" rtl="0">
                        <a:lnSpc>
                          <a:spcPct val="115000"/>
                        </a:lnSpc>
                        <a:spcBef>
                          <a:spcPts val="0"/>
                        </a:spcBef>
                        <a:spcAft>
                          <a:spcPts val="0"/>
                        </a:spcAft>
                        <a:buNone/>
                      </a:pPr>
                      <a:r>
                        <a:rPr lang="en"/>
                        <a:t>1.17E-13</a:t>
                      </a:r>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extLst>
                  <a:ext uri="{0D108BD9-81ED-4DB2-BD59-A6C34878D82A}">
                    <a16:rowId xmlns:a16="http://schemas.microsoft.com/office/drawing/2014/main" val="10004"/>
                  </a:ext>
                </a:extLst>
              </a:tr>
            </a:tbl>
          </a:graphicData>
        </a:graphic>
      </p:graphicFrame>
      <p:sp>
        <p:nvSpPr>
          <p:cNvPr id="156" name="Google Shape;156;p22"/>
          <p:cNvSpPr txBox="1"/>
          <p:nvPr/>
        </p:nvSpPr>
        <p:spPr>
          <a:xfrm>
            <a:off x="5024800" y="2552524"/>
            <a:ext cx="3339900" cy="785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t>Table 1. </a:t>
            </a:r>
            <a:r>
              <a:rPr lang="en"/>
              <a:t>Results of the </a:t>
            </a:r>
            <a:r>
              <a:rPr lang="en" sz="1300"/>
              <a:t>Shapiro-Wilk’s Normality Test</a:t>
            </a:r>
            <a:endParaRPr sz="1300"/>
          </a:p>
          <a:p>
            <a:pPr marL="0" lvl="0" indent="0" algn="l" rtl="0">
              <a:spcBef>
                <a:spcPts val="0"/>
              </a:spcBef>
              <a:spcAft>
                <a:spcPts val="0"/>
              </a:spcAft>
              <a:buNone/>
            </a:pPr>
            <a:endParaRPr sz="1200"/>
          </a:p>
        </p:txBody>
      </p:sp>
      <p:sp>
        <p:nvSpPr>
          <p:cNvPr id="157" name="Google Shape;157;p22"/>
          <p:cNvSpPr txBox="1"/>
          <p:nvPr/>
        </p:nvSpPr>
        <p:spPr>
          <a:xfrm>
            <a:off x="699000" y="4213550"/>
            <a:ext cx="4357200" cy="1015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t>Figure 1.</a:t>
            </a:r>
            <a:r>
              <a:rPr lang="en"/>
              <a:t> Histograms showing the distribution of frequency of the four different types of foraging behaviors.</a:t>
            </a:r>
            <a:endParaRPr/>
          </a:p>
          <a:p>
            <a:pPr marL="0" lvl="0" indent="0" algn="l" rtl="0">
              <a:spcBef>
                <a:spcPts val="0"/>
              </a:spcBef>
              <a:spcAft>
                <a:spcPts val="0"/>
              </a:spcAft>
              <a:buNone/>
            </a:pPr>
            <a:endParaRPr sz="1200"/>
          </a:p>
        </p:txBody>
      </p:sp>
      <p:sp>
        <p:nvSpPr>
          <p:cNvPr id="158" name="Google Shape;158;p22"/>
          <p:cNvSpPr txBox="1"/>
          <p:nvPr/>
        </p:nvSpPr>
        <p:spPr>
          <a:xfrm>
            <a:off x="5071750" y="3424924"/>
            <a:ext cx="3246000" cy="1046700"/>
          </a:xfrm>
          <a:prstGeom prst="rect">
            <a:avLst/>
          </a:prstGeom>
          <a:solidFill>
            <a:srgbClr val="C9DAF8"/>
          </a:solidFill>
          <a:ln w="9525" cap="flat" cmpd="sng">
            <a:solidFill>
              <a:schemeClr val="accent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b="1" dirty="0"/>
              <a:t>Trends:</a:t>
            </a:r>
            <a:endParaRPr b="1" dirty="0"/>
          </a:p>
          <a:p>
            <a:pPr marL="457200" lvl="0" indent="-317500" algn="l" rtl="0">
              <a:spcBef>
                <a:spcPts val="0"/>
              </a:spcBef>
              <a:spcAft>
                <a:spcPts val="0"/>
              </a:spcAft>
              <a:buSzPts val="1400"/>
              <a:buChar char="●"/>
            </a:pPr>
            <a:r>
              <a:rPr lang="en" dirty="0"/>
              <a:t>All histograms are skewed to the right.</a:t>
            </a:r>
            <a:endParaRPr dirty="0"/>
          </a:p>
          <a:p>
            <a:pPr marL="457200" lvl="0" indent="-317500" algn="l" rtl="0">
              <a:spcBef>
                <a:spcPts val="0"/>
              </a:spcBef>
              <a:spcAft>
                <a:spcPts val="0"/>
              </a:spcAft>
              <a:buSzPts val="1400"/>
              <a:buChar char="●"/>
            </a:pPr>
            <a:r>
              <a:rPr lang="en" dirty="0"/>
              <a:t>All p-values are less than 0.05.</a:t>
            </a:r>
            <a:endParaRPr dirty="0"/>
          </a:p>
        </p:txBody>
      </p:sp>
      <p:pic>
        <p:nvPicPr>
          <p:cNvPr id="159" name="Google Shape;159;p22" title="Fig1_BehaviorHistograms.png"/>
          <p:cNvPicPr preferRelativeResize="0"/>
          <p:nvPr/>
        </p:nvPicPr>
        <p:blipFill>
          <a:blip r:embed="rId4">
            <a:alphaModFix/>
          </a:blip>
          <a:stretch>
            <a:fillRect/>
          </a:stretch>
        </p:blipFill>
        <p:spPr>
          <a:xfrm>
            <a:off x="779300" y="1017724"/>
            <a:ext cx="3834235" cy="3195827"/>
          </a:xfrm>
          <a:prstGeom prst="rect">
            <a:avLst/>
          </a:prstGeom>
          <a:noFill/>
          <a:ln>
            <a:noFill/>
          </a:ln>
        </p:spPr>
      </p:pic>
      <p:sp>
        <p:nvSpPr>
          <p:cNvPr id="2" name="Title 1">
            <a:extLst>
              <a:ext uri="{FF2B5EF4-FFF2-40B4-BE49-F238E27FC236}">
                <a16:creationId xmlns:a16="http://schemas.microsoft.com/office/drawing/2014/main" id="{61B34F67-7CB3-5563-903B-6A120C5FC2F0}"/>
              </a:ext>
            </a:extLst>
          </p:cNvPr>
          <p:cNvSpPr txBox="1">
            <a:spLocks/>
          </p:cNvSpPr>
          <p:nvPr/>
        </p:nvSpPr>
        <p:spPr>
          <a:xfrm>
            <a:off x="766916" y="445025"/>
            <a:ext cx="8065384"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b="1" dirty="0">
                <a:solidFill>
                  <a:srgbClr val="1F4E79"/>
                </a:solidFill>
                <a:latin typeface="Arial" panose="020B0604020202020204" pitchFamily="34" charset="0"/>
              </a:rPr>
              <a:t>Results – </a:t>
            </a:r>
            <a:r>
              <a:rPr lang="en-US" dirty="0">
                <a:solidFill>
                  <a:srgbClr val="1F4E79"/>
                </a:solidFill>
                <a:latin typeface="Arial" panose="020B0604020202020204" pitchFamily="34" charset="0"/>
              </a:rPr>
              <a:t>Data Distribution (Normality Summary)</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3"/>
        <p:cNvGrpSpPr/>
        <p:nvPr/>
      </p:nvGrpSpPr>
      <p:grpSpPr>
        <a:xfrm>
          <a:off x="0" y="0"/>
          <a:ext cx="0" cy="0"/>
          <a:chOff x="0" y="0"/>
          <a:chExt cx="0" cy="0"/>
        </a:xfrm>
      </p:grpSpPr>
      <p:graphicFrame>
        <p:nvGraphicFramePr>
          <p:cNvPr id="165" name="Google Shape;165;p23"/>
          <p:cNvGraphicFramePr/>
          <p:nvPr>
            <p:extLst>
              <p:ext uri="{D42A27DB-BD31-4B8C-83A1-F6EECF244321}">
                <p14:modId xmlns:p14="http://schemas.microsoft.com/office/powerpoint/2010/main" val="3881764136"/>
              </p:ext>
            </p:extLst>
          </p:nvPr>
        </p:nvGraphicFramePr>
        <p:xfrm>
          <a:off x="766941" y="1017725"/>
          <a:ext cx="7919050" cy="1194435"/>
        </p:xfrm>
        <a:graphic>
          <a:graphicData uri="http://schemas.openxmlformats.org/drawingml/2006/table">
            <a:tbl>
              <a:tblPr>
                <a:noFill/>
                <a:tableStyleId>{F7FF7573-9537-4162-8ACD-E87247B85FDE}</a:tableStyleId>
              </a:tblPr>
              <a:tblGrid>
                <a:gridCol w="1165550">
                  <a:extLst>
                    <a:ext uri="{9D8B030D-6E8A-4147-A177-3AD203B41FA5}">
                      <a16:colId xmlns:a16="http://schemas.microsoft.com/office/drawing/2014/main" val="20000"/>
                    </a:ext>
                  </a:extLst>
                </a:gridCol>
                <a:gridCol w="971650">
                  <a:extLst>
                    <a:ext uri="{9D8B030D-6E8A-4147-A177-3AD203B41FA5}">
                      <a16:colId xmlns:a16="http://schemas.microsoft.com/office/drawing/2014/main" val="20001"/>
                    </a:ext>
                  </a:extLst>
                </a:gridCol>
                <a:gridCol w="822725">
                  <a:extLst>
                    <a:ext uri="{9D8B030D-6E8A-4147-A177-3AD203B41FA5}">
                      <a16:colId xmlns:a16="http://schemas.microsoft.com/office/drawing/2014/main" val="20002"/>
                    </a:ext>
                  </a:extLst>
                </a:gridCol>
                <a:gridCol w="835475">
                  <a:extLst>
                    <a:ext uri="{9D8B030D-6E8A-4147-A177-3AD203B41FA5}">
                      <a16:colId xmlns:a16="http://schemas.microsoft.com/office/drawing/2014/main" val="20003"/>
                    </a:ext>
                  </a:extLst>
                </a:gridCol>
                <a:gridCol w="782425">
                  <a:extLst>
                    <a:ext uri="{9D8B030D-6E8A-4147-A177-3AD203B41FA5}">
                      <a16:colId xmlns:a16="http://schemas.microsoft.com/office/drawing/2014/main" val="20004"/>
                    </a:ext>
                  </a:extLst>
                </a:gridCol>
                <a:gridCol w="792500">
                  <a:extLst>
                    <a:ext uri="{9D8B030D-6E8A-4147-A177-3AD203B41FA5}">
                      <a16:colId xmlns:a16="http://schemas.microsoft.com/office/drawing/2014/main" val="20005"/>
                    </a:ext>
                  </a:extLst>
                </a:gridCol>
                <a:gridCol w="772375">
                  <a:extLst>
                    <a:ext uri="{9D8B030D-6E8A-4147-A177-3AD203B41FA5}">
                      <a16:colId xmlns:a16="http://schemas.microsoft.com/office/drawing/2014/main" val="20006"/>
                    </a:ext>
                  </a:extLst>
                </a:gridCol>
                <a:gridCol w="903275">
                  <a:extLst>
                    <a:ext uri="{9D8B030D-6E8A-4147-A177-3AD203B41FA5}">
                      <a16:colId xmlns:a16="http://schemas.microsoft.com/office/drawing/2014/main" val="20007"/>
                    </a:ext>
                  </a:extLst>
                </a:gridCol>
                <a:gridCol w="873075">
                  <a:extLst>
                    <a:ext uri="{9D8B030D-6E8A-4147-A177-3AD203B41FA5}">
                      <a16:colId xmlns:a16="http://schemas.microsoft.com/office/drawing/2014/main" val="20008"/>
                    </a:ext>
                  </a:extLst>
                </a:gridCol>
              </a:tblGrid>
              <a:tr h="251450">
                <a:tc>
                  <a:txBody>
                    <a:bodyPr/>
                    <a:lstStyle/>
                    <a:p>
                      <a:pPr marL="0" lvl="0" indent="0" algn="l" rtl="0">
                        <a:spcBef>
                          <a:spcPts val="0"/>
                        </a:spcBef>
                        <a:spcAft>
                          <a:spcPts val="0"/>
                        </a:spcAft>
                        <a:buNone/>
                      </a:pPr>
                      <a:endParaRPr b="1"/>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gridSpan="2">
                  <a:txBody>
                    <a:bodyPr/>
                    <a:lstStyle/>
                    <a:p>
                      <a:pPr marL="0" lvl="0" indent="0" algn="ctr" rtl="0">
                        <a:lnSpc>
                          <a:spcPct val="115000"/>
                        </a:lnSpc>
                        <a:spcBef>
                          <a:spcPts val="0"/>
                        </a:spcBef>
                        <a:spcAft>
                          <a:spcPts val="0"/>
                        </a:spcAft>
                        <a:buNone/>
                      </a:pPr>
                      <a:r>
                        <a:rPr lang="en" sz="1200" b="1"/>
                        <a:t>pecking</a:t>
                      </a:r>
                      <a:endParaRPr sz="1200" b="1"/>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hMerge="1">
                  <a:txBody>
                    <a:bodyPr/>
                    <a:lstStyle/>
                    <a:p>
                      <a:endParaRPr lang="en-US"/>
                    </a:p>
                  </a:txBody>
                  <a:tcPr/>
                </a:tc>
                <a:tc gridSpan="2">
                  <a:txBody>
                    <a:bodyPr/>
                    <a:lstStyle/>
                    <a:p>
                      <a:pPr marL="0" lvl="0" indent="0" algn="ctr" rtl="0">
                        <a:lnSpc>
                          <a:spcPct val="115000"/>
                        </a:lnSpc>
                        <a:spcBef>
                          <a:spcPts val="0"/>
                        </a:spcBef>
                        <a:spcAft>
                          <a:spcPts val="0"/>
                        </a:spcAft>
                        <a:buNone/>
                      </a:pPr>
                      <a:r>
                        <a:rPr lang="en" sz="1200" b="1"/>
                        <a:t>dabbling</a:t>
                      </a:r>
                      <a:endParaRPr sz="1200" b="1"/>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hMerge="1">
                  <a:txBody>
                    <a:bodyPr/>
                    <a:lstStyle/>
                    <a:p>
                      <a:endParaRPr lang="en-US"/>
                    </a:p>
                  </a:txBody>
                  <a:tcPr/>
                </a:tc>
                <a:tc gridSpan="2">
                  <a:txBody>
                    <a:bodyPr/>
                    <a:lstStyle/>
                    <a:p>
                      <a:pPr marL="0" lvl="0" indent="0" algn="ctr" rtl="0">
                        <a:lnSpc>
                          <a:spcPct val="115000"/>
                        </a:lnSpc>
                        <a:spcBef>
                          <a:spcPts val="0"/>
                        </a:spcBef>
                        <a:spcAft>
                          <a:spcPts val="0"/>
                        </a:spcAft>
                        <a:buNone/>
                      </a:pPr>
                      <a:r>
                        <a:rPr lang="en" sz="1200" b="1"/>
                        <a:t>dipping</a:t>
                      </a:r>
                      <a:endParaRPr sz="1200" b="1"/>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hMerge="1">
                  <a:txBody>
                    <a:bodyPr/>
                    <a:lstStyle/>
                    <a:p>
                      <a:endParaRPr lang="en-US"/>
                    </a:p>
                  </a:txBody>
                  <a:tcPr/>
                </a:tc>
                <a:tc gridSpan="2">
                  <a:txBody>
                    <a:bodyPr/>
                    <a:lstStyle/>
                    <a:p>
                      <a:pPr marL="0" lvl="0" indent="0" algn="ctr" rtl="0">
                        <a:lnSpc>
                          <a:spcPct val="115000"/>
                        </a:lnSpc>
                        <a:spcBef>
                          <a:spcPts val="0"/>
                        </a:spcBef>
                        <a:spcAft>
                          <a:spcPts val="0"/>
                        </a:spcAft>
                        <a:buNone/>
                      </a:pPr>
                      <a:r>
                        <a:rPr lang="en" sz="1200" b="1"/>
                        <a:t>upending</a:t>
                      </a:r>
                      <a:endParaRPr sz="1200" b="1"/>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hMerge="1">
                  <a:txBody>
                    <a:bodyPr/>
                    <a:lstStyle/>
                    <a:p>
                      <a:endParaRPr lang="en-US"/>
                    </a:p>
                  </a:txBody>
                  <a:tcPr/>
                </a:tc>
                <a:extLst>
                  <a:ext uri="{0D108BD9-81ED-4DB2-BD59-A6C34878D82A}">
                    <a16:rowId xmlns:a16="http://schemas.microsoft.com/office/drawing/2014/main" val="10000"/>
                  </a:ext>
                </a:extLst>
              </a:tr>
              <a:tr h="228600">
                <a:tc>
                  <a:txBody>
                    <a:bodyPr/>
                    <a:lstStyle/>
                    <a:p>
                      <a:pPr marL="0" lvl="0" indent="0" algn="l" rtl="0">
                        <a:lnSpc>
                          <a:spcPct val="115000"/>
                        </a:lnSpc>
                        <a:spcBef>
                          <a:spcPts val="0"/>
                        </a:spcBef>
                        <a:spcAft>
                          <a:spcPts val="0"/>
                        </a:spcAft>
                        <a:buNone/>
                      </a:pPr>
                      <a:r>
                        <a:rPr lang="en" sz="1200" b="1"/>
                        <a:t>Sex</a:t>
                      </a:r>
                      <a:endParaRPr sz="1200" b="1"/>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ctr" rtl="0">
                        <a:lnSpc>
                          <a:spcPct val="115000"/>
                        </a:lnSpc>
                        <a:spcBef>
                          <a:spcPts val="0"/>
                        </a:spcBef>
                        <a:spcAft>
                          <a:spcPts val="0"/>
                        </a:spcAft>
                        <a:buNone/>
                      </a:pPr>
                      <a:r>
                        <a:rPr lang="en" sz="1200" b="1"/>
                        <a:t>mean</a:t>
                      </a:r>
                      <a:endParaRPr sz="1200" b="1"/>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ctr" rtl="0">
                        <a:lnSpc>
                          <a:spcPct val="115000"/>
                        </a:lnSpc>
                        <a:spcBef>
                          <a:spcPts val="0"/>
                        </a:spcBef>
                        <a:spcAft>
                          <a:spcPts val="0"/>
                        </a:spcAft>
                        <a:buNone/>
                      </a:pPr>
                      <a:r>
                        <a:rPr lang="en" sz="1200" b="1"/>
                        <a:t>sd</a:t>
                      </a:r>
                      <a:endParaRPr sz="1200" b="1"/>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ctr" rtl="0">
                        <a:lnSpc>
                          <a:spcPct val="115000"/>
                        </a:lnSpc>
                        <a:spcBef>
                          <a:spcPts val="0"/>
                        </a:spcBef>
                        <a:spcAft>
                          <a:spcPts val="0"/>
                        </a:spcAft>
                        <a:buNone/>
                      </a:pPr>
                      <a:r>
                        <a:rPr lang="en" sz="1200" b="1"/>
                        <a:t>mean</a:t>
                      </a:r>
                      <a:endParaRPr sz="1200" b="1"/>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ctr" rtl="0">
                        <a:lnSpc>
                          <a:spcPct val="115000"/>
                        </a:lnSpc>
                        <a:spcBef>
                          <a:spcPts val="0"/>
                        </a:spcBef>
                        <a:spcAft>
                          <a:spcPts val="0"/>
                        </a:spcAft>
                        <a:buNone/>
                      </a:pPr>
                      <a:r>
                        <a:rPr lang="en" sz="1200" b="1"/>
                        <a:t>sd</a:t>
                      </a:r>
                      <a:endParaRPr sz="1200" b="1"/>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ctr" rtl="0">
                        <a:lnSpc>
                          <a:spcPct val="115000"/>
                        </a:lnSpc>
                        <a:spcBef>
                          <a:spcPts val="0"/>
                        </a:spcBef>
                        <a:spcAft>
                          <a:spcPts val="0"/>
                        </a:spcAft>
                        <a:buNone/>
                      </a:pPr>
                      <a:r>
                        <a:rPr lang="en" sz="1200" b="1"/>
                        <a:t>mean</a:t>
                      </a:r>
                      <a:endParaRPr sz="1200" b="1"/>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ctr" rtl="0">
                        <a:lnSpc>
                          <a:spcPct val="115000"/>
                        </a:lnSpc>
                        <a:spcBef>
                          <a:spcPts val="0"/>
                        </a:spcBef>
                        <a:spcAft>
                          <a:spcPts val="0"/>
                        </a:spcAft>
                        <a:buNone/>
                      </a:pPr>
                      <a:r>
                        <a:rPr lang="en" sz="1200" b="1"/>
                        <a:t>sd</a:t>
                      </a:r>
                      <a:endParaRPr sz="1200" b="1"/>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ctr" rtl="0">
                        <a:lnSpc>
                          <a:spcPct val="115000"/>
                        </a:lnSpc>
                        <a:spcBef>
                          <a:spcPts val="0"/>
                        </a:spcBef>
                        <a:spcAft>
                          <a:spcPts val="0"/>
                        </a:spcAft>
                        <a:buNone/>
                      </a:pPr>
                      <a:r>
                        <a:rPr lang="en" sz="1200" b="1"/>
                        <a:t>mean</a:t>
                      </a:r>
                      <a:endParaRPr sz="1200" b="1"/>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ctr" rtl="0">
                        <a:lnSpc>
                          <a:spcPct val="115000"/>
                        </a:lnSpc>
                        <a:spcBef>
                          <a:spcPts val="0"/>
                        </a:spcBef>
                        <a:spcAft>
                          <a:spcPts val="0"/>
                        </a:spcAft>
                        <a:buNone/>
                      </a:pPr>
                      <a:r>
                        <a:rPr lang="en" sz="1200" b="1"/>
                        <a:t>sd</a:t>
                      </a:r>
                      <a:endParaRPr sz="1200" b="1"/>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extLst>
                  <a:ext uri="{0D108BD9-81ED-4DB2-BD59-A6C34878D82A}">
                    <a16:rowId xmlns:a16="http://schemas.microsoft.com/office/drawing/2014/main" val="10001"/>
                  </a:ext>
                </a:extLst>
              </a:tr>
              <a:tr h="228600">
                <a:tc>
                  <a:txBody>
                    <a:bodyPr/>
                    <a:lstStyle/>
                    <a:p>
                      <a:pPr marL="0" lvl="0" indent="0" algn="l" rtl="0">
                        <a:lnSpc>
                          <a:spcPct val="115000"/>
                        </a:lnSpc>
                        <a:spcBef>
                          <a:spcPts val="0"/>
                        </a:spcBef>
                        <a:spcAft>
                          <a:spcPts val="0"/>
                        </a:spcAft>
                        <a:buNone/>
                      </a:pPr>
                      <a:r>
                        <a:rPr lang="en" sz="1200"/>
                        <a:t>male</a:t>
                      </a:r>
                      <a:endParaRPr sz="12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CCCCCC"/>
                      </a:solidFill>
                      <a:prstDash val="solid"/>
                      <a:round/>
                      <a:headEnd type="none" w="sm" len="sm"/>
                      <a:tailEnd type="none" w="sm" len="sm"/>
                    </a:lnB>
                    <a:solidFill>
                      <a:schemeClr val="lt2"/>
                    </a:solidFill>
                  </a:tcPr>
                </a:tc>
                <a:tc>
                  <a:txBody>
                    <a:bodyPr/>
                    <a:lstStyle/>
                    <a:p>
                      <a:pPr marL="0" lvl="0" indent="0" algn="l" rtl="0">
                        <a:lnSpc>
                          <a:spcPct val="115000"/>
                        </a:lnSpc>
                        <a:spcBef>
                          <a:spcPts val="0"/>
                        </a:spcBef>
                        <a:spcAft>
                          <a:spcPts val="0"/>
                        </a:spcAft>
                        <a:buNone/>
                      </a:pPr>
                      <a:r>
                        <a:rPr lang="en" sz="1200"/>
                        <a:t>0.8095238</a:t>
                      </a:r>
                      <a:endParaRPr sz="1200"/>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CCCCCC"/>
                      </a:solidFill>
                      <a:prstDash val="solid"/>
                      <a:round/>
                      <a:headEnd type="none" w="sm" len="sm"/>
                      <a:tailEnd type="none" w="sm" len="sm"/>
                    </a:lnB>
                    <a:solidFill>
                      <a:schemeClr val="lt2"/>
                    </a:solidFill>
                  </a:tcPr>
                </a:tc>
                <a:tc>
                  <a:txBody>
                    <a:bodyPr/>
                    <a:lstStyle/>
                    <a:p>
                      <a:pPr marL="0" lvl="0" indent="0" algn="l" rtl="0">
                        <a:lnSpc>
                          <a:spcPct val="115000"/>
                        </a:lnSpc>
                        <a:spcBef>
                          <a:spcPts val="0"/>
                        </a:spcBef>
                        <a:spcAft>
                          <a:spcPts val="0"/>
                        </a:spcAft>
                        <a:buNone/>
                      </a:pPr>
                      <a:r>
                        <a:rPr lang="en" sz="1200"/>
                        <a:t>1.342918</a:t>
                      </a:r>
                      <a:endParaRPr sz="1200"/>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CCCCCC"/>
                      </a:solidFill>
                      <a:prstDash val="solid"/>
                      <a:round/>
                      <a:headEnd type="none" w="sm" len="sm"/>
                      <a:tailEnd type="none" w="sm" len="sm"/>
                    </a:lnB>
                    <a:solidFill>
                      <a:schemeClr val="lt2"/>
                    </a:solidFill>
                  </a:tcPr>
                </a:tc>
                <a:tc>
                  <a:txBody>
                    <a:bodyPr/>
                    <a:lstStyle/>
                    <a:p>
                      <a:pPr marL="0" lvl="0" indent="0" algn="l" rtl="0">
                        <a:lnSpc>
                          <a:spcPct val="115000"/>
                        </a:lnSpc>
                        <a:spcBef>
                          <a:spcPts val="0"/>
                        </a:spcBef>
                        <a:spcAft>
                          <a:spcPts val="0"/>
                        </a:spcAft>
                        <a:buNone/>
                      </a:pPr>
                      <a:r>
                        <a:rPr lang="en" sz="1200" dirty="0"/>
                        <a:t>2.571429</a:t>
                      </a:r>
                      <a:endParaRPr sz="1200" dirty="0"/>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CCCCCC"/>
                      </a:solidFill>
                      <a:prstDash val="solid"/>
                      <a:round/>
                      <a:headEnd type="none" w="sm" len="sm"/>
                      <a:tailEnd type="none" w="sm" len="sm"/>
                    </a:lnB>
                    <a:solidFill>
                      <a:schemeClr val="lt2"/>
                    </a:solidFill>
                  </a:tcPr>
                </a:tc>
                <a:tc>
                  <a:txBody>
                    <a:bodyPr/>
                    <a:lstStyle/>
                    <a:p>
                      <a:pPr marL="0" lvl="0" indent="0" algn="l" rtl="0">
                        <a:lnSpc>
                          <a:spcPct val="115000"/>
                        </a:lnSpc>
                        <a:spcBef>
                          <a:spcPts val="0"/>
                        </a:spcBef>
                        <a:spcAft>
                          <a:spcPts val="0"/>
                        </a:spcAft>
                        <a:buNone/>
                      </a:pPr>
                      <a:r>
                        <a:rPr lang="en" sz="1200"/>
                        <a:t>3.0553</a:t>
                      </a:r>
                      <a:endParaRPr sz="1200"/>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CCCCCC"/>
                      </a:solidFill>
                      <a:prstDash val="solid"/>
                      <a:round/>
                      <a:headEnd type="none" w="sm" len="sm"/>
                      <a:tailEnd type="none" w="sm" len="sm"/>
                    </a:lnB>
                    <a:solidFill>
                      <a:schemeClr val="lt2"/>
                    </a:solidFill>
                  </a:tcPr>
                </a:tc>
                <a:tc>
                  <a:txBody>
                    <a:bodyPr/>
                    <a:lstStyle/>
                    <a:p>
                      <a:pPr marL="0" lvl="0" indent="0" algn="l" rtl="0">
                        <a:lnSpc>
                          <a:spcPct val="115000"/>
                        </a:lnSpc>
                        <a:spcBef>
                          <a:spcPts val="0"/>
                        </a:spcBef>
                        <a:spcAft>
                          <a:spcPts val="0"/>
                        </a:spcAft>
                        <a:buNone/>
                      </a:pPr>
                      <a:r>
                        <a:rPr lang="en" sz="1200"/>
                        <a:t>2.365079</a:t>
                      </a:r>
                      <a:endParaRPr sz="1200"/>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CCCCCC"/>
                      </a:solidFill>
                      <a:prstDash val="solid"/>
                      <a:round/>
                      <a:headEnd type="none" w="sm" len="sm"/>
                      <a:tailEnd type="none" w="sm" len="sm"/>
                    </a:lnB>
                    <a:solidFill>
                      <a:schemeClr val="lt2"/>
                    </a:solidFill>
                  </a:tcPr>
                </a:tc>
                <a:tc>
                  <a:txBody>
                    <a:bodyPr/>
                    <a:lstStyle/>
                    <a:p>
                      <a:pPr marL="0" lvl="0" indent="0" algn="l" rtl="0">
                        <a:lnSpc>
                          <a:spcPct val="115000"/>
                        </a:lnSpc>
                        <a:spcBef>
                          <a:spcPts val="0"/>
                        </a:spcBef>
                        <a:spcAft>
                          <a:spcPts val="0"/>
                        </a:spcAft>
                        <a:buNone/>
                      </a:pPr>
                      <a:r>
                        <a:rPr lang="en" sz="1200"/>
                        <a:t>3.158742</a:t>
                      </a:r>
                      <a:endParaRPr sz="1200"/>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CCCCCC"/>
                      </a:solidFill>
                      <a:prstDash val="solid"/>
                      <a:round/>
                      <a:headEnd type="none" w="sm" len="sm"/>
                      <a:tailEnd type="none" w="sm" len="sm"/>
                    </a:lnB>
                    <a:solidFill>
                      <a:schemeClr val="lt2"/>
                    </a:solidFill>
                  </a:tcPr>
                </a:tc>
                <a:tc>
                  <a:txBody>
                    <a:bodyPr/>
                    <a:lstStyle/>
                    <a:p>
                      <a:pPr marL="0" lvl="0" indent="0" algn="l" rtl="0">
                        <a:lnSpc>
                          <a:spcPct val="115000"/>
                        </a:lnSpc>
                        <a:spcBef>
                          <a:spcPts val="0"/>
                        </a:spcBef>
                        <a:spcAft>
                          <a:spcPts val="0"/>
                        </a:spcAft>
                        <a:buNone/>
                      </a:pPr>
                      <a:r>
                        <a:rPr lang="en" sz="1200"/>
                        <a:t>1.079365</a:t>
                      </a:r>
                      <a:endParaRPr sz="1200"/>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CCCCCC"/>
                      </a:solidFill>
                      <a:prstDash val="solid"/>
                      <a:round/>
                      <a:headEnd type="none" w="sm" len="sm"/>
                      <a:tailEnd type="none" w="sm" len="sm"/>
                    </a:lnB>
                    <a:solidFill>
                      <a:schemeClr val="lt2"/>
                    </a:solidFill>
                  </a:tcPr>
                </a:tc>
                <a:tc>
                  <a:txBody>
                    <a:bodyPr/>
                    <a:lstStyle/>
                    <a:p>
                      <a:pPr marL="0" lvl="0" indent="0" algn="l" rtl="0">
                        <a:lnSpc>
                          <a:spcPct val="115000"/>
                        </a:lnSpc>
                        <a:spcBef>
                          <a:spcPts val="0"/>
                        </a:spcBef>
                        <a:spcAft>
                          <a:spcPts val="0"/>
                        </a:spcAft>
                        <a:buNone/>
                      </a:pPr>
                      <a:r>
                        <a:rPr lang="en" sz="1200"/>
                        <a:t>1.998412</a:t>
                      </a:r>
                      <a:endParaRPr sz="1200"/>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CCCCCC"/>
                      </a:solidFill>
                      <a:prstDash val="solid"/>
                      <a:round/>
                      <a:headEnd type="none" w="sm" len="sm"/>
                      <a:tailEnd type="none" w="sm" len="sm"/>
                    </a:lnB>
                    <a:solidFill>
                      <a:schemeClr val="lt2"/>
                    </a:solidFill>
                  </a:tcPr>
                </a:tc>
                <a:extLst>
                  <a:ext uri="{0D108BD9-81ED-4DB2-BD59-A6C34878D82A}">
                    <a16:rowId xmlns:a16="http://schemas.microsoft.com/office/drawing/2014/main" val="10002"/>
                  </a:ext>
                </a:extLst>
              </a:tr>
              <a:tr h="76275">
                <a:tc>
                  <a:txBody>
                    <a:bodyPr/>
                    <a:lstStyle/>
                    <a:p>
                      <a:pPr marL="0" lvl="0" indent="0" algn="l" rtl="0">
                        <a:lnSpc>
                          <a:spcPct val="115000"/>
                        </a:lnSpc>
                        <a:spcBef>
                          <a:spcPts val="0"/>
                        </a:spcBef>
                        <a:spcAft>
                          <a:spcPts val="0"/>
                        </a:spcAft>
                        <a:buNone/>
                      </a:pPr>
                      <a:r>
                        <a:rPr lang="en" sz="1200"/>
                        <a:t>female</a:t>
                      </a:r>
                      <a:endParaRPr sz="12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l" rtl="0">
                        <a:lnSpc>
                          <a:spcPct val="115000"/>
                        </a:lnSpc>
                        <a:spcBef>
                          <a:spcPts val="0"/>
                        </a:spcBef>
                        <a:spcAft>
                          <a:spcPts val="0"/>
                        </a:spcAft>
                        <a:buNone/>
                      </a:pPr>
                      <a:r>
                        <a:rPr lang="en" sz="1200"/>
                        <a:t>0.6746032</a:t>
                      </a:r>
                      <a:endParaRPr sz="1200"/>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l" rtl="0">
                        <a:lnSpc>
                          <a:spcPct val="115000"/>
                        </a:lnSpc>
                        <a:spcBef>
                          <a:spcPts val="0"/>
                        </a:spcBef>
                        <a:spcAft>
                          <a:spcPts val="0"/>
                        </a:spcAft>
                        <a:buNone/>
                      </a:pPr>
                      <a:r>
                        <a:rPr lang="en" sz="1200"/>
                        <a:t>1.130164</a:t>
                      </a:r>
                      <a:endParaRPr sz="1200"/>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l" rtl="0">
                        <a:lnSpc>
                          <a:spcPct val="115000"/>
                        </a:lnSpc>
                        <a:spcBef>
                          <a:spcPts val="0"/>
                        </a:spcBef>
                        <a:spcAft>
                          <a:spcPts val="0"/>
                        </a:spcAft>
                        <a:buNone/>
                      </a:pPr>
                      <a:r>
                        <a:rPr lang="en" sz="1200"/>
                        <a:t>1.793651</a:t>
                      </a:r>
                      <a:endParaRPr sz="1200"/>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l" rtl="0">
                        <a:lnSpc>
                          <a:spcPct val="115000"/>
                        </a:lnSpc>
                        <a:spcBef>
                          <a:spcPts val="0"/>
                        </a:spcBef>
                        <a:spcAft>
                          <a:spcPts val="0"/>
                        </a:spcAft>
                        <a:buNone/>
                      </a:pPr>
                      <a:r>
                        <a:rPr lang="en" sz="1200"/>
                        <a:t>2.263864</a:t>
                      </a:r>
                      <a:endParaRPr sz="1200"/>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l" rtl="0">
                        <a:lnSpc>
                          <a:spcPct val="115000"/>
                        </a:lnSpc>
                        <a:spcBef>
                          <a:spcPts val="0"/>
                        </a:spcBef>
                        <a:spcAft>
                          <a:spcPts val="0"/>
                        </a:spcAft>
                        <a:buNone/>
                      </a:pPr>
                      <a:r>
                        <a:rPr lang="en" sz="1200"/>
                        <a:t>2.007937</a:t>
                      </a:r>
                      <a:endParaRPr sz="1200"/>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l" rtl="0">
                        <a:lnSpc>
                          <a:spcPct val="115000"/>
                        </a:lnSpc>
                        <a:spcBef>
                          <a:spcPts val="0"/>
                        </a:spcBef>
                        <a:spcAft>
                          <a:spcPts val="0"/>
                        </a:spcAft>
                        <a:buNone/>
                      </a:pPr>
                      <a:r>
                        <a:rPr lang="en" sz="1200"/>
                        <a:t>3.031821</a:t>
                      </a:r>
                      <a:endParaRPr sz="1200"/>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l" rtl="0">
                        <a:lnSpc>
                          <a:spcPct val="115000"/>
                        </a:lnSpc>
                        <a:spcBef>
                          <a:spcPts val="0"/>
                        </a:spcBef>
                        <a:spcAft>
                          <a:spcPts val="0"/>
                        </a:spcAft>
                        <a:buNone/>
                      </a:pPr>
                      <a:r>
                        <a:rPr lang="en" sz="1200"/>
                        <a:t>0.8809524</a:t>
                      </a:r>
                      <a:endParaRPr sz="1200"/>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l" rtl="0">
                        <a:lnSpc>
                          <a:spcPct val="115000"/>
                        </a:lnSpc>
                        <a:spcBef>
                          <a:spcPts val="0"/>
                        </a:spcBef>
                        <a:spcAft>
                          <a:spcPts val="0"/>
                        </a:spcAft>
                        <a:buNone/>
                      </a:pPr>
                      <a:r>
                        <a:rPr lang="en" sz="1200"/>
                        <a:t>1.562599</a:t>
                      </a:r>
                      <a:endParaRPr sz="1200"/>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extLst>
                  <a:ext uri="{0D108BD9-81ED-4DB2-BD59-A6C34878D82A}">
                    <a16:rowId xmlns:a16="http://schemas.microsoft.com/office/drawing/2014/main" val="10003"/>
                  </a:ext>
                </a:extLst>
              </a:tr>
              <a:tr h="251450">
                <a:tc>
                  <a:txBody>
                    <a:bodyPr/>
                    <a:lstStyle/>
                    <a:p>
                      <a:pPr marL="0" lvl="0" indent="0" algn="l" rtl="0">
                        <a:lnSpc>
                          <a:spcPct val="115000"/>
                        </a:lnSpc>
                        <a:spcBef>
                          <a:spcPts val="0"/>
                        </a:spcBef>
                        <a:spcAft>
                          <a:spcPts val="0"/>
                        </a:spcAft>
                        <a:buNone/>
                      </a:pPr>
                      <a:r>
                        <a:rPr lang="en" sz="1200" b="1"/>
                        <a:t>Wilcox Test:</a:t>
                      </a:r>
                      <a:endParaRPr sz="1200" b="1"/>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gridSpan="2">
                  <a:txBody>
                    <a:bodyPr/>
                    <a:lstStyle/>
                    <a:p>
                      <a:pPr marL="0" lvl="0" indent="0" algn="l" rtl="0">
                        <a:lnSpc>
                          <a:spcPct val="115000"/>
                        </a:lnSpc>
                        <a:spcBef>
                          <a:spcPts val="0"/>
                        </a:spcBef>
                        <a:spcAft>
                          <a:spcPts val="0"/>
                        </a:spcAft>
                        <a:buNone/>
                      </a:pPr>
                      <a:r>
                        <a:rPr lang="en" sz="1200" b="1"/>
                        <a:t>W</a:t>
                      </a:r>
                      <a:r>
                        <a:rPr lang="en" sz="1200"/>
                        <a:t> = 134036</a:t>
                      </a:r>
                      <a:endParaRPr sz="12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hMerge="1">
                  <a:txBody>
                    <a:bodyPr/>
                    <a:lstStyle/>
                    <a:p>
                      <a:endParaRPr lang="en-US"/>
                    </a:p>
                  </a:txBody>
                  <a:tcPr/>
                </a:tc>
                <a:tc gridSpan="2">
                  <a:txBody>
                    <a:bodyPr/>
                    <a:lstStyle/>
                    <a:p>
                      <a:pPr marL="0" lvl="0" indent="0" algn="l" rtl="0">
                        <a:lnSpc>
                          <a:spcPct val="115000"/>
                        </a:lnSpc>
                        <a:spcBef>
                          <a:spcPts val="0"/>
                        </a:spcBef>
                        <a:spcAft>
                          <a:spcPts val="0"/>
                        </a:spcAft>
                        <a:buNone/>
                      </a:pPr>
                      <a:r>
                        <a:rPr lang="en" sz="1200" b="1"/>
                        <a:t>p-value</a:t>
                      </a:r>
                      <a:r>
                        <a:rPr lang="en" sz="1200"/>
                        <a:t> = 0.1</a:t>
                      </a:r>
                      <a:endParaRPr sz="1200"/>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hMerge="1">
                  <a:txBody>
                    <a:bodyPr/>
                    <a:lstStyle/>
                    <a:p>
                      <a:endParaRPr lang="en-US"/>
                    </a:p>
                  </a:txBody>
                  <a:tcPr/>
                </a:tc>
                <a:tc>
                  <a:txBody>
                    <a:bodyPr/>
                    <a:lstStyle/>
                    <a:p>
                      <a:pPr marL="0" lvl="0" indent="0" algn="l" rtl="0">
                        <a:spcBef>
                          <a:spcPts val="0"/>
                        </a:spcBef>
                        <a:spcAft>
                          <a:spcPts val="0"/>
                        </a:spcAft>
                        <a:buNone/>
                      </a:pPr>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dirty="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166" name="Google Shape;166;p23"/>
          <p:cNvSpPr txBox="1"/>
          <p:nvPr/>
        </p:nvSpPr>
        <p:spPr>
          <a:xfrm>
            <a:off x="707923" y="2212160"/>
            <a:ext cx="7919100" cy="2923847"/>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dirty="0"/>
              <a:t>Table 2. </a:t>
            </a:r>
            <a:r>
              <a:rPr lang="en" sz="1200" dirty="0"/>
              <a:t>Summary Statistics of Frequency of Foraging Behaviors Between Sex</a:t>
            </a:r>
            <a:endParaRPr sz="1200" dirty="0"/>
          </a:p>
          <a:p>
            <a:pPr marL="0" lvl="0" indent="0" algn="l" rtl="0">
              <a:spcBef>
                <a:spcPts val="0"/>
              </a:spcBef>
              <a:spcAft>
                <a:spcPts val="0"/>
              </a:spcAft>
              <a:buNone/>
            </a:pPr>
            <a:endParaRPr sz="1200" dirty="0"/>
          </a:p>
          <a:p>
            <a:pPr marL="0" lvl="0" indent="0" algn="l" rtl="0">
              <a:spcBef>
                <a:spcPts val="0"/>
              </a:spcBef>
              <a:spcAft>
                <a:spcPts val="0"/>
              </a:spcAft>
              <a:buNone/>
            </a:pPr>
            <a:r>
              <a:rPr lang="en" b="1" dirty="0"/>
              <a:t>Trends:</a:t>
            </a:r>
            <a:endParaRPr dirty="0"/>
          </a:p>
          <a:p>
            <a:pPr marL="457200" lvl="0" indent="-317500" algn="l" rtl="0">
              <a:spcBef>
                <a:spcPts val="0"/>
              </a:spcBef>
              <a:spcAft>
                <a:spcPts val="0"/>
              </a:spcAft>
              <a:buSzPts val="1400"/>
              <a:buChar char="-"/>
            </a:pPr>
            <a:r>
              <a:rPr lang="en" dirty="0">
                <a:solidFill>
                  <a:schemeClr val="dk1"/>
                </a:solidFill>
              </a:rPr>
              <a:t>The mean of the frequency between male and female shovelers are similar for each of the foraging behaviors observed</a:t>
            </a:r>
            <a:endParaRPr dirty="0">
              <a:solidFill>
                <a:schemeClr val="dk1"/>
              </a:solidFill>
            </a:endParaRPr>
          </a:p>
          <a:p>
            <a:pPr marL="457200" lvl="0" indent="-317500" algn="l" rtl="0">
              <a:spcBef>
                <a:spcPts val="0"/>
              </a:spcBef>
              <a:spcAft>
                <a:spcPts val="0"/>
              </a:spcAft>
              <a:buClr>
                <a:schemeClr val="dk1"/>
              </a:buClr>
              <a:buSzPts val="1400"/>
              <a:buChar char="-"/>
            </a:pPr>
            <a:r>
              <a:rPr lang="en" dirty="0">
                <a:solidFill>
                  <a:schemeClr val="dk1"/>
                </a:solidFill>
              </a:rPr>
              <a:t>The standard deviation or the spread of the data are also similar for each of the foraging behaviors observed. </a:t>
            </a:r>
            <a:endParaRPr dirty="0">
              <a:solidFill>
                <a:schemeClr val="dk1"/>
              </a:solidFill>
            </a:endParaRPr>
          </a:p>
          <a:p>
            <a:pPr marL="457200" lvl="0" indent="-317500" algn="l" rtl="0">
              <a:spcBef>
                <a:spcPts val="0"/>
              </a:spcBef>
              <a:spcAft>
                <a:spcPts val="0"/>
              </a:spcAft>
              <a:buClr>
                <a:schemeClr val="dk1"/>
              </a:buClr>
              <a:buSzPts val="1400"/>
              <a:buChar char="-"/>
            </a:pPr>
            <a:r>
              <a:rPr lang="en" dirty="0">
                <a:solidFill>
                  <a:schemeClr val="dk1"/>
                </a:solidFill>
              </a:rPr>
              <a:t>The frequency and standard deviation of the dabbling and dipping behavior is greater than the frequency of the pecking and upending behavior.</a:t>
            </a:r>
            <a:endParaRPr dirty="0">
              <a:solidFill>
                <a:schemeClr val="dk1"/>
              </a:solidFill>
            </a:endParaRPr>
          </a:p>
          <a:p>
            <a:pPr marL="0" lvl="0" indent="0" algn="l" rtl="0">
              <a:spcBef>
                <a:spcPts val="0"/>
              </a:spcBef>
              <a:spcAft>
                <a:spcPts val="0"/>
              </a:spcAft>
              <a:buNone/>
            </a:pPr>
            <a:endParaRPr dirty="0">
              <a:solidFill>
                <a:schemeClr val="dk1"/>
              </a:solidFill>
            </a:endParaRPr>
          </a:p>
          <a:p>
            <a:pPr marL="0" lvl="0" indent="0" algn="l" rtl="0">
              <a:spcBef>
                <a:spcPts val="0"/>
              </a:spcBef>
              <a:spcAft>
                <a:spcPts val="0"/>
              </a:spcAft>
              <a:buNone/>
            </a:pPr>
            <a:r>
              <a:rPr lang="en" b="1" dirty="0">
                <a:solidFill>
                  <a:schemeClr val="dk1"/>
                </a:solidFill>
              </a:rPr>
              <a:t>Statistical Test - Wilcoxon-Mann Whitney test:</a:t>
            </a:r>
            <a:r>
              <a:rPr lang="en" dirty="0">
                <a:solidFill>
                  <a:schemeClr val="dk1"/>
                </a:solidFill>
              </a:rPr>
              <a:t> </a:t>
            </a:r>
            <a:endParaRPr dirty="0">
              <a:solidFill>
                <a:schemeClr val="dk1"/>
              </a:solidFill>
            </a:endParaRPr>
          </a:p>
          <a:p>
            <a:pPr marL="457200" lvl="0" indent="-317500" algn="l" rtl="0">
              <a:spcBef>
                <a:spcPts val="0"/>
              </a:spcBef>
              <a:spcAft>
                <a:spcPts val="0"/>
              </a:spcAft>
              <a:buClr>
                <a:schemeClr val="dk1"/>
              </a:buClr>
              <a:buSzPts val="1400"/>
              <a:buChar char="●"/>
            </a:pPr>
            <a:r>
              <a:rPr lang="en" dirty="0">
                <a:solidFill>
                  <a:schemeClr val="dk1"/>
                </a:solidFill>
              </a:rPr>
              <a:t>2 separate and independent groups </a:t>
            </a:r>
            <a:endParaRPr dirty="0">
              <a:solidFill>
                <a:schemeClr val="dk1"/>
              </a:solidFill>
            </a:endParaRPr>
          </a:p>
          <a:p>
            <a:pPr marL="457200" lvl="0" indent="-317500" algn="l" rtl="0">
              <a:spcBef>
                <a:spcPts val="0"/>
              </a:spcBef>
              <a:spcAft>
                <a:spcPts val="0"/>
              </a:spcAft>
              <a:buClr>
                <a:schemeClr val="dk1"/>
              </a:buClr>
              <a:buSzPts val="1400"/>
              <a:buChar char="●"/>
            </a:pPr>
            <a:r>
              <a:rPr lang="en" dirty="0">
                <a:solidFill>
                  <a:schemeClr val="dk1"/>
                </a:solidFill>
              </a:rPr>
              <a:t>normality assumption is violated.</a:t>
            </a:r>
            <a:endParaRPr dirty="0">
              <a:solidFill>
                <a:schemeClr val="dk1"/>
              </a:solidFill>
            </a:endParaRPr>
          </a:p>
        </p:txBody>
      </p:sp>
      <p:sp>
        <p:nvSpPr>
          <p:cNvPr id="2" name="Title 1">
            <a:extLst>
              <a:ext uri="{FF2B5EF4-FFF2-40B4-BE49-F238E27FC236}">
                <a16:creationId xmlns:a16="http://schemas.microsoft.com/office/drawing/2014/main" id="{0865AAEB-0597-38E3-1DFD-4AC8C6842BA1}"/>
              </a:ext>
            </a:extLst>
          </p:cNvPr>
          <p:cNvSpPr txBox="1">
            <a:spLocks/>
          </p:cNvSpPr>
          <p:nvPr/>
        </p:nvSpPr>
        <p:spPr>
          <a:xfrm>
            <a:off x="766916" y="445025"/>
            <a:ext cx="8065384"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b="1" dirty="0">
                <a:solidFill>
                  <a:srgbClr val="1F4E79"/>
                </a:solidFill>
                <a:latin typeface="Arial" panose="020B0604020202020204" pitchFamily="34" charset="0"/>
              </a:rPr>
              <a:t>Results – </a:t>
            </a:r>
            <a:r>
              <a:rPr lang="en-US" dirty="0">
                <a:solidFill>
                  <a:srgbClr val="1F4E79"/>
                </a:solidFill>
                <a:latin typeface="Arial" panose="020B0604020202020204" pitchFamily="34" charset="0"/>
              </a:rPr>
              <a:t>Sex Comparison (Summary Statistics)</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0"/>
        <p:cNvGrpSpPr/>
        <p:nvPr/>
      </p:nvGrpSpPr>
      <p:grpSpPr>
        <a:xfrm>
          <a:off x="0" y="0"/>
          <a:ext cx="0" cy="0"/>
          <a:chOff x="0" y="0"/>
          <a:chExt cx="0" cy="0"/>
        </a:xfrm>
      </p:grpSpPr>
      <p:sp>
        <p:nvSpPr>
          <p:cNvPr id="172" name="Google Shape;172;p24"/>
          <p:cNvSpPr txBox="1"/>
          <p:nvPr/>
        </p:nvSpPr>
        <p:spPr>
          <a:xfrm>
            <a:off x="5669650" y="4312100"/>
            <a:ext cx="29247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endParaRPr/>
          </a:p>
        </p:txBody>
      </p:sp>
      <p:sp>
        <p:nvSpPr>
          <p:cNvPr id="173" name="Google Shape;173;p24"/>
          <p:cNvSpPr txBox="1"/>
          <p:nvPr/>
        </p:nvSpPr>
        <p:spPr>
          <a:xfrm>
            <a:off x="5669260" y="1069717"/>
            <a:ext cx="3474740" cy="104641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dirty="0"/>
              <a:t>Figure 2. </a:t>
            </a:r>
            <a:r>
              <a:rPr lang="en" dirty="0">
                <a:solidFill>
                  <a:schemeClr val="dk1"/>
                </a:solidFill>
              </a:rPr>
              <a:t>Box and whisker plots displaying the frequency of foraging behaviors between the sex of the Northern shovelers</a:t>
            </a:r>
            <a:endParaRPr b="1" dirty="0"/>
          </a:p>
        </p:txBody>
      </p:sp>
      <p:pic>
        <p:nvPicPr>
          <p:cNvPr id="174" name="Google Shape;174;p24" title="Fig2_DistributionBehaviorSex.png"/>
          <p:cNvPicPr preferRelativeResize="0"/>
          <p:nvPr/>
        </p:nvPicPr>
        <p:blipFill rotWithShape="1">
          <a:blip r:embed="rId4">
            <a:alphaModFix/>
          </a:blip>
          <a:srcRect l="2777" r="2777"/>
          <a:stretch/>
        </p:blipFill>
        <p:spPr>
          <a:xfrm>
            <a:off x="766916" y="1095297"/>
            <a:ext cx="4865755" cy="3863982"/>
          </a:xfrm>
          <a:prstGeom prst="rect">
            <a:avLst/>
          </a:prstGeom>
          <a:noFill/>
          <a:ln>
            <a:noFill/>
          </a:ln>
        </p:spPr>
      </p:pic>
      <p:sp>
        <p:nvSpPr>
          <p:cNvPr id="175" name="Google Shape;175;p24"/>
          <p:cNvSpPr txBox="1"/>
          <p:nvPr/>
        </p:nvSpPr>
        <p:spPr>
          <a:xfrm>
            <a:off x="5669260" y="2491873"/>
            <a:ext cx="1872000" cy="92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dirty="0">
                <a:solidFill>
                  <a:schemeClr val="dk1"/>
                </a:solidFill>
              </a:rPr>
              <a:t>Independent Variable:</a:t>
            </a:r>
            <a:endParaRPr sz="1200" b="1" dirty="0">
              <a:solidFill>
                <a:schemeClr val="dk1"/>
              </a:solidFill>
            </a:endParaRPr>
          </a:p>
          <a:p>
            <a:pPr marL="457200" lvl="0" indent="-304800" algn="l" rtl="0">
              <a:spcBef>
                <a:spcPts val="0"/>
              </a:spcBef>
              <a:spcAft>
                <a:spcPts val="0"/>
              </a:spcAft>
              <a:buClr>
                <a:schemeClr val="dk1"/>
              </a:buClr>
              <a:buSzPts val="1200"/>
              <a:buChar char="-"/>
            </a:pPr>
            <a:r>
              <a:rPr lang="en" sz="1200" dirty="0">
                <a:solidFill>
                  <a:schemeClr val="dk1"/>
                </a:solidFill>
              </a:rPr>
              <a:t>Sex</a:t>
            </a:r>
            <a:endParaRPr sz="1200" dirty="0">
              <a:solidFill>
                <a:schemeClr val="dk1"/>
              </a:solidFill>
            </a:endParaRPr>
          </a:p>
          <a:p>
            <a:pPr marL="914400" lvl="1" indent="-304800" algn="l" rtl="0">
              <a:spcBef>
                <a:spcPts val="0"/>
              </a:spcBef>
              <a:spcAft>
                <a:spcPts val="0"/>
              </a:spcAft>
              <a:buClr>
                <a:schemeClr val="dk1"/>
              </a:buClr>
              <a:buSzPts val="1200"/>
              <a:buChar char="-"/>
            </a:pPr>
            <a:r>
              <a:rPr lang="en" sz="1200" dirty="0">
                <a:solidFill>
                  <a:schemeClr val="dk1"/>
                </a:solidFill>
              </a:rPr>
              <a:t>Female</a:t>
            </a:r>
            <a:endParaRPr sz="1200" dirty="0">
              <a:solidFill>
                <a:schemeClr val="dk1"/>
              </a:solidFill>
            </a:endParaRPr>
          </a:p>
          <a:p>
            <a:pPr marL="914400" lvl="1" indent="-304800" algn="l" rtl="0">
              <a:spcBef>
                <a:spcPts val="0"/>
              </a:spcBef>
              <a:spcAft>
                <a:spcPts val="0"/>
              </a:spcAft>
              <a:buClr>
                <a:schemeClr val="dk1"/>
              </a:buClr>
              <a:buSzPts val="1200"/>
              <a:buChar char="-"/>
            </a:pPr>
            <a:r>
              <a:rPr lang="en" sz="1200" dirty="0">
                <a:solidFill>
                  <a:schemeClr val="dk1"/>
                </a:solidFill>
              </a:rPr>
              <a:t>Male</a:t>
            </a:r>
            <a:endParaRPr sz="1200" dirty="0">
              <a:solidFill>
                <a:schemeClr val="dk1"/>
              </a:solidFill>
            </a:endParaRPr>
          </a:p>
        </p:txBody>
      </p:sp>
      <p:sp>
        <p:nvSpPr>
          <p:cNvPr id="176" name="Google Shape;176;p24"/>
          <p:cNvSpPr txBox="1"/>
          <p:nvPr/>
        </p:nvSpPr>
        <p:spPr>
          <a:xfrm>
            <a:off x="5669260" y="3404000"/>
            <a:ext cx="20787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dirty="0">
                <a:solidFill>
                  <a:schemeClr val="dk1"/>
                </a:solidFill>
              </a:rPr>
              <a:t>Dependent Variable:</a:t>
            </a:r>
            <a:endParaRPr sz="1200" b="1" dirty="0">
              <a:solidFill>
                <a:schemeClr val="dk1"/>
              </a:solidFill>
            </a:endParaRPr>
          </a:p>
          <a:p>
            <a:pPr marL="457200" lvl="0" indent="-304800" algn="l" rtl="0">
              <a:spcBef>
                <a:spcPts val="0"/>
              </a:spcBef>
              <a:spcAft>
                <a:spcPts val="0"/>
              </a:spcAft>
              <a:buClr>
                <a:schemeClr val="dk1"/>
              </a:buClr>
              <a:buSzPts val="1200"/>
              <a:buChar char="-"/>
            </a:pPr>
            <a:r>
              <a:rPr lang="en" sz="1200" dirty="0">
                <a:solidFill>
                  <a:schemeClr val="dk1"/>
                </a:solidFill>
              </a:rPr>
              <a:t>Frequency of Foraging Behaviors</a:t>
            </a:r>
            <a:endParaRPr sz="1200" dirty="0">
              <a:solidFill>
                <a:schemeClr val="dk1"/>
              </a:solidFill>
            </a:endParaRPr>
          </a:p>
          <a:p>
            <a:pPr marL="457200" lvl="0" indent="-304800" algn="l" rtl="0">
              <a:spcBef>
                <a:spcPts val="0"/>
              </a:spcBef>
              <a:spcAft>
                <a:spcPts val="0"/>
              </a:spcAft>
              <a:buClr>
                <a:schemeClr val="dk1"/>
              </a:buClr>
              <a:buSzPts val="1200"/>
              <a:buChar char="-"/>
            </a:pPr>
            <a:r>
              <a:rPr lang="en" sz="1200" dirty="0">
                <a:solidFill>
                  <a:schemeClr val="dk1"/>
                </a:solidFill>
              </a:rPr>
              <a:t>The dependent variable is discrete.</a:t>
            </a:r>
            <a:endParaRPr sz="1200" dirty="0">
              <a:solidFill>
                <a:schemeClr val="dk1"/>
              </a:solidFill>
            </a:endParaRPr>
          </a:p>
        </p:txBody>
      </p:sp>
      <p:sp>
        <p:nvSpPr>
          <p:cNvPr id="4" name="Title 1">
            <a:extLst>
              <a:ext uri="{FF2B5EF4-FFF2-40B4-BE49-F238E27FC236}">
                <a16:creationId xmlns:a16="http://schemas.microsoft.com/office/drawing/2014/main" id="{FE83F980-EA02-168A-2CAA-A6DE9FD5CFEF}"/>
              </a:ext>
            </a:extLst>
          </p:cNvPr>
          <p:cNvSpPr txBox="1">
            <a:spLocks/>
          </p:cNvSpPr>
          <p:nvPr/>
        </p:nvSpPr>
        <p:spPr>
          <a:xfrm>
            <a:off x="766916" y="445025"/>
            <a:ext cx="8065384"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b="1" dirty="0">
                <a:solidFill>
                  <a:srgbClr val="1F4E79"/>
                </a:solidFill>
                <a:latin typeface="Arial" panose="020B0604020202020204" pitchFamily="34" charset="0"/>
              </a:rPr>
              <a:t>Results – </a:t>
            </a:r>
            <a:r>
              <a:rPr lang="en-US" dirty="0">
                <a:solidFill>
                  <a:srgbClr val="1F4E79"/>
                </a:solidFill>
                <a:latin typeface="Arial" panose="020B0604020202020204" pitchFamily="34" charset="0"/>
              </a:rPr>
              <a:t>Sex Comparison (Graph)</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80"/>
        <p:cNvGrpSpPr/>
        <p:nvPr/>
      </p:nvGrpSpPr>
      <p:grpSpPr>
        <a:xfrm>
          <a:off x="0" y="0"/>
          <a:ext cx="0" cy="0"/>
          <a:chOff x="0" y="0"/>
          <a:chExt cx="0" cy="0"/>
        </a:xfrm>
      </p:grpSpPr>
      <p:graphicFrame>
        <p:nvGraphicFramePr>
          <p:cNvPr id="182" name="Google Shape;182;p25"/>
          <p:cNvGraphicFramePr/>
          <p:nvPr>
            <p:extLst>
              <p:ext uri="{D42A27DB-BD31-4B8C-83A1-F6EECF244321}">
                <p14:modId xmlns:p14="http://schemas.microsoft.com/office/powerpoint/2010/main" val="2811386624"/>
              </p:ext>
            </p:extLst>
          </p:nvPr>
        </p:nvGraphicFramePr>
        <p:xfrm>
          <a:off x="694150" y="1010668"/>
          <a:ext cx="7947150" cy="1403975"/>
        </p:xfrm>
        <a:graphic>
          <a:graphicData uri="http://schemas.openxmlformats.org/drawingml/2006/table">
            <a:tbl>
              <a:tblPr>
                <a:noFill/>
                <a:tableStyleId>{F7FF7573-9537-4162-8ACD-E87247B85FDE}</a:tableStyleId>
              </a:tblPr>
              <a:tblGrid>
                <a:gridCol w="1169675">
                  <a:extLst>
                    <a:ext uri="{9D8B030D-6E8A-4147-A177-3AD203B41FA5}">
                      <a16:colId xmlns:a16="http://schemas.microsoft.com/office/drawing/2014/main" val="20000"/>
                    </a:ext>
                  </a:extLst>
                </a:gridCol>
                <a:gridCol w="865200">
                  <a:extLst>
                    <a:ext uri="{9D8B030D-6E8A-4147-A177-3AD203B41FA5}">
                      <a16:colId xmlns:a16="http://schemas.microsoft.com/office/drawing/2014/main" val="20001"/>
                    </a:ext>
                  </a:extLst>
                </a:gridCol>
                <a:gridCol w="764950">
                  <a:extLst>
                    <a:ext uri="{9D8B030D-6E8A-4147-A177-3AD203B41FA5}">
                      <a16:colId xmlns:a16="http://schemas.microsoft.com/office/drawing/2014/main" val="20002"/>
                    </a:ext>
                  </a:extLst>
                </a:gridCol>
                <a:gridCol w="778650">
                  <a:extLst>
                    <a:ext uri="{9D8B030D-6E8A-4147-A177-3AD203B41FA5}">
                      <a16:colId xmlns:a16="http://schemas.microsoft.com/office/drawing/2014/main" val="20003"/>
                    </a:ext>
                  </a:extLst>
                </a:gridCol>
                <a:gridCol w="775050">
                  <a:extLst>
                    <a:ext uri="{9D8B030D-6E8A-4147-A177-3AD203B41FA5}">
                      <a16:colId xmlns:a16="http://schemas.microsoft.com/office/drawing/2014/main" val="20004"/>
                    </a:ext>
                  </a:extLst>
                </a:gridCol>
                <a:gridCol w="825400">
                  <a:extLst>
                    <a:ext uri="{9D8B030D-6E8A-4147-A177-3AD203B41FA5}">
                      <a16:colId xmlns:a16="http://schemas.microsoft.com/office/drawing/2014/main" val="20005"/>
                    </a:ext>
                  </a:extLst>
                </a:gridCol>
                <a:gridCol w="875725">
                  <a:extLst>
                    <a:ext uri="{9D8B030D-6E8A-4147-A177-3AD203B41FA5}">
                      <a16:colId xmlns:a16="http://schemas.microsoft.com/office/drawing/2014/main" val="20006"/>
                    </a:ext>
                  </a:extLst>
                </a:gridCol>
                <a:gridCol w="1137600">
                  <a:extLst>
                    <a:ext uri="{9D8B030D-6E8A-4147-A177-3AD203B41FA5}">
                      <a16:colId xmlns:a16="http://schemas.microsoft.com/office/drawing/2014/main" val="20007"/>
                    </a:ext>
                  </a:extLst>
                </a:gridCol>
                <a:gridCol w="754900">
                  <a:extLst>
                    <a:ext uri="{9D8B030D-6E8A-4147-A177-3AD203B41FA5}">
                      <a16:colId xmlns:a16="http://schemas.microsoft.com/office/drawing/2014/main" val="20008"/>
                    </a:ext>
                  </a:extLst>
                </a:gridCol>
              </a:tblGrid>
              <a:tr h="251450">
                <a:tc>
                  <a:txBody>
                    <a:bodyPr/>
                    <a:lstStyle/>
                    <a:p>
                      <a:pPr marL="0" lvl="0" indent="0" algn="l" rtl="0">
                        <a:spcBef>
                          <a:spcPts val="0"/>
                        </a:spcBef>
                        <a:spcAft>
                          <a:spcPts val="0"/>
                        </a:spcAft>
                        <a:buNone/>
                      </a:pPr>
                      <a:endParaRPr sz="1200" b="1"/>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gridSpan="2">
                  <a:txBody>
                    <a:bodyPr/>
                    <a:lstStyle/>
                    <a:p>
                      <a:pPr marL="0" lvl="0" indent="0" algn="ctr" rtl="0">
                        <a:lnSpc>
                          <a:spcPct val="115000"/>
                        </a:lnSpc>
                        <a:spcBef>
                          <a:spcPts val="0"/>
                        </a:spcBef>
                        <a:spcAft>
                          <a:spcPts val="0"/>
                        </a:spcAft>
                        <a:buNone/>
                      </a:pPr>
                      <a:r>
                        <a:rPr lang="en" sz="1200" b="1"/>
                        <a:t>pecking</a:t>
                      </a:r>
                      <a:endParaRPr sz="1200" b="1"/>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hMerge="1">
                  <a:txBody>
                    <a:bodyPr/>
                    <a:lstStyle/>
                    <a:p>
                      <a:endParaRPr lang="en-US"/>
                    </a:p>
                  </a:txBody>
                  <a:tcPr/>
                </a:tc>
                <a:tc gridSpan="2">
                  <a:txBody>
                    <a:bodyPr/>
                    <a:lstStyle/>
                    <a:p>
                      <a:pPr marL="0" lvl="0" indent="0" algn="ctr" rtl="0">
                        <a:lnSpc>
                          <a:spcPct val="115000"/>
                        </a:lnSpc>
                        <a:spcBef>
                          <a:spcPts val="0"/>
                        </a:spcBef>
                        <a:spcAft>
                          <a:spcPts val="0"/>
                        </a:spcAft>
                        <a:buNone/>
                      </a:pPr>
                      <a:r>
                        <a:rPr lang="en" sz="1200" b="1"/>
                        <a:t>dabbling</a:t>
                      </a:r>
                      <a:endParaRPr sz="1200" b="1"/>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hMerge="1">
                  <a:txBody>
                    <a:bodyPr/>
                    <a:lstStyle/>
                    <a:p>
                      <a:endParaRPr lang="en-US"/>
                    </a:p>
                  </a:txBody>
                  <a:tcPr/>
                </a:tc>
                <a:tc gridSpan="2">
                  <a:txBody>
                    <a:bodyPr/>
                    <a:lstStyle/>
                    <a:p>
                      <a:pPr marL="0" lvl="0" indent="0" algn="ctr" rtl="0">
                        <a:lnSpc>
                          <a:spcPct val="115000"/>
                        </a:lnSpc>
                        <a:spcBef>
                          <a:spcPts val="0"/>
                        </a:spcBef>
                        <a:spcAft>
                          <a:spcPts val="0"/>
                        </a:spcAft>
                        <a:buNone/>
                      </a:pPr>
                      <a:r>
                        <a:rPr lang="en" sz="1200" b="1"/>
                        <a:t>dipping</a:t>
                      </a:r>
                      <a:endParaRPr sz="1200" b="1"/>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hMerge="1">
                  <a:txBody>
                    <a:bodyPr/>
                    <a:lstStyle/>
                    <a:p>
                      <a:endParaRPr lang="en-US"/>
                    </a:p>
                  </a:txBody>
                  <a:tcPr/>
                </a:tc>
                <a:tc gridSpan="2">
                  <a:txBody>
                    <a:bodyPr/>
                    <a:lstStyle/>
                    <a:p>
                      <a:pPr marL="0" lvl="0" indent="0" algn="ctr" rtl="0">
                        <a:lnSpc>
                          <a:spcPct val="115000"/>
                        </a:lnSpc>
                        <a:spcBef>
                          <a:spcPts val="0"/>
                        </a:spcBef>
                        <a:spcAft>
                          <a:spcPts val="0"/>
                        </a:spcAft>
                        <a:buNone/>
                      </a:pPr>
                      <a:r>
                        <a:rPr lang="en" sz="1200" b="1"/>
                        <a:t>upending</a:t>
                      </a:r>
                      <a:endParaRPr sz="1200" b="1"/>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hMerge="1">
                  <a:txBody>
                    <a:bodyPr/>
                    <a:lstStyle/>
                    <a:p>
                      <a:endParaRPr lang="en-US"/>
                    </a:p>
                  </a:txBody>
                  <a:tcPr/>
                </a:tc>
                <a:extLst>
                  <a:ext uri="{0D108BD9-81ED-4DB2-BD59-A6C34878D82A}">
                    <a16:rowId xmlns:a16="http://schemas.microsoft.com/office/drawing/2014/main" val="10000"/>
                  </a:ext>
                </a:extLst>
              </a:tr>
              <a:tr h="228600">
                <a:tc>
                  <a:txBody>
                    <a:bodyPr/>
                    <a:lstStyle/>
                    <a:p>
                      <a:pPr marL="0" lvl="0" indent="0" algn="l" rtl="0">
                        <a:lnSpc>
                          <a:spcPct val="115000"/>
                        </a:lnSpc>
                        <a:spcBef>
                          <a:spcPts val="0"/>
                        </a:spcBef>
                        <a:spcAft>
                          <a:spcPts val="0"/>
                        </a:spcAft>
                        <a:buNone/>
                      </a:pPr>
                      <a:r>
                        <a:rPr lang="en" sz="1200" b="1"/>
                        <a:t>Time of Day</a:t>
                      </a:r>
                      <a:endParaRPr sz="1200" b="1"/>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ctr" rtl="0">
                        <a:lnSpc>
                          <a:spcPct val="115000"/>
                        </a:lnSpc>
                        <a:spcBef>
                          <a:spcPts val="0"/>
                        </a:spcBef>
                        <a:spcAft>
                          <a:spcPts val="0"/>
                        </a:spcAft>
                        <a:buNone/>
                      </a:pPr>
                      <a:r>
                        <a:rPr lang="en" sz="1200" b="1"/>
                        <a:t>mean</a:t>
                      </a:r>
                      <a:endParaRPr sz="1200" b="1"/>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ctr" rtl="0">
                        <a:lnSpc>
                          <a:spcPct val="115000"/>
                        </a:lnSpc>
                        <a:spcBef>
                          <a:spcPts val="0"/>
                        </a:spcBef>
                        <a:spcAft>
                          <a:spcPts val="0"/>
                        </a:spcAft>
                        <a:buNone/>
                      </a:pPr>
                      <a:r>
                        <a:rPr lang="en" sz="1200" b="1"/>
                        <a:t>sd</a:t>
                      </a:r>
                      <a:endParaRPr sz="1200" b="1"/>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ctr" rtl="0">
                        <a:lnSpc>
                          <a:spcPct val="115000"/>
                        </a:lnSpc>
                        <a:spcBef>
                          <a:spcPts val="0"/>
                        </a:spcBef>
                        <a:spcAft>
                          <a:spcPts val="0"/>
                        </a:spcAft>
                        <a:buClr>
                          <a:schemeClr val="dk1"/>
                        </a:buClr>
                        <a:buSzPts val="1100"/>
                        <a:buFont typeface="Arial"/>
                        <a:buNone/>
                      </a:pPr>
                      <a:r>
                        <a:rPr lang="en" sz="1200" b="1">
                          <a:solidFill>
                            <a:schemeClr val="dk1"/>
                          </a:solidFill>
                        </a:rPr>
                        <a:t>mean</a:t>
                      </a:r>
                      <a:endParaRPr sz="1200" b="1"/>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ctr" rtl="0">
                        <a:lnSpc>
                          <a:spcPct val="115000"/>
                        </a:lnSpc>
                        <a:spcBef>
                          <a:spcPts val="0"/>
                        </a:spcBef>
                        <a:spcAft>
                          <a:spcPts val="0"/>
                        </a:spcAft>
                        <a:buNone/>
                      </a:pPr>
                      <a:r>
                        <a:rPr lang="en" sz="1200" b="1"/>
                        <a:t>sd</a:t>
                      </a:r>
                      <a:endParaRPr sz="1200" b="1"/>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ctr" rtl="0">
                        <a:lnSpc>
                          <a:spcPct val="115000"/>
                        </a:lnSpc>
                        <a:spcBef>
                          <a:spcPts val="0"/>
                        </a:spcBef>
                        <a:spcAft>
                          <a:spcPts val="0"/>
                        </a:spcAft>
                        <a:buClr>
                          <a:schemeClr val="dk1"/>
                        </a:buClr>
                        <a:buSzPts val="1100"/>
                        <a:buFont typeface="Arial"/>
                        <a:buNone/>
                      </a:pPr>
                      <a:r>
                        <a:rPr lang="en" sz="1200" b="1">
                          <a:solidFill>
                            <a:schemeClr val="dk1"/>
                          </a:solidFill>
                        </a:rPr>
                        <a:t>mean</a:t>
                      </a:r>
                      <a:endParaRPr sz="1200" b="1"/>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ctr" rtl="0">
                        <a:lnSpc>
                          <a:spcPct val="115000"/>
                        </a:lnSpc>
                        <a:spcBef>
                          <a:spcPts val="0"/>
                        </a:spcBef>
                        <a:spcAft>
                          <a:spcPts val="0"/>
                        </a:spcAft>
                        <a:buNone/>
                      </a:pPr>
                      <a:r>
                        <a:rPr lang="en" sz="1200" b="1"/>
                        <a:t>sd</a:t>
                      </a:r>
                      <a:endParaRPr sz="1200" b="1"/>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ctr" rtl="0">
                        <a:lnSpc>
                          <a:spcPct val="115000"/>
                        </a:lnSpc>
                        <a:spcBef>
                          <a:spcPts val="0"/>
                        </a:spcBef>
                        <a:spcAft>
                          <a:spcPts val="0"/>
                        </a:spcAft>
                        <a:buClr>
                          <a:schemeClr val="dk1"/>
                        </a:buClr>
                        <a:buSzPts val="1100"/>
                        <a:buFont typeface="Arial"/>
                        <a:buNone/>
                      </a:pPr>
                      <a:r>
                        <a:rPr lang="en" sz="1200" b="1">
                          <a:solidFill>
                            <a:schemeClr val="dk1"/>
                          </a:solidFill>
                        </a:rPr>
                        <a:t>mean</a:t>
                      </a:r>
                      <a:endParaRPr sz="1200" b="1"/>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ctr" rtl="0">
                        <a:lnSpc>
                          <a:spcPct val="115000"/>
                        </a:lnSpc>
                        <a:spcBef>
                          <a:spcPts val="0"/>
                        </a:spcBef>
                        <a:spcAft>
                          <a:spcPts val="0"/>
                        </a:spcAft>
                        <a:buNone/>
                      </a:pPr>
                      <a:r>
                        <a:rPr lang="en" sz="1200" b="1"/>
                        <a:t>sd</a:t>
                      </a:r>
                      <a:endParaRPr sz="1200" b="1"/>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extLst>
                  <a:ext uri="{0D108BD9-81ED-4DB2-BD59-A6C34878D82A}">
                    <a16:rowId xmlns:a16="http://schemas.microsoft.com/office/drawing/2014/main" val="10001"/>
                  </a:ext>
                </a:extLst>
              </a:tr>
              <a:tr h="228600">
                <a:tc>
                  <a:txBody>
                    <a:bodyPr/>
                    <a:lstStyle/>
                    <a:p>
                      <a:pPr marL="0" lvl="0" indent="0" algn="l" rtl="0">
                        <a:lnSpc>
                          <a:spcPct val="115000"/>
                        </a:lnSpc>
                        <a:spcBef>
                          <a:spcPts val="0"/>
                        </a:spcBef>
                        <a:spcAft>
                          <a:spcPts val="0"/>
                        </a:spcAft>
                        <a:buNone/>
                      </a:pPr>
                      <a:r>
                        <a:rPr lang="en" sz="1200"/>
                        <a:t>morning</a:t>
                      </a:r>
                      <a:endParaRPr sz="12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CCCCCC"/>
                      </a:solidFill>
                      <a:prstDash val="solid"/>
                      <a:round/>
                      <a:headEnd type="none" w="sm" len="sm"/>
                      <a:tailEnd type="none" w="sm" len="sm"/>
                    </a:lnB>
                    <a:solidFill>
                      <a:schemeClr val="lt2"/>
                    </a:solidFill>
                  </a:tcPr>
                </a:tc>
                <a:tc>
                  <a:txBody>
                    <a:bodyPr/>
                    <a:lstStyle/>
                    <a:p>
                      <a:pPr marL="0" lvl="0" indent="0" algn="l" rtl="0">
                        <a:lnSpc>
                          <a:spcPct val="115000"/>
                        </a:lnSpc>
                        <a:spcBef>
                          <a:spcPts val="0"/>
                        </a:spcBef>
                        <a:spcAft>
                          <a:spcPts val="0"/>
                        </a:spcAft>
                        <a:buNone/>
                      </a:pPr>
                      <a:r>
                        <a:rPr lang="en" sz="1200"/>
                        <a:t>0.5952381</a:t>
                      </a:r>
                      <a:endParaRPr sz="1200"/>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CCCCCC"/>
                      </a:solidFill>
                      <a:prstDash val="solid"/>
                      <a:round/>
                      <a:headEnd type="none" w="sm" len="sm"/>
                      <a:tailEnd type="none" w="sm" len="sm"/>
                    </a:lnB>
                    <a:solidFill>
                      <a:schemeClr val="lt2"/>
                    </a:solidFill>
                  </a:tcPr>
                </a:tc>
                <a:tc>
                  <a:txBody>
                    <a:bodyPr/>
                    <a:lstStyle/>
                    <a:p>
                      <a:pPr marL="0" lvl="0" indent="0" algn="l" rtl="0">
                        <a:lnSpc>
                          <a:spcPct val="115000"/>
                        </a:lnSpc>
                        <a:spcBef>
                          <a:spcPts val="0"/>
                        </a:spcBef>
                        <a:spcAft>
                          <a:spcPts val="0"/>
                        </a:spcAft>
                        <a:buNone/>
                      </a:pPr>
                      <a:r>
                        <a:rPr lang="en" sz="1200"/>
                        <a:t>1.498935</a:t>
                      </a:r>
                      <a:endParaRPr sz="1200"/>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CCCCCC"/>
                      </a:solidFill>
                      <a:prstDash val="solid"/>
                      <a:round/>
                      <a:headEnd type="none" w="sm" len="sm"/>
                      <a:tailEnd type="none" w="sm" len="sm"/>
                    </a:lnB>
                    <a:solidFill>
                      <a:schemeClr val="lt2"/>
                    </a:solidFill>
                  </a:tcPr>
                </a:tc>
                <a:tc>
                  <a:txBody>
                    <a:bodyPr/>
                    <a:lstStyle/>
                    <a:p>
                      <a:pPr marL="0" lvl="0" indent="0" algn="l" rtl="0">
                        <a:lnSpc>
                          <a:spcPct val="115000"/>
                        </a:lnSpc>
                        <a:spcBef>
                          <a:spcPts val="0"/>
                        </a:spcBef>
                        <a:spcAft>
                          <a:spcPts val="0"/>
                        </a:spcAft>
                        <a:buNone/>
                      </a:pPr>
                      <a:r>
                        <a:rPr lang="en" sz="1200"/>
                        <a:t>2.404762</a:t>
                      </a:r>
                      <a:endParaRPr sz="1200"/>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CCCCCC"/>
                      </a:solidFill>
                      <a:prstDash val="solid"/>
                      <a:round/>
                      <a:headEnd type="none" w="sm" len="sm"/>
                      <a:tailEnd type="none" w="sm" len="sm"/>
                    </a:lnB>
                    <a:solidFill>
                      <a:schemeClr val="lt2"/>
                    </a:solidFill>
                  </a:tcPr>
                </a:tc>
                <a:tc>
                  <a:txBody>
                    <a:bodyPr/>
                    <a:lstStyle/>
                    <a:p>
                      <a:pPr marL="0" lvl="0" indent="0" algn="l" rtl="0">
                        <a:lnSpc>
                          <a:spcPct val="115000"/>
                        </a:lnSpc>
                        <a:spcBef>
                          <a:spcPts val="0"/>
                        </a:spcBef>
                        <a:spcAft>
                          <a:spcPts val="0"/>
                        </a:spcAft>
                        <a:buNone/>
                      </a:pPr>
                      <a:r>
                        <a:rPr lang="en" sz="1200"/>
                        <a:t>3.901591</a:t>
                      </a:r>
                      <a:endParaRPr sz="1200"/>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CCCCCC"/>
                      </a:solidFill>
                      <a:prstDash val="solid"/>
                      <a:round/>
                      <a:headEnd type="none" w="sm" len="sm"/>
                      <a:tailEnd type="none" w="sm" len="sm"/>
                    </a:lnB>
                    <a:solidFill>
                      <a:schemeClr val="lt2"/>
                    </a:solidFill>
                  </a:tcPr>
                </a:tc>
                <a:tc>
                  <a:txBody>
                    <a:bodyPr/>
                    <a:lstStyle/>
                    <a:p>
                      <a:pPr marL="0" lvl="0" indent="0" algn="l" rtl="0">
                        <a:lnSpc>
                          <a:spcPct val="115000"/>
                        </a:lnSpc>
                        <a:spcBef>
                          <a:spcPts val="0"/>
                        </a:spcBef>
                        <a:spcAft>
                          <a:spcPts val="0"/>
                        </a:spcAft>
                        <a:buNone/>
                      </a:pPr>
                      <a:r>
                        <a:rPr lang="en" sz="1200"/>
                        <a:t>1.142857</a:t>
                      </a:r>
                      <a:endParaRPr sz="1200"/>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CCCCCC"/>
                      </a:solidFill>
                      <a:prstDash val="solid"/>
                      <a:round/>
                      <a:headEnd type="none" w="sm" len="sm"/>
                      <a:tailEnd type="none" w="sm" len="sm"/>
                    </a:lnB>
                    <a:solidFill>
                      <a:schemeClr val="lt2"/>
                    </a:solidFill>
                  </a:tcPr>
                </a:tc>
                <a:tc>
                  <a:txBody>
                    <a:bodyPr/>
                    <a:lstStyle/>
                    <a:p>
                      <a:pPr marL="0" lvl="0" indent="0" algn="l" rtl="0">
                        <a:lnSpc>
                          <a:spcPct val="115000"/>
                        </a:lnSpc>
                        <a:spcBef>
                          <a:spcPts val="0"/>
                        </a:spcBef>
                        <a:spcAft>
                          <a:spcPts val="0"/>
                        </a:spcAft>
                        <a:buNone/>
                      </a:pPr>
                      <a:r>
                        <a:rPr lang="en" sz="1200"/>
                        <a:t>1.920003</a:t>
                      </a:r>
                      <a:endParaRPr sz="1200"/>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CCCCCC"/>
                      </a:solidFill>
                      <a:prstDash val="solid"/>
                      <a:round/>
                      <a:headEnd type="none" w="sm" len="sm"/>
                      <a:tailEnd type="none" w="sm" len="sm"/>
                    </a:lnB>
                    <a:solidFill>
                      <a:schemeClr val="lt2"/>
                    </a:solidFill>
                  </a:tcPr>
                </a:tc>
                <a:tc>
                  <a:txBody>
                    <a:bodyPr/>
                    <a:lstStyle/>
                    <a:p>
                      <a:pPr marL="0" lvl="0" indent="0" algn="l" rtl="0">
                        <a:lnSpc>
                          <a:spcPct val="115000"/>
                        </a:lnSpc>
                        <a:spcBef>
                          <a:spcPts val="0"/>
                        </a:spcBef>
                        <a:spcAft>
                          <a:spcPts val="0"/>
                        </a:spcAft>
                        <a:buNone/>
                      </a:pPr>
                      <a:r>
                        <a:rPr lang="en" sz="1200"/>
                        <a:t>0.6190476</a:t>
                      </a:r>
                      <a:endParaRPr sz="1200"/>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CCCCCC"/>
                      </a:solidFill>
                      <a:prstDash val="solid"/>
                      <a:round/>
                      <a:headEnd type="none" w="sm" len="sm"/>
                      <a:tailEnd type="none" w="sm" len="sm"/>
                    </a:lnB>
                    <a:solidFill>
                      <a:schemeClr val="lt2"/>
                    </a:solidFill>
                  </a:tcPr>
                </a:tc>
                <a:tc>
                  <a:txBody>
                    <a:bodyPr/>
                    <a:lstStyle/>
                    <a:p>
                      <a:pPr marL="0" lvl="0" indent="0" algn="l" rtl="0">
                        <a:lnSpc>
                          <a:spcPct val="115000"/>
                        </a:lnSpc>
                        <a:spcBef>
                          <a:spcPts val="0"/>
                        </a:spcBef>
                        <a:spcAft>
                          <a:spcPts val="0"/>
                        </a:spcAft>
                        <a:buNone/>
                      </a:pPr>
                      <a:r>
                        <a:rPr lang="en" sz="1200"/>
                        <a:t>1.188407</a:t>
                      </a:r>
                      <a:endParaRPr sz="1200"/>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CCCCCC"/>
                      </a:solidFill>
                      <a:prstDash val="solid"/>
                      <a:round/>
                      <a:headEnd type="none" w="sm" len="sm"/>
                      <a:tailEnd type="none" w="sm" len="sm"/>
                    </a:lnB>
                    <a:solidFill>
                      <a:schemeClr val="lt2"/>
                    </a:solidFill>
                  </a:tcPr>
                </a:tc>
                <a:extLst>
                  <a:ext uri="{0D108BD9-81ED-4DB2-BD59-A6C34878D82A}">
                    <a16:rowId xmlns:a16="http://schemas.microsoft.com/office/drawing/2014/main" val="10002"/>
                  </a:ext>
                </a:extLst>
              </a:tr>
              <a:tr h="228600">
                <a:tc>
                  <a:txBody>
                    <a:bodyPr/>
                    <a:lstStyle/>
                    <a:p>
                      <a:pPr marL="0" lvl="0" indent="0" algn="l" rtl="0">
                        <a:lnSpc>
                          <a:spcPct val="115000"/>
                        </a:lnSpc>
                        <a:spcBef>
                          <a:spcPts val="0"/>
                        </a:spcBef>
                        <a:spcAft>
                          <a:spcPts val="0"/>
                        </a:spcAft>
                        <a:buNone/>
                      </a:pPr>
                      <a:r>
                        <a:rPr lang="en" sz="1200"/>
                        <a:t>afternoon</a:t>
                      </a:r>
                      <a:endParaRPr sz="12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chemeClr val="lt2"/>
                    </a:solidFill>
                  </a:tcPr>
                </a:tc>
                <a:tc>
                  <a:txBody>
                    <a:bodyPr/>
                    <a:lstStyle/>
                    <a:p>
                      <a:pPr marL="0" lvl="0" indent="0" algn="l" rtl="0">
                        <a:lnSpc>
                          <a:spcPct val="115000"/>
                        </a:lnSpc>
                        <a:spcBef>
                          <a:spcPts val="0"/>
                        </a:spcBef>
                        <a:spcAft>
                          <a:spcPts val="0"/>
                        </a:spcAft>
                        <a:buNone/>
                      </a:pPr>
                      <a:r>
                        <a:rPr lang="en" sz="1200"/>
                        <a:t>0.8571429</a:t>
                      </a:r>
                      <a:endParaRPr sz="1200"/>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chemeClr val="lt2"/>
                    </a:solidFill>
                  </a:tcPr>
                </a:tc>
                <a:tc>
                  <a:txBody>
                    <a:bodyPr/>
                    <a:lstStyle/>
                    <a:p>
                      <a:pPr marL="0" lvl="0" indent="0" algn="l" rtl="0">
                        <a:lnSpc>
                          <a:spcPct val="115000"/>
                        </a:lnSpc>
                        <a:spcBef>
                          <a:spcPts val="0"/>
                        </a:spcBef>
                        <a:spcAft>
                          <a:spcPts val="0"/>
                        </a:spcAft>
                        <a:buNone/>
                      </a:pPr>
                      <a:r>
                        <a:rPr lang="en" sz="1200"/>
                        <a:t>1.675817</a:t>
                      </a:r>
                      <a:endParaRPr sz="1200"/>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chemeClr val="lt2"/>
                    </a:solidFill>
                  </a:tcPr>
                </a:tc>
                <a:tc>
                  <a:txBody>
                    <a:bodyPr/>
                    <a:lstStyle/>
                    <a:p>
                      <a:pPr marL="0" lvl="0" indent="0" algn="l" rtl="0">
                        <a:lnSpc>
                          <a:spcPct val="115000"/>
                        </a:lnSpc>
                        <a:spcBef>
                          <a:spcPts val="0"/>
                        </a:spcBef>
                        <a:spcAft>
                          <a:spcPts val="0"/>
                        </a:spcAft>
                        <a:buNone/>
                      </a:pPr>
                      <a:r>
                        <a:rPr lang="en" sz="1200"/>
                        <a:t>2.809524</a:t>
                      </a:r>
                      <a:endParaRPr sz="1200"/>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chemeClr val="lt2"/>
                    </a:solidFill>
                  </a:tcPr>
                </a:tc>
                <a:tc>
                  <a:txBody>
                    <a:bodyPr/>
                    <a:lstStyle/>
                    <a:p>
                      <a:pPr marL="0" lvl="0" indent="0" algn="l" rtl="0">
                        <a:lnSpc>
                          <a:spcPct val="115000"/>
                        </a:lnSpc>
                        <a:spcBef>
                          <a:spcPts val="0"/>
                        </a:spcBef>
                        <a:spcAft>
                          <a:spcPts val="0"/>
                        </a:spcAft>
                        <a:buNone/>
                      </a:pPr>
                      <a:r>
                        <a:rPr lang="en" sz="1200"/>
                        <a:t>3.307332</a:t>
                      </a:r>
                      <a:endParaRPr sz="1200"/>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chemeClr val="lt2"/>
                    </a:solidFill>
                  </a:tcPr>
                </a:tc>
                <a:tc>
                  <a:txBody>
                    <a:bodyPr/>
                    <a:lstStyle/>
                    <a:p>
                      <a:pPr marL="0" lvl="0" indent="0" algn="l" rtl="0">
                        <a:lnSpc>
                          <a:spcPct val="115000"/>
                        </a:lnSpc>
                        <a:spcBef>
                          <a:spcPts val="0"/>
                        </a:spcBef>
                        <a:spcAft>
                          <a:spcPts val="0"/>
                        </a:spcAft>
                        <a:buNone/>
                      </a:pPr>
                      <a:r>
                        <a:rPr lang="en" sz="1200"/>
                        <a:t>2.5</a:t>
                      </a:r>
                      <a:endParaRPr sz="1200"/>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chemeClr val="lt2"/>
                    </a:solidFill>
                  </a:tcPr>
                </a:tc>
                <a:tc>
                  <a:txBody>
                    <a:bodyPr/>
                    <a:lstStyle/>
                    <a:p>
                      <a:pPr marL="0" lvl="0" indent="0" algn="l" rtl="0">
                        <a:lnSpc>
                          <a:spcPct val="115000"/>
                        </a:lnSpc>
                        <a:spcBef>
                          <a:spcPts val="0"/>
                        </a:spcBef>
                        <a:spcAft>
                          <a:spcPts val="0"/>
                        </a:spcAft>
                        <a:buNone/>
                      </a:pPr>
                      <a:r>
                        <a:rPr lang="en" sz="1200"/>
                        <a:t>3.140996</a:t>
                      </a:r>
                      <a:endParaRPr sz="1200"/>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chemeClr val="lt2"/>
                    </a:solidFill>
                  </a:tcPr>
                </a:tc>
                <a:tc>
                  <a:txBody>
                    <a:bodyPr/>
                    <a:lstStyle/>
                    <a:p>
                      <a:pPr marL="0" lvl="0" indent="0" algn="l" rtl="0">
                        <a:lnSpc>
                          <a:spcPct val="115000"/>
                        </a:lnSpc>
                        <a:spcBef>
                          <a:spcPts val="0"/>
                        </a:spcBef>
                        <a:spcAft>
                          <a:spcPts val="0"/>
                        </a:spcAft>
                        <a:buNone/>
                      </a:pPr>
                      <a:r>
                        <a:rPr lang="en" sz="1200"/>
                        <a:t>1</a:t>
                      </a:r>
                      <a:endParaRPr sz="1200"/>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chemeClr val="lt2"/>
                    </a:solidFill>
                  </a:tcPr>
                </a:tc>
                <a:tc>
                  <a:txBody>
                    <a:bodyPr/>
                    <a:lstStyle/>
                    <a:p>
                      <a:pPr marL="0" lvl="0" indent="0" algn="l" rtl="0">
                        <a:lnSpc>
                          <a:spcPct val="115000"/>
                        </a:lnSpc>
                        <a:spcBef>
                          <a:spcPts val="0"/>
                        </a:spcBef>
                        <a:spcAft>
                          <a:spcPts val="0"/>
                        </a:spcAft>
                        <a:buNone/>
                      </a:pPr>
                      <a:r>
                        <a:rPr lang="en" sz="1200"/>
                        <a:t>1.861025</a:t>
                      </a:r>
                      <a:endParaRPr sz="1200"/>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chemeClr val="lt2"/>
                    </a:solidFill>
                  </a:tcPr>
                </a:tc>
                <a:extLst>
                  <a:ext uri="{0D108BD9-81ED-4DB2-BD59-A6C34878D82A}">
                    <a16:rowId xmlns:a16="http://schemas.microsoft.com/office/drawing/2014/main" val="10003"/>
                  </a:ext>
                </a:extLst>
              </a:tr>
              <a:tr h="228600">
                <a:tc>
                  <a:txBody>
                    <a:bodyPr/>
                    <a:lstStyle/>
                    <a:p>
                      <a:pPr marL="0" lvl="0" indent="0" algn="l" rtl="0">
                        <a:lnSpc>
                          <a:spcPct val="115000"/>
                        </a:lnSpc>
                        <a:spcBef>
                          <a:spcPts val="0"/>
                        </a:spcBef>
                        <a:spcAft>
                          <a:spcPts val="0"/>
                        </a:spcAft>
                        <a:buNone/>
                      </a:pPr>
                      <a:r>
                        <a:rPr lang="en" sz="1200"/>
                        <a:t>evening</a:t>
                      </a:r>
                      <a:endParaRPr sz="12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l" rtl="0">
                        <a:lnSpc>
                          <a:spcPct val="115000"/>
                        </a:lnSpc>
                        <a:spcBef>
                          <a:spcPts val="0"/>
                        </a:spcBef>
                        <a:spcAft>
                          <a:spcPts val="0"/>
                        </a:spcAft>
                        <a:buNone/>
                      </a:pPr>
                      <a:r>
                        <a:rPr lang="en" sz="1200" dirty="0"/>
                        <a:t>3</a:t>
                      </a:r>
                      <a:endParaRPr sz="1200" dirty="0"/>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l" rtl="0">
                        <a:lnSpc>
                          <a:spcPct val="115000"/>
                        </a:lnSpc>
                        <a:spcBef>
                          <a:spcPts val="0"/>
                        </a:spcBef>
                        <a:spcAft>
                          <a:spcPts val="0"/>
                        </a:spcAft>
                        <a:buNone/>
                      </a:pPr>
                      <a:r>
                        <a:rPr lang="en" sz="1200"/>
                        <a:t>2.419434</a:t>
                      </a:r>
                      <a:endParaRPr sz="1200"/>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l" rtl="0">
                        <a:lnSpc>
                          <a:spcPct val="115000"/>
                        </a:lnSpc>
                        <a:spcBef>
                          <a:spcPts val="0"/>
                        </a:spcBef>
                        <a:spcAft>
                          <a:spcPts val="0"/>
                        </a:spcAft>
                        <a:buNone/>
                      </a:pPr>
                      <a:r>
                        <a:rPr lang="en" sz="1200"/>
                        <a:t>7.880952</a:t>
                      </a:r>
                      <a:endParaRPr sz="1200"/>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l" rtl="0">
                        <a:lnSpc>
                          <a:spcPct val="115000"/>
                        </a:lnSpc>
                        <a:spcBef>
                          <a:spcPts val="0"/>
                        </a:spcBef>
                        <a:spcAft>
                          <a:spcPts val="0"/>
                        </a:spcAft>
                        <a:buNone/>
                      </a:pPr>
                      <a:r>
                        <a:rPr lang="en" sz="1200"/>
                        <a:t>4.484131</a:t>
                      </a:r>
                      <a:endParaRPr sz="1200"/>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l" rtl="0">
                        <a:lnSpc>
                          <a:spcPct val="115000"/>
                        </a:lnSpc>
                        <a:spcBef>
                          <a:spcPts val="0"/>
                        </a:spcBef>
                        <a:spcAft>
                          <a:spcPts val="0"/>
                        </a:spcAft>
                        <a:buNone/>
                      </a:pPr>
                      <a:r>
                        <a:rPr lang="en" sz="1200"/>
                        <a:t>9.47619</a:t>
                      </a:r>
                      <a:endParaRPr sz="1200"/>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l" rtl="0">
                        <a:lnSpc>
                          <a:spcPct val="115000"/>
                        </a:lnSpc>
                        <a:spcBef>
                          <a:spcPts val="0"/>
                        </a:spcBef>
                        <a:spcAft>
                          <a:spcPts val="0"/>
                        </a:spcAft>
                        <a:buNone/>
                      </a:pPr>
                      <a:r>
                        <a:rPr lang="en" sz="1200"/>
                        <a:t>7.249014</a:t>
                      </a:r>
                      <a:endParaRPr sz="1200"/>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l" rtl="0">
                        <a:lnSpc>
                          <a:spcPct val="115000"/>
                        </a:lnSpc>
                        <a:spcBef>
                          <a:spcPts val="0"/>
                        </a:spcBef>
                        <a:spcAft>
                          <a:spcPts val="0"/>
                        </a:spcAft>
                        <a:buNone/>
                      </a:pPr>
                      <a:r>
                        <a:rPr lang="en" sz="1200"/>
                        <a:t>4.238095</a:t>
                      </a:r>
                      <a:endParaRPr sz="1200"/>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l" rtl="0">
                        <a:lnSpc>
                          <a:spcPct val="115000"/>
                        </a:lnSpc>
                        <a:spcBef>
                          <a:spcPts val="0"/>
                        </a:spcBef>
                        <a:spcAft>
                          <a:spcPts val="0"/>
                        </a:spcAft>
                        <a:buNone/>
                      </a:pPr>
                      <a:r>
                        <a:rPr lang="en" sz="1200"/>
                        <a:t>4.326941</a:t>
                      </a:r>
                      <a:endParaRPr sz="1200"/>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extLst>
                  <a:ext uri="{0D108BD9-81ED-4DB2-BD59-A6C34878D82A}">
                    <a16:rowId xmlns:a16="http://schemas.microsoft.com/office/drawing/2014/main" val="10004"/>
                  </a:ext>
                </a:extLst>
              </a:tr>
              <a:tr h="228600">
                <a:tc>
                  <a:txBody>
                    <a:bodyPr/>
                    <a:lstStyle/>
                    <a:p>
                      <a:pPr marL="0" lvl="0" indent="0" algn="l" rtl="0">
                        <a:lnSpc>
                          <a:spcPct val="115000"/>
                        </a:lnSpc>
                        <a:spcBef>
                          <a:spcPts val="0"/>
                        </a:spcBef>
                        <a:spcAft>
                          <a:spcPts val="0"/>
                        </a:spcAft>
                        <a:buNone/>
                      </a:pPr>
                      <a:r>
                        <a:rPr lang="en" sz="800" b="1"/>
                        <a:t>Kruskal Wallis Test:</a:t>
                      </a:r>
                      <a:endParaRPr sz="800" b="1"/>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gridSpan="2">
                  <a:txBody>
                    <a:bodyPr/>
                    <a:lstStyle/>
                    <a:p>
                      <a:pPr marL="0" lvl="0" indent="0" algn="l" rtl="0">
                        <a:lnSpc>
                          <a:spcPct val="115000"/>
                        </a:lnSpc>
                        <a:spcBef>
                          <a:spcPts val="0"/>
                        </a:spcBef>
                        <a:spcAft>
                          <a:spcPts val="0"/>
                        </a:spcAft>
                        <a:buNone/>
                      </a:pPr>
                      <a:r>
                        <a:rPr lang="en" sz="1200" b="1"/>
                        <a:t>chi-squared</a:t>
                      </a:r>
                      <a:r>
                        <a:rPr lang="en" sz="1200"/>
                        <a:t> = 150.26</a:t>
                      </a:r>
                      <a:endParaRPr sz="12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hMerge="1">
                  <a:txBody>
                    <a:bodyPr/>
                    <a:lstStyle/>
                    <a:p>
                      <a:endParaRPr lang="en-US"/>
                    </a:p>
                  </a:txBody>
                  <a:tcPr/>
                </a:tc>
                <a:tc gridSpan="2">
                  <a:txBody>
                    <a:bodyPr/>
                    <a:lstStyle/>
                    <a:p>
                      <a:pPr marL="0" lvl="0" indent="0" algn="l" rtl="0">
                        <a:lnSpc>
                          <a:spcPct val="115000"/>
                        </a:lnSpc>
                        <a:spcBef>
                          <a:spcPts val="0"/>
                        </a:spcBef>
                        <a:spcAft>
                          <a:spcPts val="0"/>
                        </a:spcAft>
                        <a:buNone/>
                      </a:pPr>
                      <a:r>
                        <a:rPr lang="en" sz="1200" b="1"/>
                        <a:t>df</a:t>
                      </a:r>
                      <a:r>
                        <a:rPr lang="en" sz="1200"/>
                        <a:t> = 2</a:t>
                      </a:r>
                      <a:endParaRPr sz="12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hMerge="1">
                  <a:txBody>
                    <a:bodyPr/>
                    <a:lstStyle/>
                    <a:p>
                      <a:endParaRPr lang="en-US"/>
                    </a:p>
                  </a:txBody>
                  <a:tcPr/>
                </a:tc>
                <a:tc gridSpan="2">
                  <a:txBody>
                    <a:bodyPr/>
                    <a:lstStyle/>
                    <a:p>
                      <a:pPr marL="0" lvl="0" indent="0" algn="l" rtl="0">
                        <a:lnSpc>
                          <a:spcPct val="115000"/>
                        </a:lnSpc>
                        <a:spcBef>
                          <a:spcPts val="0"/>
                        </a:spcBef>
                        <a:spcAft>
                          <a:spcPts val="0"/>
                        </a:spcAft>
                        <a:buNone/>
                      </a:pPr>
                      <a:r>
                        <a:rPr lang="en" sz="1200" b="1"/>
                        <a:t>p-value</a:t>
                      </a:r>
                      <a:r>
                        <a:rPr lang="en" sz="1200"/>
                        <a:t> &lt; 2.2e-16</a:t>
                      </a:r>
                      <a:endParaRPr sz="1200"/>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hMerge="1">
                  <a:txBody>
                    <a:bodyPr/>
                    <a:lstStyle/>
                    <a:p>
                      <a:endParaRPr lang="en-US"/>
                    </a:p>
                  </a:txBody>
                  <a:tcPr/>
                </a:tc>
                <a:tc>
                  <a:txBody>
                    <a:bodyPr/>
                    <a:lstStyle/>
                    <a:p>
                      <a:pPr marL="0" lvl="0" indent="0" algn="l" rtl="0">
                        <a:spcBef>
                          <a:spcPts val="0"/>
                        </a:spcBef>
                        <a:spcAft>
                          <a:spcPts val="0"/>
                        </a:spcAft>
                        <a:buNone/>
                      </a:pPr>
                      <a:endParaRPr sz="1200"/>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CCCCCC"/>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endParaRPr sz="1200" dirty="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CCCCCC"/>
                      </a:solidFill>
                      <a:prstDash val="solid"/>
                      <a:round/>
                      <a:headEnd type="none" w="sm" len="sm"/>
                      <a:tailEnd type="none" w="sm" len="sm"/>
                    </a:lnB>
                    <a:solidFill>
                      <a:schemeClr val="lt2"/>
                    </a:solidFill>
                  </a:tcPr>
                </a:tc>
                <a:extLst>
                  <a:ext uri="{0D108BD9-81ED-4DB2-BD59-A6C34878D82A}">
                    <a16:rowId xmlns:a16="http://schemas.microsoft.com/office/drawing/2014/main" val="10005"/>
                  </a:ext>
                </a:extLst>
              </a:tr>
            </a:tbl>
          </a:graphicData>
        </a:graphic>
      </p:graphicFrame>
      <p:sp>
        <p:nvSpPr>
          <p:cNvPr id="183" name="Google Shape;183;p25"/>
          <p:cNvSpPr txBox="1"/>
          <p:nvPr/>
        </p:nvSpPr>
        <p:spPr>
          <a:xfrm>
            <a:off x="694150" y="2500368"/>
            <a:ext cx="7919100" cy="2555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dirty="0"/>
              <a:t>Table 3.</a:t>
            </a:r>
            <a:r>
              <a:rPr lang="en" sz="1200" dirty="0"/>
              <a:t> Summary Statistics of Frequency of Foraging Behaviors Between Time of Day</a:t>
            </a:r>
            <a:endParaRPr sz="1200" dirty="0"/>
          </a:p>
          <a:p>
            <a:pPr marL="0" lvl="0" indent="0" algn="l" rtl="0">
              <a:spcBef>
                <a:spcPts val="0"/>
              </a:spcBef>
              <a:spcAft>
                <a:spcPts val="0"/>
              </a:spcAft>
              <a:buNone/>
            </a:pPr>
            <a:endParaRPr dirty="0"/>
          </a:p>
          <a:p>
            <a:pPr marL="0" lvl="0" indent="0" algn="l" rtl="0">
              <a:spcBef>
                <a:spcPts val="0"/>
              </a:spcBef>
              <a:spcAft>
                <a:spcPts val="0"/>
              </a:spcAft>
              <a:buClr>
                <a:schemeClr val="dk1"/>
              </a:buClr>
              <a:buSzPts val="1100"/>
              <a:buFont typeface="Arial"/>
              <a:buNone/>
            </a:pPr>
            <a:r>
              <a:rPr lang="en" b="1" dirty="0"/>
              <a:t>Trends:</a:t>
            </a:r>
            <a:endParaRPr b="1" dirty="0"/>
          </a:p>
          <a:p>
            <a:pPr marL="457200" lvl="0" indent="-317500" algn="l" rtl="0">
              <a:spcBef>
                <a:spcPts val="0"/>
              </a:spcBef>
              <a:spcAft>
                <a:spcPts val="0"/>
              </a:spcAft>
              <a:buSzPts val="1400"/>
              <a:buChar char="-"/>
            </a:pPr>
            <a:r>
              <a:rPr lang="en" dirty="0"/>
              <a:t>The frequency of the four different types of foraging behaviors observed increases as the day progresses.</a:t>
            </a:r>
            <a:endParaRPr dirty="0"/>
          </a:p>
          <a:p>
            <a:pPr marL="457200" lvl="0" indent="-317500" algn="l" rtl="0">
              <a:spcBef>
                <a:spcPts val="0"/>
              </a:spcBef>
              <a:spcAft>
                <a:spcPts val="0"/>
              </a:spcAft>
              <a:buSzPts val="1400"/>
              <a:buChar char="-"/>
            </a:pPr>
            <a:r>
              <a:rPr lang="en" dirty="0"/>
              <a:t>The frequency of the dabbling and dipping behavior is greater than the frequency of the pecking and upending behavior.</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b="1" dirty="0"/>
              <a:t>Statistical Test - </a:t>
            </a:r>
            <a:r>
              <a:rPr lang="en" b="1" dirty="0">
                <a:solidFill>
                  <a:schemeClr val="dk1"/>
                </a:solidFill>
              </a:rPr>
              <a:t>Kruskal-Wallis test</a:t>
            </a:r>
            <a:r>
              <a:rPr lang="en" b="1" dirty="0"/>
              <a:t>:</a:t>
            </a:r>
            <a:r>
              <a:rPr lang="en" dirty="0"/>
              <a:t> </a:t>
            </a:r>
            <a:endParaRPr dirty="0"/>
          </a:p>
          <a:p>
            <a:pPr marL="457200" lvl="0" indent="-317500" algn="l" rtl="0">
              <a:spcBef>
                <a:spcPts val="0"/>
              </a:spcBef>
              <a:spcAft>
                <a:spcPts val="0"/>
              </a:spcAft>
              <a:buSzPts val="1400"/>
              <a:buChar char="●"/>
            </a:pPr>
            <a:r>
              <a:rPr lang="en" dirty="0"/>
              <a:t>3/+ independent groups</a:t>
            </a:r>
            <a:endParaRPr dirty="0"/>
          </a:p>
          <a:p>
            <a:pPr marL="457200" lvl="0" indent="-317500" algn="l" rtl="0">
              <a:spcBef>
                <a:spcPts val="0"/>
              </a:spcBef>
              <a:spcAft>
                <a:spcPts val="0"/>
              </a:spcAft>
              <a:buSzPts val="1400"/>
              <a:buChar char="●"/>
            </a:pPr>
            <a:r>
              <a:rPr lang="en" dirty="0"/>
              <a:t>normality assumption is violated.</a:t>
            </a:r>
            <a:endParaRPr dirty="0"/>
          </a:p>
        </p:txBody>
      </p:sp>
      <p:sp>
        <p:nvSpPr>
          <p:cNvPr id="2" name="Title 1">
            <a:extLst>
              <a:ext uri="{FF2B5EF4-FFF2-40B4-BE49-F238E27FC236}">
                <a16:creationId xmlns:a16="http://schemas.microsoft.com/office/drawing/2014/main" id="{79F5C5DD-AD19-B46A-639A-A06C88284194}"/>
              </a:ext>
            </a:extLst>
          </p:cNvPr>
          <p:cNvSpPr txBox="1">
            <a:spLocks/>
          </p:cNvSpPr>
          <p:nvPr/>
        </p:nvSpPr>
        <p:spPr>
          <a:xfrm>
            <a:off x="766916" y="445025"/>
            <a:ext cx="8065384" cy="572700"/>
          </a:xfrm>
          <a:prstGeom prst="rect">
            <a:avLst/>
          </a:prstGeom>
          <a:noFill/>
          <a:ln>
            <a:noFill/>
          </a:ln>
        </p:spPr>
        <p:txBody>
          <a:bodyPr spcFirstLastPara="1" wrap="square" lIns="91425" tIns="91425" rIns="91425" bIns="91425" anchor="t" anchorCtr="0">
            <a:normAutofit fontScale="82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b="1" dirty="0">
                <a:solidFill>
                  <a:srgbClr val="1F4E79"/>
                </a:solidFill>
                <a:latin typeface="Arial" panose="020B0604020202020204" pitchFamily="34" charset="0"/>
              </a:rPr>
              <a:t>Results – </a:t>
            </a:r>
            <a:r>
              <a:rPr lang="en-US" dirty="0">
                <a:solidFill>
                  <a:srgbClr val="1F4E79"/>
                </a:solidFill>
                <a:latin typeface="Arial" panose="020B0604020202020204" pitchFamily="34" charset="0"/>
              </a:rPr>
              <a:t>Time of Day Comparison (Summary Statistics)</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0">
          <a:extLst>
            <a:ext uri="{FF2B5EF4-FFF2-40B4-BE49-F238E27FC236}">
              <a16:creationId xmlns:a16="http://schemas.microsoft.com/office/drawing/2014/main" id="{A74FEF73-9972-242C-B43B-6D451C6E330A}"/>
            </a:ext>
          </a:extLst>
        </p:cNvPr>
        <p:cNvGrpSpPr/>
        <p:nvPr/>
      </p:nvGrpSpPr>
      <p:grpSpPr>
        <a:xfrm>
          <a:off x="0" y="0"/>
          <a:ext cx="0" cy="0"/>
          <a:chOff x="0" y="0"/>
          <a:chExt cx="0" cy="0"/>
        </a:xfrm>
      </p:grpSpPr>
      <p:sp>
        <p:nvSpPr>
          <p:cNvPr id="172" name="Google Shape;172;p24">
            <a:extLst>
              <a:ext uri="{FF2B5EF4-FFF2-40B4-BE49-F238E27FC236}">
                <a16:creationId xmlns:a16="http://schemas.microsoft.com/office/drawing/2014/main" id="{5F6BC26E-34E0-CDF7-9DA9-0B644F88D1D5}"/>
              </a:ext>
            </a:extLst>
          </p:cNvPr>
          <p:cNvSpPr txBox="1"/>
          <p:nvPr/>
        </p:nvSpPr>
        <p:spPr>
          <a:xfrm>
            <a:off x="5669650" y="4312100"/>
            <a:ext cx="29247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endParaRPr/>
          </a:p>
        </p:txBody>
      </p:sp>
      <p:sp>
        <p:nvSpPr>
          <p:cNvPr id="173" name="Google Shape;173;p24">
            <a:extLst>
              <a:ext uri="{FF2B5EF4-FFF2-40B4-BE49-F238E27FC236}">
                <a16:creationId xmlns:a16="http://schemas.microsoft.com/office/drawing/2014/main" id="{3BE3223B-94BC-9E94-7115-8048FE2CD825}"/>
              </a:ext>
            </a:extLst>
          </p:cNvPr>
          <p:cNvSpPr txBox="1"/>
          <p:nvPr/>
        </p:nvSpPr>
        <p:spPr>
          <a:xfrm>
            <a:off x="5669260" y="1069717"/>
            <a:ext cx="3474740" cy="1046410"/>
          </a:xfrm>
          <a:prstGeom prst="rect">
            <a:avLst/>
          </a:prstGeom>
          <a:noFill/>
          <a:ln>
            <a:noFill/>
          </a:ln>
        </p:spPr>
        <p:txBody>
          <a:bodyPr spcFirstLastPara="1" wrap="square" lIns="91425" tIns="91425" rIns="91425" bIns="91425" anchor="t" anchorCtr="0">
            <a:spAutoFit/>
          </a:bodyPr>
          <a:lstStyle/>
          <a:p>
            <a:pPr lvl="0"/>
            <a:r>
              <a:rPr lang="en-US" b="1" dirty="0">
                <a:solidFill>
                  <a:schemeClr val="dk1"/>
                </a:solidFill>
              </a:rPr>
              <a:t>Figure 3. </a:t>
            </a:r>
            <a:r>
              <a:rPr lang="en-US" dirty="0">
                <a:solidFill>
                  <a:schemeClr val="dk1"/>
                </a:solidFill>
              </a:rPr>
              <a:t>Box and whisker plots displaying the frequency of foraging behaviors throughout the three different times of day.</a:t>
            </a:r>
            <a:endParaRPr lang="en-US" dirty="0"/>
          </a:p>
        </p:txBody>
      </p:sp>
      <p:sp>
        <p:nvSpPr>
          <p:cNvPr id="175" name="Google Shape;175;p24">
            <a:extLst>
              <a:ext uri="{FF2B5EF4-FFF2-40B4-BE49-F238E27FC236}">
                <a16:creationId xmlns:a16="http://schemas.microsoft.com/office/drawing/2014/main" id="{45ED9107-C322-1D23-CFEA-6D7BAC9F4931}"/>
              </a:ext>
            </a:extLst>
          </p:cNvPr>
          <p:cNvSpPr txBox="1"/>
          <p:nvPr/>
        </p:nvSpPr>
        <p:spPr>
          <a:xfrm>
            <a:off x="5669260" y="2491873"/>
            <a:ext cx="1872000" cy="1107965"/>
          </a:xfrm>
          <a:prstGeom prst="rect">
            <a:avLst/>
          </a:prstGeom>
          <a:noFill/>
          <a:ln>
            <a:noFill/>
          </a:ln>
        </p:spPr>
        <p:txBody>
          <a:bodyPr spcFirstLastPara="1" wrap="square" lIns="91425" tIns="91425" rIns="91425" bIns="91425" anchor="t" anchorCtr="0">
            <a:spAutoFit/>
          </a:bodyPr>
          <a:lstStyle/>
          <a:p>
            <a:pPr lvl="0"/>
            <a:r>
              <a:rPr lang="en-US" sz="1200" b="1" dirty="0">
                <a:solidFill>
                  <a:schemeClr val="dk1"/>
                </a:solidFill>
              </a:rPr>
              <a:t>Independent Variable:</a:t>
            </a:r>
          </a:p>
          <a:p>
            <a:pPr marL="457200" lvl="0" indent="-304800">
              <a:buClr>
                <a:schemeClr val="dk1"/>
              </a:buClr>
              <a:buSzPts val="1200"/>
              <a:buChar char="-"/>
            </a:pPr>
            <a:r>
              <a:rPr lang="en-US" sz="1200" dirty="0">
                <a:solidFill>
                  <a:schemeClr val="dk1"/>
                </a:solidFill>
              </a:rPr>
              <a:t>Time of Day</a:t>
            </a:r>
          </a:p>
          <a:p>
            <a:pPr marL="914400" lvl="1" indent="-304800">
              <a:buClr>
                <a:schemeClr val="dk1"/>
              </a:buClr>
              <a:buSzPts val="1200"/>
              <a:buChar char="-"/>
            </a:pPr>
            <a:r>
              <a:rPr lang="en-US" sz="1200" dirty="0">
                <a:solidFill>
                  <a:schemeClr val="dk1"/>
                </a:solidFill>
              </a:rPr>
              <a:t>morning</a:t>
            </a:r>
          </a:p>
          <a:p>
            <a:pPr marL="914400" lvl="1" indent="-304800">
              <a:buClr>
                <a:schemeClr val="dk1"/>
              </a:buClr>
              <a:buSzPts val="1200"/>
              <a:buChar char="-"/>
            </a:pPr>
            <a:r>
              <a:rPr lang="en-US" sz="1200" dirty="0">
                <a:solidFill>
                  <a:schemeClr val="dk1"/>
                </a:solidFill>
              </a:rPr>
              <a:t>afternoon</a:t>
            </a:r>
          </a:p>
          <a:p>
            <a:pPr marL="914400" lvl="1" indent="-304800">
              <a:buClr>
                <a:schemeClr val="dk1"/>
              </a:buClr>
              <a:buSzPts val="1200"/>
              <a:buChar char="-"/>
            </a:pPr>
            <a:r>
              <a:rPr lang="en-US" sz="1200" dirty="0">
                <a:solidFill>
                  <a:schemeClr val="dk1"/>
                </a:solidFill>
              </a:rPr>
              <a:t>evening</a:t>
            </a:r>
            <a:endParaRPr lang="en-US" sz="1200" dirty="0"/>
          </a:p>
        </p:txBody>
      </p:sp>
      <p:sp>
        <p:nvSpPr>
          <p:cNvPr id="176" name="Google Shape;176;p24">
            <a:extLst>
              <a:ext uri="{FF2B5EF4-FFF2-40B4-BE49-F238E27FC236}">
                <a16:creationId xmlns:a16="http://schemas.microsoft.com/office/drawing/2014/main" id="{DD22249C-C1AE-072A-0C11-7B71DD036CB7}"/>
              </a:ext>
            </a:extLst>
          </p:cNvPr>
          <p:cNvSpPr txBox="1"/>
          <p:nvPr/>
        </p:nvSpPr>
        <p:spPr>
          <a:xfrm>
            <a:off x="5669260" y="3519683"/>
            <a:ext cx="2078700" cy="1108200"/>
          </a:xfrm>
          <a:prstGeom prst="rect">
            <a:avLst/>
          </a:prstGeom>
          <a:noFill/>
          <a:ln>
            <a:noFill/>
          </a:ln>
        </p:spPr>
        <p:txBody>
          <a:bodyPr spcFirstLastPara="1" wrap="square" lIns="91425" tIns="91425" rIns="91425" bIns="91425" anchor="t" anchorCtr="0">
            <a:spAutoFit/>
          </a:bodyPr>
          <a:lstStyle/>
          <a:p>
            <a:pPr lvl="0"/>
            <a:r>
              <a:rPr lang="en-US" sz="1200" b="1" dirty="0">
                <a:solidFill>
                  <a:schemeClr val="dk1"/>
                </a:solidFill>
              </a:rPr>
              <a:t>Dependent Variable:</a:t>
            </a:r>
          </a:p>
          <a:p>
            <a:pPr marL="457200" lvl="0" indent="-304800">
              <a:buClr>
                <a:schemeClr val="dk1"/>
              </a:buClr>
              <a:buSzPts val="1200"/>
              <a:buChar char="-"/>
            </a:pPr>
            <a:r>
              <a:rPr lang="en-US" sz="1200" dirty="0">
                <a:solidFill>
                  <a:schemeClr val="dk1"/>
                </a:solidFill>
              </a:rPr>
              <a:t>Frequency of Foraging Behaviors</a:t>
            </a:r>
          </a:p>
          <a:p>
            <a:pPr marL="457200" lvl="0" indent="-304800">
              <a:buClr>
                <a:schemeClr val="dk1"/>
              </a:buClr>
              <a:buSzPts val="1200"/>
              <a:buChar char="-"/>
            </a:pPr>
            <a:r>
              <a:rPr lang="en-US" sz="1200" dirty="0">
                <a:solidFill>
                  <a:schemeClr val="dk1"/>
                </a:solidFill>
              </a:rPr>
              <a:t>The dependent variable is discrete.</a:t>
            </a:r>
          </a:p>
        </p:txBody>
      </p:sp>
      <p:sp>
        <p:nvSpPr>
          <p:cNvPr id="4" name="Title 1">
            <a:extLst>
              <a:ext uri="{FF2B5EF4-FFF2-40B4-BE49-F238E27FC236}">
                <a16:creationId xmlns:a16="http://schemas.microsoft.com/office/drawing/2014/main" id="{CE03D110-D2FB-A509-5643-7D0B73847610}"/>
              </a:ext>
            </a:extLst>
          </p:cNvPr>
          <p:cNvSpPr txBox="1">
            <a:spLocks/>
          </p:cNvSpPr>
          <p:nvPr/>
        </p:nvSpPr>
        <p:spPr>
          <a:xfrm>
            <a:off x="766916" y="445025"/>
            <a:ext cx="8065384"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b="1" dirty="0">
                <a:solidFill>
                  <a:srgbClr val="1F4E79"/>
                </a:solidFill>
                <a:latin typeface="Arial" panose="020B0604020202020204" pitchFamily="34" charset="0"/>
              </a:rPr>
              <a:t>Results – </a:t>
            </a:r>
            <a:r>
              <a:rPr lang="en-US" dirty="0">
                <a:solidFill>
                  <a:srgbClr val="1F4E79"/>
                </a:solidFill>
                <a:latin typeface="Arial" panose="020B0604020202020204" pitchFamily="34" charset="0"/>
              </a:rPr>
              <a:t>Time of Day Comparison (Graph)</a:t>
            </a:r>
            <a:endParaRPr lang="en-US" dirty="0"/>
          </a:p>
        </p:txBody>
      </p:sp>
      <p:pic>
        <p:nvPicPr>
          <p:cNvPr id="3" name="Google Shape;189;p26" title="Fig3_DistributionBehaviorTime.png">
            <a:extLst>
              <a:ext uri="{FF2B5EF4-FFF2-40B4-BE49-F238E27FC236}">
                <a16:creationId xmlns:a16="http://schemas.microsoft.com/office/drawing/2014/main" id="{F64B62D2-9294-1057-744A-835EA33CCF81}"/>
              </a:ext>
            </a:extLst>
          </p:cNvPr>
          <p:cNvPicPr preferRelativeResize="0"/>
          <p:nvPr/>
        </p:nvPicPr>
        <p:blipFill rotWithShape="1">
          <a:blip r:embed="rId4">
            <a:alphaModFix/>
          </a:blip>
          <a:srcRect l="2777" r="2777"/>
          <a:stretch/>
        </p:blipFill>
        <p:spPr>
          <a:xfrm>
            <a:off x="766916" y="1095297"/>
            <a:ext cx="4902344" cy="3893038"/>
          </a:xfrm>
          <a:prstGeom prst="rect">
            <a:avLst/>
          </a:prstGeom>
          <a:noFill/>
          <a:ln>
            <a:noFill/>
          </a:ln>
        </p:spPr>
      </p:pic>
    </p:spTree>
    <p:extLst>
      <p:ext uri="{BB962C8B-B14F-4D97-AF65-F5344CB8AC3E}">
        <p14:creationId xmlns:p14="http://schemas.microsoft.com/office/powerpoint/2010/main" val="33056251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96"/>
        <p:cNvGrpSpPr/>
        <p:nvPr/>
      </p:nvGrpSpPr>
      <p:grpSpPr>
        <a:xfrm>
          <a:off x="0" y="0"/>
          <a:ext cx="0" cy="0"/>
          <a:chOff x="0" y="0"/>
          <a:chExt cx="0" cy="0"/>
        </a:xfrm>
      </p:grpSpPr>
      <p:graphicFrame>
        <p:nvGraphicFramePr>
          <p:cNvPr id="198" name="Google Shape;198;p27"/>
          <p:cNvGraphicFramePr/>
          <p:nvPr>
            <p:extLst>
              <p:ext uri="{D42A27DB-BD31-4B8C-83A1-F6EECF244321}">
                <p14:modId xmlns:p14="http://schemas.microsoft.com/office/powerpoint/2010/main" val="4155296330"/>
              </p:ext>
            </p:extLst>
          </p:nvPr>
        </p:nvGraphicFramePr>
        <p:xfrm>
          <a:off x="706463" y="935858"/>
          <a:ext cx="7943725" cy="1709547"/>
        </p:xfrm>
        <a:graphic>
          <a:graphicData uri="http://schemas.openxmlformats.org/drawingml/2006/table">
            <a:tbl>
              <a:tblPr>
                <a:noFill/>
                <a:tableStyleId>{F7FF7573-9537-4162-8ACD-E87247B85FDE}</a:tableStyleId>
              </a:tblPr>
              <a:tblGrid>
                <a:gridCol w="1870350">
                  <a:extLst>
                    <a:ext uri="{9D8B030D-6E8A-4147-A177-3AD203B41FA5}">
                      <a16:colId xmlns:a16="http://schemas.microsoft.com/office/drawing/2014/main" val="20000"/>
                    </a:ext>
                  </a:extLst>
                </a:gridCol>
                <a:gridCol w="1050750">
                  <a:extLst>
                    <a:ext uri="{9D8B030D-6E8A-4147-A177-3AD203B41FA5}">
                      <a16:colId xmlns:a16="http://schemas.microsoft.com/office/drawing/2014/main" val="20001"/>
                    </a:ext>
                  </a:extLst>
                </a:gridCol>
                <a:gridCol w="725025">
                  <a:extLst>
                    <a:ext uri="{9D8B030D-6E8A-4147-A177-3AD203B41FA5}">
                      <a16:colId xmlns:a16="http://schemas.microsoft.com/office/drawing/2014/main" val="20002"/>
                    </a:ext>
                  </a:extLst>
                </a:gridCol>
                <a:gridCol w="935175">
                  <a:extLst>
                    <a:ext uri="{9D8B030D-6E8A-4147-A177-3AD203B41FA5}">
                      <a16:colId xmlns:a16="http://schemas.microsoft.com/office/drawing/2014/main" val="20003"/>
                    </a:ext>
                  </a:extLst>
                </a:gridCol>
                <a:gridCol w="2080500">
                  <a:extLst>
                    <a:ext uri="{9D8B030D-6E8A-4147-A177-3AD203B41FA5}">
                      <a16:colId xmlns:a16="http://schemas.microsoft.com/office/drawing/2014/main" val="20004"/>
                    </a:ext>
                  </a:extLst>
                </a:gridCol>
                <a:gridCol w="1281925">
                  <a:extLst>
                    <a:ext uri="{9D8B030D-6E8A-4147-A177-3AD203B41FA5}">
                      <a16:colId xmlns:a16="http://schemas.microsoft.com/office/drawing/2014/main" val="20005"/>
                    </a:ext>
                  </a:extLst>
                </a:gridCol>
              </a:tblGrid>
              <a:tr h="228600">
                <a:tc>
                  <a:txBody>
                    <a:bodyPr/>
                    <a:lstStyle/>
                    <a:p>
                      <a:pPr marL="0" lvl="0" indent="0" algn="ctr" rtl="0">
                        <a:lnSpc>
                          <a:spcPct val="115000"/>
                        </a:lnSpc>
                        <a:spcBef>
                          <a:spcPts val="0"/>
                        </a:spcBef>
                        <a:spcAft>
                          <a:spcPts val="0"/>
                        </a:spcAft>
                        <a:buNone/>
                      </a:pPr>
                      <a:r>
                        <a:rPr lang="en" sz="1200" b="1"/>
                        <a:t>Data</a:t>
                      </a:r>
                      <a:endParaRPr sz="1200" b="1"/>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ctr" rtl="0">
                        <a:lnSpc>
                          <a:spcPct val="115000"/>
                        </a:lnSpc>
                        <a:spcBef>
                          <a:spcPts val="0"/>
                        </a:spcBef>
                        <a:spcAft>
                          <a:spcPts val="0"/>
                        </a:spcAft>
                        <a:buNone/>
                      </a:pPr>
                      <a:r>
                        <a:rPr lang="en" sz="1200" b="1"/>
                        <a:t>t</a:t>
                      </a:r>
                      <a:endParaRPr sz="1200" b="1"/>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ctr" rtl="0">
                        <a:lnSpc>
                          <a:spcPct val="115000"/>
                        </a:lnSpc>
                        <a:spcBef>
                          <a:spcPts val="0"/>
                        </a:spcBef>
                        <a:spcAft>
                          <a:spcPts val="0"/>
                        </a:spcAft>
                        <a:buNone/>
                      </a:pPr>
                      <a:r>
                        <a:rPr lang="en" sz="1200" b="1"/>
                        <a:t>df</a:t>
                      </a:r>
                      <a:endParaRPr sz="1200" b="1"/>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ctr" rtl="0">
                        <a:lnSpc>
                          <a:spcPct val="115000"/>
                        </a:lnSpc>
                        <a:spcBef>
                          <a:spcPts val="0"/>
                        </a:spcBef>
                        <a:spcAft>
                          <a:spcPts val="0"/>
                        </a:spcAft>
                        <a:buNone/>
                      </a:pPr>
                      <a:r>
                        <a:rPr lang="en" sz="1200" b="1"/>
                        <a:t>p-value</a:t>
                      </a:r>
                      <a:endParaRPr sz="1200" b="1"/>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ctr" rtl="0">
                        <a:lnSpc>
                          <a:spcPct val="115000"/>
                        </a:lnSpc>
                        <a:spcBef>
                          <a:spcPts val="0"/>
                        </a:spcBef>
                        <a:spcAft>
                          <a:spcPts val="0"/>
                        </a:spcAft>
                        <a:buNone/>
                      </a:pPr>
                      <a:r>
                        <a:rPr lang="en" sz="1200" b="1"/>
                        <a:t>CI</a:t>
                      </a:r>
                      <a:endParaRPr sz="1200" b="1"/>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ctr" rtl="0">
                        <a:lnSpc>
                          <a:spcPct val="115000"/>
                        </a:lnSpc>
                        <a:spcBef>
                          <a:spcPts val="0"/>
                        </a:spcBef>
                        <a:spcAft>
                          <a:spcPts val="0"/>
                        </a:spcAft>
                        <a:buNone/>
                      </a:pPr>
                      <a:r>
                        <a:rPr lang="en" sz="1200" b="1"/>
                        <a:t>mean difference</a:t>
                      </a:r>
                      <a:endParaRPr sz="1200" b="1"/>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extLst>
                  <a:ext uri="{0D108BD9-81ED-4DB2-BD59-A6C34878D82A}">
                    <a16:rowId xmlns:a16="http://schemas.microsoft.com/office/drawing/2014/main" val="10000"/>
                  </a:ext>
                </a:extLst>
              </a:tr>
              <a:tr h="228600">
                <a:tc>
                  <a:txBody>
                    <a:bodyPr/>
                    <a:lstStyle/>
                    <a:p>
                      <a:pPr marL="0" lvl="0" indent="0" algn="l" rtl="0">
                        <a:lnSpc>
                          <a:spcPct val="115000"/>
                        </a:lnSpc>
                        <a:spcBef>
                          <a:spcPts val="0"/>
                        </a:spcBef>
                        <a:spcAft>
                          <a:spcPts val="0"/>
                        </a:spcAft>
                        <a:buNone/>
                      </a:pPr>
                      <a:r>
                        <a:rPr lang="en" sz="1300"/>
                        <a:t>pecking and dabbling</a:t>
                      </a:r>
                      <a:endParaRPr sz="13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r" rtl="0">
                        <a:lnSpc>
                          <a:spcPct val="115000"/>
                        </a:lnSpc>
                        <a:spcBef>
                          <a:spcPts val="0"/>
                        </a:spcBef>
                        <a:spcAft>
                          <a:spcPts val="0"/>
                        </a:spcAft>
                        <a:buNone/>
                      </a:pPr>
                      <a:r>
                        <a:rPr lang="en" sz="1300"/>
                        <a:t>-8.1767</a:t>
                      </a:r>
                      <a:endParaRPr sz="13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r" rtl="0">
                        <a:lnSpc>
                          <a:spcPct val="115000"/>
                        </a:lnSpc>
                        <a:spcBef>
                          <a:spcPts val="0"/>
                        </a:spcBef>
                        <a:spcAft>
                          <a:spcPts val="0"/>
                        </a:spcAft>
                        <a:buNone/>
                      </a:pPr>
                      <a:r>
                        <a:rPr lang="en" sz="1300"/>
                        <a:t>125</a:t>
                      </a:r>
                      <a:endParaRPr sz="13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r" rtl="0">
                        <a:lnSpc>
                          <a:spcPct val="115000"/>
                        </a:lnSpc>
                        <a:spcBef>
                          <a:spcPts val="0"/>
                        </a:spcBef>
                        <a:spcAft>
                          <a:spcPts val="0"/>
                        </a:spcAft>
                        <a:buNone/>
                      </a:pPr>
                      <a:r>
                        <a:rPr lang="en" sz="1300"/>
                        <a:t>2.79E-13</a:t>
                      </a:r>
                      <a:endParaRPr sz="13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l" rtl="0">
                        <a:lnSpc>
                          <a:spcPct val="115000"/>
                        </a:lnSpc>
                        <a:spcBef>
                          <a:spcPts val="0"/>
                        </a:spcBef>
                        <a:spcAft>
                          <a:spcPts val="0"/>
                        </a:spcAft>
                        <a:buNone/>
                      </a:pPr>
                      <a:r>
                        <a:rPr lang="en" sz="1300"/>
                        <a:t>-3.578269, -2.183636</a:t>
                      </a:r>
                      <a:endParaRPr sz="13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r" rtl="0">
                        <a:lnSpc>
                          <a:spcPct val="115000"/>
                        </a:lnSpc>
                        <a:spcBef>
                          <a:spcPts val="0"/>
                        </a:spcBef>
                        <a:spcAft>
                          <a:spcPts val="0"/>
                        </a:spcAft>
                        <a:buNone/>
                      </a:pPr>
                      <a:r>
                        <a:rPr lang="en" sz="1300"/>
                        <a:t>-2.880952</a:t>
                      </a:r>
                      <a:endParaRPr sz="13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extLst>
                  <a:ext uri="{0D108BD9-81ED-4DB2-BD59-A6C34878D82A}">
                    <a16:rowId xmlns:a16="http://schemas.microsoft.com/office/drawing/2014/main" val="10001"/>
                  </a:ext>
                </a:extLst>
              </a:tr>
              <a:tr h="228600">
                <a:tc>
                  <a:txBody>
                    <a:bodyPr/>
                    <a:lstStyle/>
                    <a:p>
                      <a:pPr marL="0" lvl="0" indent="0" algn="l" rtl="0">
                        <a:lnSpc>
                          <a:spcPct val="115000"/>
                        </a:lnSpc>
                        <a:spcBef>
                          <a:spcPts val="0"/>
                        </a:spcBef>
                        <a:spcAft>
                          <a:spcPts val="0"/>
                        </a:spcAft>
                        <a:buNone/>
                      </a:pPr>
                      <a:r>
                        <a:rPr lang="en" sz="1300"/>
                        <a:t>pecking and dipping</a:t>
                      </a:r>
                      <a:endParaRPr sz="13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r" rtl="0">
                        <a:lnSpc>
                          <a:spcPct val="115000"/>
                        </a:lnSpc>
                        <a:spcBef>
                          <a:spcPts val="0"/>
                        </a:spcBef>
                        <a:spcAft>
                          <a:spcPts val="0"/>
                        </a:spcAft>
                        <a:buNone/>
                      </a:pPr>
                      <a:r>
                        <a:rPr lang="en" sz="1300"/>
                        <a:t>-6.1191</a:t>
                      </a:r>
                      <a:endParaRPr sz="13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r" rtl="0">
                        <a:lnSpc>
                          <a:spcPct val="115000"/>
                        </a:lnSpc>
                        <a:spcBef>
                          <a:spcPts val="0"/>
                        </a:spcBef>
                        <a:spcAft>
                          <a:spcPts val="0"/>
                        </a:spcAft>
                        <a:buNone/>
                      </a:pPr>
                      <a:r>
                        <a:rPr lang="en" sz="1300"/>
                        <a:t>125</a:t>
                      </a:r>
                      <a:endParaRPr sz="13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r" rtl="0">
                        <a:lnSpc>
                          <a:spcPct val="115000"/>
                        </a:lnSpc>
                        <a:spcBef>
                          <a:spcPts val="0"/>
                        </a:spcBef>
                        <a:spcAft>
                          <a:spcPts val="0"/>
                        </a:spcAft>
                        <a:buNone/>
                      </a:pPr>
                      <a:r>
                        <a:rPr lang="en" sz="1300"/>
                        <a:t>1.12E-08</a:t>
                      </a:r>
                      <a:endParaRPr sz="13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l" rtl="0">
                        <a:lnSpc>
                          <a:spcPct val="115000"/>
                        </a:lnSpc>
                        <a:spcBef>
                          <a:spcPts val="0"/>
                        </a:spcBef>
                        <a:spcAft>
                          <a:spcPts val="0"/>
                        </a:spcAft>
                        <a:buNone/>
                      </a:pPr>
                      <a:r>
                        <a:rPr lang="en" sz="1300"/>
                        <a:t>-3.823248, -1.954530</a:t>
                      </a:r>
                      <a:endParaRPr sz="13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r" rtl="0">
                        <a:lnSpc>
                          <a:spcPct val="115000"/>
                        </a:lnSpc>
                        <a:spcBef>
                          <a:spcPts val="0"/>
                        </a:spcBef>
                        <a:spcAft>
                          <a:spcPts val="0"/>
                        </a:spcAft>
                        <a:buNone/>
                      </a:pPr>
                      <a:r>
                        <a:rPr lang="en" sz="1300"/>
                        <a:t>-2.888889</a:t>
                      </a:r>
                      <a:endParaRPr sz="13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extLst>
                  <a:ext uri="{0D108BD9-81ED-4DB2-BD59-A6C34878D82A}">
                    <a16:rowId xmlns:a16="http://schemas.microsoft.com/office/drawing/2014/main" val="10002"/>
                  </a:ext>
                </a:extLst>
              </a:tr>
              <a:tr h="228600">
                <a:tc>
                  <a:txBody>
                    <a:bodyPr/>
                    <a:lstStyle/>
                    <a:p>
                      <a:pPr marL="0" lvl="0" indent="0" algn="l" rtl="0">
                        <a:lnSpc>
                          <a:spcPct val="115000"/>
                        </a:lnSpc>
                        <a:spcBef>
                          <a:spcPts val="0"/>
                        </a:spcBef>
                        <a:spcAft>
                          <a:spcPts val="0"/>
                        </a:spcAft>
                        <a:buNone/>
                      </a:pPr>
                      <a:r>
                        <a:rPr lang="en" sz="1300"/>
                        <a:t>pecking and upending</a:t>
                      </a:r>
                      <a:endParaRPr sz="13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r" rtl="0">
                        <a:lnSpc>
                          <a:spcPct val="115000"/>
                        </a:lnSpc>
                        <a:spcBef>
                          <a:spcPts val="0"/>
                        </a:spcBef>
                        <a:spcAft>
                          <a:spcPts val="0"/>
                        </a:spcAft>
                        <a:buNone/>
                      </a:pPr>
                      <a:r>
                        <a:rPr lang="en" sz="1300"/>
                        <a:t>-1.8644</a:t>
                      </a:r>
                      <a:endParaRPr sz="13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r" rtl="0">
                        <a:lnSpc>
                          <a:spcPct val="115000"/>
                        </a:lnSpc>
                        <a:spcBef>
                          <a:spcPts val="0"/>
                        </a:spcBef>
                        <a:spcAft>
                          <a:spcPts val="0"/>
                        </a:spcAft>
                        <a:buNone/>
                      </a:pPr>
                      <a:r>
                        <a:rPr lang="en" sz="1300"/>
                        <a:t>125</a:t>
                      </a:r>
                      <a:endParaRPr sz="13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r" rtl="0">
                        <a:lnSpc>
                          <a:spcPct val="115000"/>
                        </a:lnSpc>
                        <a:spcBef>
                          <a:spcPts val="0"/>
                        </a:spcBef>
                        <a:spcAft>
                          <a:spcPts val="0"/>
                        </a:spcAft>
                        <a:buNone/>
                      </a:pPr>
                      <a:r>
                        <a:rPr lang="en" sz="1300"/>
                        <a:t>0.06461</a:t>
                      </a:r>
                      <a:endParaRPr sz="13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l" rtl="0">
                        <a:lnSpc>
                          <a:spcPct val="115000"/>
                        </a:lnSpc>
                        <a:spcBef>
                          <a:spcPts val="0"/>
                        </a:spcBef>
                        <a:spcAft>
                          <a:spcPts val="0"/>
                        </a:spcAft>
                        <a:buNone/>
                      </a:pPr>
                      <a:r>
                        <a:rPr lang="en" sz="1300"/>
                        <a:t>-0.98167582, 0.02929487</a:t>
                      </a:r>
                      <a:endParaRPr sz="13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r" rtl="0">
                        <a:lnSpc>
                          <a:spcPct val="115000"/>
                        </a:lnSpc>
                        <a:spcBef>
                          <a:spcPts val="0"/>
                        </a:spcBef>
                        <a:spcAft>
                          <a:spcPts val="0"/>
                        </a:spcAft>
                        <a:buNone/>
                      </a:pPr>
                      <a:r>
                        <a:rPr lang="en" sz="1300"/>
                        <a:t>-0.4761905</a:t>
                      </a:r>
                      <a:endParaRPr sz="13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extLst>
                  <a:ext uri="{0D108BD9-81ED-4DB2-BD59-A6C34878D82A}">
                    <a16:rowId xmlns:a16="http://schemas.microsoft.com/office/drawing/2014/main" val="10003"/>
                  </a:ext>
                </a:extLst>
              </a:tr>
              <a:tr h="228600">
                <a:tc>
                  <a:txBody>
                    <a:bodyPr/>
                    <a:lstStyle/>
                    <a:p>
                      <a:pPr marL="0" lvl="0" indent="0" algn="l" rtl="0">
                        <a:lnSpc>
                          <a:spcPct val="115000"/>
                        </a:lnSpc>
                        <a:spcBef>
                          <a:spcPts val="0"/>
                        </a:spcBef>
                        <a:spcAft>
                          <a:spcPts val="0"/>
                        </a:spcAft>
                        <a:buNone/>
                      </a:pPr>
                      <a:r>
                        <a:rPr lang="en" sz="1300"/>
                        <a:t>dabbling and dipping</a:t>
                      </a:r>
                      <a:endParaRPr sz="13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r" rtl="0">
                        <a:lnSpc>
                          <a:spcPct val="115000"/>
                        </a:lnSpc>
                        <a:spcBef>
                          <a:spcPts val="0"/>
                        </a:spcBef>
                        <a:spcAft>
                          <a:spcPts val="0"/>
                        </a:spcAft>
                        <a:buNone/>
                      </a:pPr>
                      <a:r>
                        <a:rPr lang="en" sz="1300"/>
                        <a:t>-0.016945</a:t>
                      </a:r>
                      <a:endParaRPr sz="13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r" rtl="0">
                        <a:lnSpc>
                          <a:spcPct val="115000"/>
                        </a:lnSpc>
                        <a:spcBef>
                          <a:spcPts val="0"/>
                        </a:spcBef>
                        <a:spcAft>
                          <a:spcPts val="0"/>
                        </a:spcAft>
                        <a:buNone/>
                      </a:pPr>
                      <a:r>
                        <a:rPr lang="en" sz="1300"/>
                        <a:t>125</a:t>
                      </a:r>
                      <a:endParaRPr sz="13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r" rtl="0">
                        <a:lnSpc>
                          <a:spcPct val="115000"/>
                        </a:lnSpc>
                        <a:spcBef>
                          <a:spcPts val="0"/>
                        </a:spcBef>
                        <a:spcAft>
                          <a:spcPts val="0"/>
                        </a:spcAft>
                        <a:buNone/>
                      </a:pPr>
                      <a:r>
                        <a:rPr lang="en" sz="1300"/>
                        <a:t>0.9865</a:t>
                      </a:r>
                      <a:endParaRPr sz="13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l" rtl="0">
                        <a:lnSpc>
                          <a:spcPct val="115000"/>
                        </a:lnSpc>
                        <a:spcBef>
                          <a:spcPts val="0"/>
                        </a:spcBef>
                        <a:spcAft>
                          <a:spcPts val="0"/>
                        </a:spcAft>
                        <a:buNone/>
                      </a:pPr>
                      <a:r>
                        <a:rPr lang="en" sz="1300"/>
                        <a:t>-0.9348864, 0.9190134</a:t>
                      </a:r>
                      <a:endParaRPr sz="13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r" rtl="0">
                        <a:lnSpc>
                          <a:spcPct val="115000"/>
                        </a:lnSpc>
                        <a:spcBef>
                          <a:spcPts val="0"/>
                        </a:spcBef>
                        <a:spcAft>
                          <a:spcPts val="0"/>
                        </a:spcAft>
                        <a:buNone/>
                      </a:pPr>
                      <a:r>
                        <a:rPr lang="en" sz="1300"/>
                        <a:t>-0.007936508</a:t>
                      </a:r>
                      <a:endParaRPr sz="13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extLst>
                  <a:ext uri="{0D108BD9-81ED-4DB2-BD59-A6C34878D82A}">
                    <a16:rowId xmlns:a16="http://schemas.microsoft.com/office/drawing/2014/main" val="10004"/>
                  </a:ext>
                </a:extLst>
              </a:tr>
              <a:tr h="228600">
                <a:tc>
                  <a:txBody>
                    <a:bodyPr/>
                    <a:lstStyle/>
                    <a:p>
                      <a:pPr marL="0" lvl="0" indent="0" algn="l" rtl="0">
                        <a:lnSpc>
                          <a:spcPct val="115000"/>
                        </a:lnSpc>
                        <a:spcBef>
                          <a:spcPts val="0"/>
                        </a:spcBef>
                        <a:spcAft>
                          <a:spcPts val="0"/>
                        </a:spcAft>
                        <a:buNone/>
                      </a:pPr>
                      <a:r>
                        <a:rPr lang="en" sz="1300" dirty="0"/>
                        <a:t>dabbing and upending</a:t>
                      </a:r>
                      <a:endParaRPr sz="1300" dirty="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r" rtl="0">
                        <a:lnSpc>
                          <a:spcPct val="115000"/>
                        </a:lnSpc>
                        <a:spcBef>
                          <a:spcPts val="0"/>
                        </a:spcBef>
                        <a:spcAft>
                          <a:spcPts val="0"/>
                        </a:spcAft>
                        <a:buNone/>
                      </a:pPr>
                      <a:r>
                        <a:rPr lang="en" sz="1300"/>
                        <a:t>6.2277</a:t>
                      </a:r>
                      <a:endParaRPr sz="13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r" rtl="0">
                        <a:lnSpc>
                          <a:spcPct val="115000"/>
                        </a:lnSpc>
                        <a:spcBef>
                          <a:spcPts val="0"/>
                        </a:spcBef>
                        <a:spcAft>
                          <a:spcPts val="0"/>
                        </a:spcAft>
                        <a:buNone/>
                      </a:pPr>
                      <a:r>
                        <a:rPr lang="en" sz="1300"/>
                        <a:t>125</a:t>
                      </a:r>
                      <a:endParaRPr sz="13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r" rtl="0">
                        <a:lnSpc>
                          <a:spcPct val="115000"/>
                        </a:lnSpc>
                        <a:spcBef>
                          <a:spcPts val="0"/>
                        </a:spcBef>
                        <a:spcAft>
                          <a:spcPts val="0"/>
                        </a:spcAft>
                        <a:buNone/>
                      </a:pPr>
                      <a:r>
                        <a:rPr lang="en" sz="1300"/>
                        <a:t>6.60E-09</a:t>
                      </a:r>
                      <a:endParaRPr sz="13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l" rtl="0">
                        <a:lnSpc>
                          <a:spcPct val="115000"/>
                        </a:lnSpc>
                        <a:spcBef>
                          <a:spcPts val="0"/>
                        </a:spcBef>
                        <a:spcAft>
                          <a:spcPts val="0"/>
                        </a:spcAft>
                        <a:buNone/>
                      </a:pPr>
                      <a:r>
                        <a:rPr lang="en" sz="1300"/>
                        <a:t>1.640548, 3.168976</a:t>
                      </a:r>
                      <a:endParaRPr sz="13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r" rtl="0">
                        <a:lnSpc>
                          <a:spcPct val="115000"/>
                        </a:lnSpc>
                        <a:spcBef>
                          <a:spcPts val="0"/>
                        </a:spcBef>
                        <a:spcAft>
                          <a:spcPts val="0"/>
                        </a:spcAft>
                        <a:buNone/>
                      </a:pPr>
                      <a:r>
                        <a:rPr lang="en" sz="1300"/>
                        <a:t>2.404762</a:t>
                      </a:r>
                      <a:endParaRPr sz="13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extLst>
                  <a:ext uri="{0D108BD9-81ED-4DB2-BD59-A6C34878D82A}">
                    <a16:rowId xmlns:a16="http://schemas.microsoft.com/office/drawing/2014/main" val="10005"/>
                  </a:ext>
                </a:extLst>
              </a:tr>
              <a:tr h="228600">
                <a:tc>
                  <a:txBody>
                    <a:bodyPr/>
                    <a:lstStyle/>
                    <a:p>
                      <a:pPr marL="0" lvl="0" indent="0" algn="l" rtl="0">
                        <a:lnSpc>
                          <a:spcPct val="115000"/>
                        </a:lnSpc>
                        <a:spcBef>
                          <a:spcPts val="0"/>
                        </a:spcBef>
                        <a:spcAft>
                          <a:spcPts val="0"/>
                        </a:spcAft>
                        <a:buNone/>
                      </a:pPr>
                      <a:r>
                        <a:rPr lang="en" sz="1300"/>
                        <a:t>dipping and upending</a:t>
                      </a:r>
                      <a:endParaRPr sz="13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r" rtl="0">
                        <a:lnSpc>
                          <a:spcPct val="115000"/>
                        </a:lnSpc>
                        <a:spcBef>
                          <a:spcPts val="0"/>
                        </a:spcBef>
                        <a:spcAft>
                          <a:spcPts val="0"/>
                        </a:spcAft>
                        <a:buNone/>
                      </a:pPr>
                      <a:r>
                        <a:rPr lang="en" sz="1300"/>
                        <a:t>5.0336</a:t>
                      </a:r>
                      <a:endParaRPr sz="13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r" rtl="0">
                        <a:lnSpc>
                          <a:spcPct val="115000"/>
                        </a:lnSpc>
                        <a:spcBef>
                          <a:spcPts val="0"/>
                        </a:spcBef>
                        <a:spcAft>
                          <a:spcPts val="0"/>
                        </a:spcAft>
                        <a:buNone/>
                      </a:pPr>
                      <a:r>
                        <a:rPr lang="en" sz="1300"/>
                        <a:t>125</a:t>
                      </a:r>
                      <a:endParaRPr sz="13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r" rtl="0">
                        <a:lnSpc>
                          <a:spcPct val="115000"/>
                        </a:lnSpc>
                        <a:spcBef>
                          <a:spcPts val="0"/>
                        </a:spcBef>
                        <a:spcAft>
                          <a:spcPts val="0"/>
                        </a:spcAft>
                        <a:buNone/>
                      </a:pPr>
                      <a:r>
                        <a:rPr lang="en" sz="1300"/>
                        <a:t>1.64E-06</a:t>
                      </a:r>
                      <a:endParaRPr sz="13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l" rtl="0">
                        <a:lnSpc>
                          <a:spcPct val="115000"/>
                        </a:lnSpc>
                        <a:spcBef>
                          <a:spcPts val="0"/>
                        </a:spcBef>
                        <a:spcAft>
                          <a:spcPts val="0"/>
                        </a:spcAft>
                        <a:buNone/>
                      </a:pPr>
                      <a:r>
                        <a:rPr lang="en" sz="1300"/>
                        <a:t>1.464063, 3.361334</a:t>
                      </a:r>
                      <a:endParaRPr sz="13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tc>
                  <a:txBody>
                    <a:bodyPr/>
                    <a:lstStyle/>
                    <a:p>
                      <a:pPr marL="0" lvl="0" indent="0" algn="r" rtl="0">
                        <a:lnSpc>
                          <a:spcPct val="115000"/>
                        </a:lnSpc>
                        <a:spcBef>
                          <a:spcPts val="0"/>
                        </a:spcBef>
                        <a:spcAft>
                          <a:spcPts val="0"/>
                        </a:spcAft>
                        <a:buNone/>
                      </a:pPr>
                      <a:r>
                        <a:rPr lang="en" sz="1300" dirty="0"/>
                        <a:t>2.412698</a:t>
                      </a:r>
                      <a:endParaRPr sz="1300" dirty="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2"/>
                    </a:solidFill>
                  </a:tcPr>
                </a:tc>
                <a:extLst>
                  <a:ext uri="{0D108BD9-81ED-4DB2-BD59-A6C34878D82A}">
                    <a16:rowId xmlns:a16="http://schemas.microsoft.com/office/drawing/2014/main" val="10006"/>
                  </a:ext>
                </a:extLst>
              </a:tr>
            </a:tbl>
          </a:graphicData>
        </a:graphic>
      </p:graphicFrame>
      <p:sp>
        <p:nvSpPr>
          <p:cNvPr id="199" name="Google Shape;199;p27"/>
          <p:cNvSpPr txBox="1"/>
          <p:nvPr/>
        </p:nvSpPr>
        <p:spPr>
          <a:xfrm>
            <a:off x="706463" y="2645405"/>
            <a:ext cx="7919100" cy="2401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dirty="0"/>
              <a:t>Table 4.</a:t>
            </a:r>
            <a:r>
              <a:rPr lang="en" sz="1200" dirty="0"/>
              <a:t> Summary Statistics of Paired t-test Between Foraging Behaviors</a:t>
            </a:r>
            <a:endParaRPr sz="1200" dirty="0"/>
          </a:p>
          <a:p>
            <a:pPr marL="0" lvl="0" indent="0" algn="l" rtl="0">
              <a:spcBef>
                <a:spcPts val="0"/>
              </a:spcBef>
              <a:spcAft>
                <a:spcPts val="0"/>
              </a:spcAft>
              <a:buNone/>
            </a:pPr>
            <a:endParaRPr sz="1200" dirty="0"/>
          </a:p>
          <a:p>
            <a:pPr marL="0" lvl="0" indent="0" algn="l" rtl="0">
              <a:spcBef>
                <a:spcPts val="0"/>
              </a:spcBef>
              <a:spcAft>
                <a:spcPts val="0"/>
              </a:spcAft>
              <a:buNone/>
            </a:pPr>
            <a:r>
              <a:rPr lang="en" sz="1200" b="1" dirty="0"/>
              <a:t>Trends:</a:t>
            </a:r>
            <a:r>
              <a:rPr lang="en" sz="1200" dirty="0"/>
              <a:t> </a:t>
            </a:r>
            <a:endParaRPr sz="1200" dirty="0"/>
          </a:p>
          <a:p>
            <a:pPr marL="457200" lvl="0" indent="-304800" algn="l" rtl="0">
              <a:spcBef>
                <a:spcPts val="0"/>
              </a:spcBef>
              <a:spcAft>
                <a:spcPts val="0"/>
              </a:spcAft>
              <a:buSzPts val="1200"/>
              <a:buChar char="-"/>
            </a:pPr>
            <a:r>
              <a:rPr lang="en" sz="1200" dirty="0"/>
              <a:t>There is a significant difference between the frequency of pecking and dabbling, the frequency of pecking and dipping, the frequency of dabbling and dipping, the frequency of dabbling and upending, and the frequency of dipping and upending.</a:t>
            </a:r>
            <a:endParaRPr sz="1200" dirty="0"/>
          </a:p>
          <a:p>
            <a:pPr marL="457200" lvl="0" indent="-304800" algn="l" rtl="0">
              <a:spcBef>
                <a:spcPts val="0"/>
              </a:spcBef>
              <a:spcAft>
                <a:spcPts val="0"/>
              </a:spcAft>
              <a:buSzPts val="1200"/>
              <a:buChar char="-"/>
            </a:pPr>
            <a:r>
              <a:rPr lang="en" sz="1200" dirty="0"/>
              <a:t>There is no significant difference between the frequency of pecking and upending as well as between the frequency of dabbling and dipping.</a:t>
            </a:r>
            <a:endParaRPr sz="1200" dirty="0"/>
          </a:p>
          <a:p>
            <a:pPr marL="457200" lvl="0" indent="-304800" algn="l" rtl="0">
              <a:spcBef>
                <a:spcPts val="0"/>
              </a:spcBef>
              <a:spcAft>
                <a:spcPts val="0"/>
              </a:spcAft>
              <a:buSzPts val="1200"/>
              <a:buChar char="-"/>
            </a:pPr>
            <a:r>
              <a:rPr lang="en" sz="1200" dirty="0"/>
              <a:t>Northern shovelers peck and upend the least to forage, and they dabble and dip the most to forage.</a:t>
            </a:r>
            <a:endParaRPr sz="1200" dirty="0"/>
          </a:p>
          <a:p>
            <a:pPr marL="0" lvl="0" indent="0" algn="l" rtl="0">
              <a:spcBef>
                <a:spcPts val="0"/>
              </a:spcBef>
              <a:spcAft>
                <a:spcPts val="0"/>
              </a:spcAft>
              <a:buNone/>
            </a:pPr>
            <a:endParaRPr sz="1200" dirty="0"/>
          </a:p>
          <a:p>
            <a:pPr marL="0" lvl="0" indent="0" algn="l" rtl="0">
              <a:spcBef>
                <a:spcPts val="0"/>
              </a:spcBef>
              <a:spcAft>
                <a:spcPts val="0"/>
              </a:spcAft>
              <a:buNone/>
            </a:pPr>
            <a:r>
              <a:rPr lang="en" sz="1200" b="1" dirty="0">
                <a:solidFill>
                  <a:schemeClr val="dk1"/>
                </a:solidFill>
              </a:rPr>
              <a:t>Statistical Test - Paired t-test: </a:t>
            </a:r>
            <a:r>
              <a:rPr lang="en" sz="1200" dirty="0">
                <a:solidFill>
                  <a:schemeClr val="dk1"/>
                </a:solidFill>
              </a:rPr>
              <a:t>to determine</a:t>
            </a:r>
            <a:r>
              <a:rPr lang="en" sz="1200" dirty="0"/>
              <a:t> whether the mean difference between the two sets of measurements is statistically significant or not.</a:t>
            </a:r>
            <a:endParaRPr sz="1200" dirty="0"/>
          </a:p>
        </p:txBody>
      </p:sp>
      <p:sp>
        <p:nvSpPr>
          <p:cNvPr id="2" name="Title 1">
            <a:extLst>
              <a:ext uri="{FF2B5EF4-FFF2-40B4-BE49-F238E27FC236}">
                <a16:creationId xmlns:a16="http://schemas.microsoft.com/office/drawing/2014/main" id="{5F1FFE2D-B240-FB4A-9802-2DEB520504B9}"/>
              </a:ext>
            </a:extLst>
          </p:cNvPr>
          <p:cNvSpPr txBox="1">
            <a:spLocks/>
          </p:cNvSpPr>
          <p:nvPr/>
        </p:nvSpPr>
        <p:spPr>
          <a:xfrm>
            <a:off x="766916" y="445025"/>
            <a:ext cx="8065384"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b="1" dirty="0">
                <a:solidFill>
                  <a:srgbClr val="1F4E79"/>
                </a:solidFill>
                <a:latin typeface="Arial" panose="020B0604020202020204" pitchFamily="34" charset="0"/>
              </a:rPr>
              <a:t>Results – </a:t>
            </a:r>
            <a:r>
              <a:rPr lang="en-US" dirty="0">
                <a:solidFill>
                  <a:srgbClr val="1F4E79"/>
                </a:solidFill>
                <a:latin typeface="Arial" panose="020B0604020202020204" pitchFamily="34" charset="0"/>
              </a:rPr>
              <a:t>Paired Comparisons Between Behaviors</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03"/>
        <p:cNvGrpSpPr/>
        <p:nvPr/>
      </p:nvGrpSpPr>
      <p:grpSpPr>
        <a:xfrm>
          <a:off x="0" y="0"/>
          <a:ext cx="0" cy="0"/>
          <a:chOff x="0" y="0"/>
          <a:chExt cx="0" cy="0"/>
        </a:xfrm>
      </p:grpSpPr>
      <p:sp>
        <p:nvSpPr>
          <p:cNvPr id="205" name="Google Shape;205;p28"/>
          <p:cNvSpPr txBox="1">
            <a:spLocks noGrp="1"/>
          </p:cNvSpPr>
          <p:nvPr>
            <p:ph type="body" idx="1"/>
          </p:nvPr>
        </p:nvSpPr>
        <p:spPr>
          <a:xfrm>
            <a:off x="840658" y="1017724"/>
            <a:ext cx="7617542" cy="41256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u="sng" dirty="0"/>
              <a:t>Results - Predictions</a:t>
            </a:r>
            <a:endParaRPr sz="1400" u="sng" dirty="0"/>
          </a:p>
          <a:p>
            <a:pPr marL="457200" lvl="0" indent="-330200" algn="l" rtl="0">
              <a:spcBef>
                <a:spcPts val="1200"/>
              </a:spcBef>
              <a:spcAft>
                <a:spcPts val="0"/>
              </a:spcAft>
              <a:buClr>
                <a:srgbClr val="38761D"/>
              </a:buClr>
              <a:buSzPts val="1600"/>
              <a:buChar char="✔"/>
            </a:pPr>
            <a:r>
              <a:rPr lang="en" sz="1400" dirty="0">
                <a:solidFill>
                  <a:srgbClr val="38761D"/>
                </a:solidFill>
              </a:rPr>
              <a:t>Based on the Wilcoxon-Mann Whitney test, there is no significant difference between the frequency of the foraging behavior between the sex of Northern shovelers, which proves our original prediction to be true (p-value = 0.1).</a:t>
            </a:r>
            <a:endParaRPr sz="1400" dirty="0">
              <a:solidFill>
                <a:srgbClr val="38761D"/>
              </a:solidFill>
            </a:endParaRPr>
          </a:p>
          <a:p>
            <a:pPr marL="457200" lvl="0" indent="-330200" algn="l" rtl="0">
              <a:spcBef>
                <a:spcPts val="0"/>
              </a:spcBef>
              <a:spcAft>
                <a:spcPts val="0"/>
              </a:spcAft>
              <a:buClr>
                <a:srgbClr val="38761D"/>
              </a:buClr>
              <a:buSzPts val="1600"/>
              <a:buChar char="✔"/>
            </a:pPr>
            <a:r>
              <a:rPr lang="en" sz="1400" dirty="0">
                <a:solidFill>
                  <a:srgbClr val="38761D"/>
                </a:solidFill>
              </a:rPr>
              <a:t>Based on the Kruskal-Wallis test, there is a significant difference between the frequency of the foraging behavior throughout the day, which also proves our original prediction to be true (p-value &lt; 2.2e-16). </a:t>
            </a:r>
            <a:endParaRPr sz="1400" dirty="0">
              <a:solidFill>
                <a:srgbClr val="38761D"/>
              </a:solidFill>
            </a:endParaRPr>
          </a:p>
          <a:p>
            <a:pPr marL="457200" lvl="0" indent="-330200" algn="l" rtl="0">
              <a:spcBef>
                <a:spcPts val="0"/>
              </a:spcBef>
              <a:spcAft>
                <a:spcPts val="0"/>
              </a:spcAft>
              <a:buClr>
                <a:srgbClr val="A61C00"/>
              </a:buClr>
              <a:buSzPts val="1600"/>
              <a:buChar char="✗"/>
            </a:pPr>
            <a:r>
              <a:rPr lang="en" sz="1400" dirty="0">
                <a:solidFill>
                  <a:srgbClr val="A61C00"/>
                </a:solidFill>
              </a:rPr>
              <a:t>Based on the paired t-test, the pecking and upending behaviors were significantly different from the dabbling and dipping behaviors, in which dabbling and dipping were more frequent than pecking and upending. This disproves our prediction that only dabbling would be the most frequent foraging behavior for Northern shovelers.</a:t>
            </a:r>
            <a:endParaRPr sz="1400" dirty="0">
              <a:solidFill>
                <a:srgbClr val="A61C00"/>
              </a:solidFill>
            </a:endParaRPr>
          </a:p>
          <a:p>
            <a:pPr marL="0" lvl="0" indent="0" algn="l" rtl="0">
              <a:spcBef>
                <a:spcPts val="1200"/>
              </a:spcBef>
              <a:spcAft>
                <a:spcPts val="0"/>
              </a:spcAft>
              <a:buNone/>
            </a:pPr>
            <a:r>
              <a:rPr lang="en" sz="1400" u="sng" dirty="0"/>
              <a:t>Results - Biological Hypothesis</a:t>
            </a:r>
            <a:endParaRPr sz="1400" u="sng" dirty="0"/>
          </a:p>
          <a:p>
            <a:pPr marL="457200" lvl="0" indent="-330200" algn="l" rtl="0">
              <a:spcBef>
                <a:spcPts val="1200"/>
              </a:spcBef>
              <a:spcAft>
                <a:spcPts val="0"/>
              </a:spcAft>
              <a:buClr>
                <a:srgbClr val="38761D"/>
              </a:buClr>
              <a:buSzPts val="1600"/>
              <a:buChar char="✅"/>
            </a:pPr>
            <a:r>
              <a:rPr lang="en" sz="1400" dirty="0">
                <a:solidFill>
                  <a:srgbClr val="38761D"/>
                </a:solidFill>
              </a:rPr>
              <a:t>Both parts of our biological hypothesis were supported.</a:t>
            </a:r>
            <a:endParaRPr sz="1400" dirty="0">
              <a:solidFill>
                <a:srgbClr val="38761D"/>
              </a:solidFill>
            </a:endParaRPr>
          </a:p>
        </p:txBody>
      </p:sp>
      <p:sp>
        <p:nvSpPr>
          <p:cNvPr id="4" name="Title 1">
            <a:extLst>
              <a:ext uri="{FF2B5EF4-FFF2-40B4-BE49-F238E27FC236}">
                <a16:creationId xmlns:a16="http://schemas.microsoft.com/office/drawing/2014/main" id="{AEF3C134-DD3E-5026-2710-ACF225EED417}"/>
              </a:ext>
            </a:extLst>
          </p:cNvPr>
          <p:cNvSpPr txBox="1">
            <a:spLocks/>
          </p:cNvSpPr>
          <p:nvPr/>
        </p:nvSpPr>
        <p:spPr>
          <a:xfrm>
            <a:off x="766916" y="445025"/>
            <a:ext cx="8065384"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b="1" dirty="0">
                <a:solidFill>
                  <a:srgbClr val="1F4E79"/>
                </a:solidFill>
                <a:latin typeface="Arial" panose="020B0604020202020204" pitchFamily="34" charset="0"/>
              </a:rPr>
              <a:t>Discussion – </a:t>
            </a:r>
            <a:r>
              <a:rPr lang="en-US" dirty="0">
                <a:solidFill>
                  <a:srgbClr val="1F4E79"/>
                </a:solidFill>
                <a:latin typeface="Arial" panose="020B0604020202020204" pitchFamily="34" charset="0"/>
              </a:rPr>
              <a:t>Biological Hypothesis Assessment</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16"/>
        <p:cNvGrpSpPr/>
        <p:nvPr/>
      </p:nvGrpSpPr>
      <p:grpSpPr>
        <a:xfrm>
          <a:off x="0" y="0"/>
          <a:ext cx="0" cy="0"/>
          <a:chOff x="0" y="0"/>
          <a:chExt cx="0" cy="0"/>
        </a:xfrm>
      </p:grpSpPr>
      <p:sp>
        <p:nvSpPr>
          <p:cNvPr id="218" name="Google Shape;218;p30"/>
          <p:cNvSpPr txBox="1">
            <a:spLocks noGrp="1"/>
          </p:cNvSpPr>
          <p:nvPr>
            <p:ph type="body" idx="1"/>
          </p:nvPr>
        </p:nvSpPr>
        <p:spPr>
          <a:xfrm>
            <a:off x="612900" y="715700"/>
            <a:ext cx="8119500" cy="44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000" u="sng" dirty="0">
                <a:solidFill>
                  <a:schemeClr val="tx1"/>
                </a:solidFill>
              </a:rPr>
              <a:t>The mechanisms of the results fit into the function level of analysis.</a:t>
            </a:r>
            <a:endParaRPr sz="2000" u="sng" dirty="0">
              <a:solidFill>
                <a:schemeClr val="tx1"/>
              </a:solidFill>
            </a:endParaRPr>
          </a:p>
          <a:p>
            <a:pPr marL="0" lvl="0" indent="0" algn="ctr" rtl="0">
              <a:spcBef>
                <a:spcPts val="1200"/>
              </a:spcBef>
              <a:spcAft>
                <a:spcPts val="0"/>
              </a:spcAft>
              <a:buNone/>
            </a:pPr>
            <a:r>
              <a:rPr lang="en" dirty="0">
                <a:solidFill>
                  <a:schemeClr val="tx1"/>
                </a:solidFill>
              </a:rPr>
              <a:t>Foraging behaviors directly impacts their ability to obtain food.</a:t>
            </a:r>
            <a:endParaRPr dirty="0">
              <a:solidFill>
                <a:schemeClr val="tx1"/>
              </a:solidFill>
            </a:endParaRPr>
          </a:p>
          <a:p>
            <a:pPr marL="1371600" lvl="0" indent="-330200" algn="l" rtl="0">
              <a:spcBef>
                <a:spcPts val="1200"/>
              </a:spcBef>
              <a:spcAft>
                <a:spcPts val="0"/>
              </a:spcAft>
              <a:buSzPts val="1600"/>
              <a:buFont typeface="Arial" panose="020B0604020202020204" pitchFamily="34" charset="0"/>
              <a:buChar char="•"/>
            </a:pPr>
            <a:r>
              <a:rPr lang="en" sz="1600" dirty="0">
                <a:solidFill>
                  <a:schemeClr val="tx1"/>
                </a:solidFill>
              </a:rPr>
              <a:t>how the behavior is influenced by environmental factors</a:t>
            </a:r>
            <a:endParaRPr sz="1600" dirty="0">
              <a:solidFill>
                <a:schemeClr val="tx1"/>
              </a:solidFill>
            </a:endParaRPr>
          </a:p>
          <a:p>
            <a:pPr marL="1828800" lvl="1" indent="-330200" algn="l" rtl="0">
              <a:spcBef>
                <a:spcPts val="0"/>
              </a:spcBef>
              <a:spcAft>
                <a:spcPts val="0"/>
              </a:spcAft>
              <a:buSzPts val="1600"/>
              <a:buFont typeface="Arial" panose="020B0604020202020204" pitchFamily="34" charset="0"/>
              <a:buChar char="•"/>
            </a:pPr>
            <a:r>
              <a:rPr lang="en" sz="1600" dirty="0">
                <a:solidFill>
                  <a:schemeClr val="tx1"/>
                </a:solidFill>
              </a:rPr>
              <a:t>how does the time of day affect foraging</a:t>
            </a:r>
            <a:endParaRPr sz="1600" dirty="0">
              <a:solidFill>
                <a:schemeClr val="tx1"/>
              </a:solidFill>
            </a:endParaRPr>
          </a:p>
          <a:p>
            <a:pPr marL="1828800" lvl="1" indent="-330200" algn="l" rtl="0">
              <a:spcBef>
                <a:spcPts val="0"/>
              </a:spcBef>
              <a:spcAft>
                <a:spcPts val="0"/>
              </a:spcAft>
              <a:buSzPts val="1600"/>
              <a:buFont typeface="Arial" panose="020B0604020202020204" pitchFamily="34" charset="0"/>
              <a:buChar char="•"/>
            </a:pPr>
            <a:r>
              <a:rPr lang="en" sz="1600" dirty="0">
                <a:solidFill>
                  <a:schemeClr val="tx1"/>
                </a:solidFill>
              </a:rPr>
              <a:t>how does the presence of humans affect foraging</a:t>
            </a:r>
            <a:endParaRPr sz="1600" dirty="0">
              <a:solidFill>
                <a:schemeClr val="tx1"/>
              </a:solidFill>
            </a:endParaRPr>
          </a:p>
          <a:p>
            <a:pPr marL="1828800" lvl="1" indent="-330200" algn="l" rtl="0">
              <a:spcBef>
                <a:spcPts val="0"/>
              </a:spcBef>
              <a:spcAft>
                <a:spcPts val="0"/>
              </a:spcAft>
              <a:buSzPts val="1600"/>
              <a:buFont typeface="Arial" panose="020B0604020202020204" pitchFamily="34" charset="0"/>
              <a:buChar char="•"/>
            </a:pPr>
            <a:r>
              <a:rPr lang="en" sz="1600" dirty="0">
                <a:solidFill>
                  <a:schemeClr val="tx1"/>
                </a:solidFill>
              </a:rPr>
              <a:t>how does temperature affect foraging</a:t>
            </a:r>
            <a:endParaRPr sz="1600" dirty="0">
              <a:solidFill>
                <a:schemeClr val="tx1"/>
              </a:solidFill>
            </a:endParaRPr>
          </a:p>
          <a:p>
            <a:pPr marL="1828800" lvl="1" indent="-330200" algn="l" rtl="0">
              <a:spcBef>
                <a:spcPts val="0"/>
              </a:spcBef>
              <a:spcAft>
                <a:spcPts val="0"/>
              </a:spcAft>
              <a:buSzPts val="1600"/>
              <a:buFont typeface="Arial" panose="020B0604020202020204" pitchFamily="34" charset="0"/>
              <a:buChar char="•"/>
            </a:pPr>
            <a:r>
              <a:rPr lang="en" sz="1600" dirty="0">
                <a:solidFill>
                  <a:schemeClr val="tx1"/>
                </a:solidFill>
              </a:rPr>
              <a:t>how does breeding season affect foraging</a:t>
            </a:r>
            <a:endParaRPr sz="1600" dirty="0">
              <a:solidFill>
                <a:schemeClr val="tx1"/>
              </a:solidFill>
            </a:endParaRPr>
          </a:p>
          <a:p>
            <a:pPr marL="1371600" lvl="0" indent="-330200" algn="l" rtl="0">
              <a:spcBef>
                <a:spcPts val="0"/>
              </a:spcBef>
              <a:spcAft>
                <a:spcPts val="0"/>
              </a:spcAft>
              <a:buSzPts val="1600"/>
              <a:buFont typeface="Arial" panose="020B0604020202020204" pitchFamily="34" charset="0"/>
              <a:buChar char="•"/>
            </a:pPr>
            <a:r>
              <a:rPr lang="en" sz="1600" dirty="0">
                <a:solidFill>
                  <a:schemeClr val="tx1"/>
                </a:solidFill>
              </a:rPr>
              <a:t>how does sex impact fitness, and how does that fit with reproduction</a:t>
            </a:r>
            <a:endParaRPr sz="1600" dirty="0">
              <a:solidFill>
                <a:schemeClr val="tx1"/>
              </a:solidFill>
            </a:endParaRPr>
          </a:p>
        </p:txBody>
      </p:sp>
      <p:sp>
        <p:nvSpPr>
          <p:cNvPr id="2" name="Title 1">
            <a:extLst>
              <a:ext uri="{FF2B5EF4-FFF2-40B4-BE49-F238E27FC236}">
                <a16:creationId xmlns:a16="http://schemas.microsoft.com/office/drawing/2014/main" id="{50220306-00D0-5ECE-1C74-29604E3B9A32}"/>
              </a:ext>
            </a:extLst>
          </p:cNvPr>
          <p:cNvSpPr txBox="1">
            <a:spLocks/>
          </p:cNvSpPr>
          <p:nvPr/>
        </p:nvSpPr>
        <p:spPr>
          <a:xfrm>
            <a:off x="766916" y="445025"/>
            <a:ext cx="8065384"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b="1" dirty="0">
                <a:solidFill>
                  <a:srgbClr val="1F4E79"/>
                </a:solidFill>
                <a:latin typeface="Arial" panose="020B0604020202020204" pitchFamily="34" charset="0"/>
              </a:rPr>
              <a:t>Discussion – </a:t>
            </a:r>
            <a:r>
              <a:rPr lang="en-US" dirty="0">
                <a:solidFill>
                  <a:srgbClr val="1F4E79"/>
                </a:solidFill>
                <a:latin typeface="Arial" panose="020B0604020202020204" pitchFamily="34" charset="0"/>
              </a:rPr>
              <a:t>Tinbergen's 4 Levels of Analysis</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22"/>
        <p:cNvGrpSpPr/>
        <p:nvPr/>
      </p:nvGrpSpPr>
      <p:grpSpPr>
        <a:xfrm>
          <a:off x="0" y="0"/>
          <a:ext cx="0" cy="0"/>
          <a:chOff x="0" y="0"/>
          <a:chExt cx="0" cy="0"/>
        </a:xfrm>
      </p:grpSpPr>
      <p:sp>
        <p:nvSpPr>
          <p:cNvPr id="224" name="Google Shape;224;p31"/>
          <p:cNvSpPr txBox="1">
            <a:spLocks noGrp="1"/>
          </p:cNvSpPr>
          <p:nvPr>
            <p:ph type="body" idx="1"/>
          </p:nvPr>
        </p:nvSpPr>
        <p:spPr>
          <a:xfrm>
            <a:off x="848874" y="922177"/>
            <a:ext cx="7447094" cy="442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b="1" u="sng" dirty="0">
                <a:solidFill>
                  <a:schemeClr val="tx1"/>
                </a:solidFill>
              </a:rPr>
              <a:t>Data Collection Issues/Limitations</a:t>
            </a:r>
            <a:endParaRPr sz="1400" b="1" u="sng" dirty="0">
              <a:solidFill>
                <a:schemeClr val="tx1"/>
              </a:solidFill>
            </a:endParaRPr>
          </a:p>
          <a:p>
            <a:pPr marL="457200" lvl="0" indent="-317500" algn="l" rtl="0">
              <a:spcBef>
                <a:spcPts val="1200"/>
              </a:spcBef>
              <a:spcAft>
                <a:spcPts val="0"/>
              </a:spcAft>
              <a:buSzPts val="1400"/>
              <a:buFont typeface="Arial" panose="020B0604020202020204" pitchFamily="34" charset="0"/>
              <a:buChar char="•"/>
            </a:pPr>
            <a:r>
              <a:rPr lang="en" sz="1400" b="1" dirty="0">
                <a:solidFill>
                  <a:schemeClr val="tx1"/>
                </a:solidFill>
              </a:rPr>
              <a:t>Sample Size Variation: </a:t>
            </a:r>
            <a:r>
              <a:rPr lang="en" sz="1400" dirty="0">
                <a:solidFill>
                  <a:schemeClr val="tx1"/>
                </a:solidFill>
              </a:rPr>
              <a:t>There were many days with very few shovelers in the park. </a:t>
            </a:r>
            <a:endParaRPr sz="1400" dirty="0">
              <a:solidFill>
                <a:schemeClr val="tx1"/>
              </a:solidFill>
            </a:endParaRPr>
          </a:p>
          <a:p>
            <a:pPr lvl="1" algn="l" rtl="0">
              <a:spcBef>
                <a:spcPts val="0"/>
              </a:spcBef>
              <a:spcAft>
                <a:spcPts val="0"/>
              </a:spcAft>
              <a:buSzPts val="1400"/>
              <a:buFont typeface="Arial" panose="020B0604020202020204" pitchFamily="34" charset="0"/>
              <a:buChar char="•"/>
            </a:pPr>
            <a:r>
              <a:rPr lang="en" dirty="0">
                <a:solidFill>
                  <a:schemeClr val="tx1"/>
                </a:solidFill>
              </a:rPr>
              <a:t>Expand the time frame of the observation, so that the days without shovelers can be discarded or ignored. </a:t>
            </a:r>
            <a:endParaRPr dirty="0">
              <a:solidFill>
                <a:schemeClr val="tx1"/>
              </a:solidFill>
            </a:endParaRPr>
          </a:p>
          <a:p>
            <a:pPr marL="457200" lvl="0" indent="-317500" algn="l" rtl="0">
              <a:spcBef>
                <a:spcPts val="0"/>
              </a:spcBef>
              <a:spcAft>
                <a:spcPts val="0"/>
              </a:spcAft>
              <a:buSzPts val="1400"/>
              <a:buFont typeface="Arial" panose="020B0604020202020204" pitchFamily="34" charset="0"/>
              <a:buChar char="•"/>
            </a:pPr>
            <a:r>
              <a:rPr lang="en" sz="1400" b="1" dirty="0">
                <a:solidFill>
                  <a:schemeClr val="tx1"/>
                </a:solidFill>
              </a:rPr>
              <a:t>Confounding Variable: </a:t>
            </a:r>
            <a:r>
              <a:rPr lang="en" sz="1400" dirty="0">
                <a:solidFill>
                  <a:schemeClr val="tx1"/>
                </a:solidFill>
              </a:rPr>
              <a:t>The weather limited the study, in which the sample size greatly decreased during days when the cold front came.</a:t>
            </a:r>
            <a:endParaRPr sz="1400" b="1" dirty="0">
              <a:solidFill>
                <a:schemeClr val="tx1"/>
              </a:solidFill>
            </a:endParaRPr>
          </a:p>
          <a:p>
            <a:pPr marL="457200" lvl="0" indent="-317500" algn="l" rtl="0">
              <a:spcBef>
                <a:spcPts val="0"/>
              </a:spcBef>
              <a:spcAft>
                <a:spcPts val="0"/>
              </a:spcAft>
              <a:buSzPts val="1400"/>
              <a:buFont typeface="Arial" panose="020B0604020202020204" pitchFamily="34" charset="0"/>
              <a:buChar char="•"/>
            </a:pPr>
            <a:r>
              <a:rPr lang="en" sz="1400" b="1" dirty="0">
                <a:solidFill>
                  <a:schemeClr val="tx1"/>
                </a:solidFill>
              </a:rPr>
              <a:t>Species </a:t>
            </a:r>
            <a:r>
              <a:rPr lang="en" sz="1400" b="1" dirty="0" err="1">
                <a:solidFill>
                  <a:schemeClr val="tx1"/>
                </a:solidFill>
              </a:rPr>
              <a:t>Mididentification</a:t>
            </a:r>
            <a:r>
              <a:rPr lang="en" sz="1400" b="1" dirty="0">
                <a:solidFill>
                  <a:schemeClr val="tx1"/>
                </a:solidFill>
              </a:rPr>
              <a:t>: </a:t>
            </a:r>
            <a:r>
              <a:rPr lang="en-US" sz="1400" dirty="0">
                <a:solidFill>
                  <a:schemeClr val="tx1"/>
                </a:solidFill>
              </a:rPr>
              <a:t>Distinguishing Northern </a:t>
            </a:r>
            <a:br>
              <a:rPr lang="en-US" sz="1400" dirty="0">
                <a:solidFill>
                  <a:schemeClr val="tx1"/>
                </a:solidFill>
              </a:rPr>
            </a:br>
            <a:r>
              <a:rPr lang="en-US" sz="1400" dirty="0">
                <a:solidFill>
                  <a:schemeClr val="tx1"/>
                </a:solidFill>
              </a:rPr>
              <a:t>Shovelers from mallards was occasionally </a:t>
            </a:r>
            <a:br>
              <a:rPr lang="en-US" sz="1400" dirty="0">
                <a:solidFill>
                  <a:schemeClr val="tx1"/>
                </a:solidFill>
              </a:rPr>
            </a:br>
            <a:r>
              <a:rPr lang="en-US" sz="1400" dirty="0">
                <a:solidFill>
                  <a:schemeClr val="tx1"/>
                </a:solidFill>
              </a:rPr>
              <a:t>difficult at distance. </a:t>
            </a:r>
            <a:r>
              <a:rPr lang="en" sz="1400" dirty="0">
                <a:solidFill>
                  <a:schemeClr val="tx1"/>
                </a:solidFill>
              </a:rPr>
              <a:t>(Male Northern shoveler on the left</a:t>
            </a:r>
            <a:br>
              <a:rPr lang="en" sz="1400" dirty="0">
                <a:solidFill>
                  <a:schemeClr val="tx1"/>
                </a:solidFill>
              </a:rPr>
            </a:br>
            <a:r>
              <a:rPr lang="en" sz="1400" dirty="0">
                <a:solidFill>
                  <a:schemeClr val="tx1"/>
                </a:solidFill>
              </a:rPr>
              <a:t>vs. male mallard on the right) 	</a:t>
            </a:r>
            <a:br>
              <a:rPr lang="en-US" sz="1400" b="1" u="sng" dirty="0">
                <a:solidFill>
                  <a:schemeClr val="tx1"/>
                </a:solidFill>
              </a:rPr>
            </a:br>
            <a:endParaRPr sz="1400" b="1" u="sng" dirty="0">
              <a:solidFill>
                <a:schemeClr val="tx1"/>
              </a:solidFill>
            </a:endParaRPr>
          </a:p>
          <a:p>
            <a:pPr marL="0" lvl="0" indent="0" algn="l" rtl="0">
              <a:spcBef>
                <a:spcPts val="1200"/>
              </a:spcBef>
              <a:spcAft>
                <a:spcPts val="0"/>
              </a:spcAft>
              <a:buNone/>
            </a:pPr>
            <a:r>
              <a:rPr lang="en" sz="1400" b="1" u="sng" dirty="0">
                <a:solidFill>
                  <a:schemeClr val="tx1"/>
                </a:solidFill>
              </a:rPr>
              <a:t>Follow Up:</a:t>
            </a:r>
            <a:endParaRPr sz="1400" b="1" u="sng" dirty="0">
              <a:solidFill>
                <a:schemeClr val="tx1"/>
              </a:solidFill>
            </a:endParaRPr>
          </a:p>
          <a:p>
            <a:pPr marL="457200" lvl="0" indent="-317500" algn="l" rtl="0">
              <a:spcBef>
                <a:spcPts val="1200"/>
              </a:spcBef>
              <a:spcAft>
                <a:spcPts val="0"/>
              </a:spcAft>
              <a:buSzPts val="1400"/>
              <a:buFont typeface="Arial" panose="020B0604020202020204" pitchFamily="34" charset="0"/>
              <a:buChar char="•"/>
            </a:pPr>
            <a:r>
              <a:rPr lang="en" sz="1400" dirty="0">
                <a:solidFill>
                  <a:schemeClr val="tx1"/>
                </a:solidFill>
              </a:rPr>
              <a:t>Would foraging behaviors be different during breeding season?</a:t>
            </a:r>
            <a:endParaRPr sz="1400" dirty="0">
              <a:solidFill>
                <a:schemeClr val="tx1"/>
              </a:solidFill>
            </a:endParaRPr>
          </a:p>
          <a:p>
            <a:pPr marL="457200" lvl="0" indent="-317500" algn="l" rtl="0">
              <a:spcBef>
                <a:spcPts val="0"/>
              </a:spcBef>
              <a:spcAft>
                <a:spcPts val="0"/>
              </a:spcAft>
              <a:buSzPts val="1400"/>
              <a:buFont typeface="Arial" panose="020B0604020202020204" pitchFamily="34" charset="0"/>
              <a:buChar char="•"/>
            </a:pPr>
            <a:r>
              <a:rPr lang="en" sz="1400" dirty="0">
                <a:solidFill>
                  <a:schemeClr val="tx1"/>
                </a:solidFill>
              </a:rPr>
              <a:t>Is there a positive correlation of number of ducks at the lake with temperature?</a:t>
            </a:r>
            <a:endParaRPr sz="1400" dirty="0">
              <a:solidFill>
                <a:schemeClr val="tx1"/>
              </a:solidFill>
            </a:endParaRPr>
          </a:p>
        </p:txBody>
      </p:sp>
      <p:sp>
        <p:nvSpPr>
          <p:cNvPr id="2" name="Title 1">
            <a:extLst>
              <a:ext uri="{FF2B5EF4-FFF2-40B4-BE49-F238E27FC236}">
                <a16:creationId xmlns:a16="http://schemas.microsoft.com/office/drawing/2014/main" id="{32236054-9E7C-ACC9-A504-D674F2CC555D}"/>
              </a:ext>
            </a:extLst>
          </p:cNvPr>
          <p:cNvSpPr txBox="1">
            <a:spLocks/>
          </p:cNvSpPr>
          <p:nvPr/>
        </p:nvSpPr>
        <p:spPr>
          <a:xfrm>
            <a:off x="766916" y="445025"/>
            <a:ext cx="8065384"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b="1" dirty="0">
                <a:solidFill>
                  <a:srgbClr val="1F4E79"/>
                </a:solidFill>
                <a:latin typeface="Arial" panose="020B0604020202020204" pitchFamily="34" charset="0"/>
              </a:rPr>
              <a:t>Discussion – </a:t>
            </a:r>
            <a:r>
              <a:rPr lang="en-US" dirty="0">
                <a:solidFill>
                  <a:srgbClr val="1F4E79"/>
                </a:solidFill>
                <a:latin typeface="Arial" panose="020B0604020202020204" pitchFamily="34" charset="0"/>
              </a:rPr>
              <a:t>Limitations &amp; Follow-Up Questions</a:t>
            </a:r>
            <a:endParaRPr lang="en-US" dirty="0"/>
          </a:p>
        </p:txBody>
      </p:sp>
      <p:pic>
        <p:nvPicPr>
          <p:cNvPr id="5" name="Picture 4" descr="One of a different kind. Northern Shoveler and a Mallard 03/21/2024.">
            <a:extLst>
              <a:ext uri="{FF2B5EF4-FFF2-40B4-BE49-F238E27FC236}">
                <a16:creationId xmlns:a16="http://schemas.microsoft.com/office/drawing/2014/main" id="{E4786547-77E2-1800-7E57-6368FE16167D}"/>
              </a:ext>
            </a:extLst>
          </p:cNvPr>
          <p:cNvPicPr>
            <a:picLocks noChangeAspect="1"/>
          </p:cNvPicPr>
          <p:nvPr/>
        </p:nvPicPr>
        <p:blipFill>
          <a:blip r:embed="rId4"/>
          <a:stretch>
            <a:fillRect/>
          </a:stretch>
        </p:blipFill>
        <p:spPr>
          <a:xfrm>
            <a:off x="5998529" y="2428104"/>
            <a:ext cx="2570284" cy="170726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0"/>
        <p:cNvGrpSpPr/>
        <p:nvPr/>
      </p:nvGrpSpPr>
      <p:grpSpPr>
        <a:xfrm>
          <a:off x="0" y="0"/>
          <a:ext cx="0" cy="0"/>
          <a:chOff x="0" y="0"/>
          <a:chExt cx="0" cy="0"/>
        </a:xfrm>
      </p:grpSpPr>
      <p:sp>
        <p:nvSpPr>
          <p:cNvPr id="232" name="Google Shape;232;p32"/>
          <p:cNvSpPr txBox="1">
            <a:spLocks noGrp="1"/>
          </p:cNvSpPr>
          <p:nvPr>
            <p:ph type="body" idx="1"/>
          </p:nvPr>
        </p:nvSpPr>
        <p:spPr>
          <a:xfrm>
            <a:off x="612900" y="1017724"/>
            <a:ext cx="5905887" cy="4125675"/>
          </a:xfrm>
          <a:prstGeom prst="rect">
            <a:avLst/>
          </a:prstGeom>
        </p:spPr>
        <p:txBody>
          <a:bodyPr spcFirstLastPara="1" wrap="square" lIns="91425" tIns="91425" rIns="91425" bIns="91425" anchor="ctr" anchorCtr="0">
            <a:noAutofit/>
          </a:bodyPr>
          <a:lstStyle/>
          <a:p>
            <a:pPr marL="457200" lvl="0" indent="-330200" algn="l" rtl="0">
              <a:spcBef>
                <a:spcPts val="0"/>
              </a:spcBef>
              <a:spcAft>
                <a:spcPts val="0"/>
              </a:spcAft>
              <a:buSzPts val="1600"/>
              <a:buFont typeface="Arial" panose="020B0604020202020204" pitchFamily="34" charset="0"/>
              <a:buChar char="•"/>
            </a:pPr>
            <a:r>
              <a:rPr lang="en" sz="1300" dirty="0">
                <a:solidFill>
                  <a:schemeClr val="tx1"/>
                </a:solidFill>
              </a:rPr>
              <a:t>The data mainly shows that the research question needs further research as there were many confounding variables and limitations, such as weather and the fact that the ducks were often sleeping. Tentatively, the data does support the hypothesis that the common human presence in the park affects foraging behaviors throughout the day regardless of sex, in which shovelers in captivity were noted as less alert due to human visitors (Rose et al., 2022).</a:t>
            </a:r>
            <a:endParaRPr sz="1300" dirty="0">
              <a:solidFill>
                <a:schemeClr val="tx1"/>
              </a:solidFill>
            </a:endParaRPr>
          </a:p>
          <a:p>
            <a:pPr marL="457200" lvl="0" indent="-330200" algn="l" rtl="0">
              <a:spcBef>
                <a:spcPts val="0"/>
              </a:spcBef>
              <a:spcAft>
                <a:spcPts val="0"/>
              </a:spcAft>
              <a:buSzPts val="1600"/>
              <a:buFont typeface="Arial" panose="020B0604020202020204" pitchFamily="34" charset="0"/>
              <a:buChar char="•"/>
            </a:pPr>
            <a:r>
              <a:rPr lang="en" sz="1300" dirty="0">
                <a:solidFill>
                  <a:schemeClr val="tx1"/>
                </a:solidFill>
              </a:rPr>
              <a:t>The behavior of ducks around humans is important because of the large numbers of ducks that live at least part of the year in parks. As such, the health of the Northern Shoveler, and ducks in general, may be greatly affected due to behavioral changes caused by human presence.</a:t>
            </a:r>
            <a:br>
              <a:rPr lang="en" sz="1300" dirty="0">
                <a:solidFill>
                  <a:schemeClr val="tx1"/>
                </a:solidFill>
              </a:rPr>
            </a:br>
            <a:endParaRPr lang="en" sz="1300" dirty="0">
              <a:solidFill>
                <a:schemeClr val="tx1"/>
              </a:solidFill>
            </a:endParaRPr>
          </a:p>
          <a:p>
            <a:pPr marL="457200" lvl="0" indent="-330200" algn="l" rtl="0">
              <a:spcBef>
                <a:spcPts val="0"/>
              </a:spcBef>
              <a:spcAft>
                <a:spcPts val="0"/>
              </a:spcAft>
              <a:buSzPts val="1600"/>
              <a:buFont typeface="Arial" panose="020B0604020202020204" pitchFamily="34" charset="0"/>
              <a:buChar char="•"/>
            </a:pPr>
            <a:r>
              <a:rPr lang="en-US" sz="1300" dirty="0">
                <a:solidFill>
                  <a:schemeClr val="tx1"/>
                </a:solidFill>
              </a:rPr>
              <a:t>Practical management strategies: restrict feeding of ducks by visitors, establish buffer zones, and inform guidelines for managing human contact.</a:t>
            </a:r>
            <a:endParaRPr sz="1300" dirty="0">
              <a:solidFill>
                <a:schemeClr val="tx1"/>
              </a:solidFill>
            </a:endParaRPr>
          </a:p>
        </p:txBody>
      </p:sp>
      <p:sp>
        <p:nvSpPr>
          <p:cNvPr id="2" name="Title 1">
            <a:extLst>
              <a:ext uri="{FF2B5EF4-FFF2-40B4-BE49-F238E27FC236}">
                <a16:creationId xmlns:a16="http://schemas.microsoft.com/office/drawing/2014/main" id="{80004BE0-B8A2-F02B-42D1-BB034661312D}"/>
              </a:ext>
            </a:extLst>
          </p:cNvPr>
          <p:cNvSpPr txBox="1">
            <a:spLocks/>
          </p:cNvSpPr>
          <p:nvPr/>
        </p:nvSpPr>
        <p:spPr>
          <a:xfrm>
            <a:off x="766916" y="445025"/>
            <a:ext cx="8065384"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b="1" dirty="0">
                <a:solidFill>
                  <a:srgbClr val="1F4E79"/>
                </a:solidFill>
                <a:latin typeface="Arial" panose="020B0604020202020204" pitchFamily="34" charset="0"/>
              </a:rPr>
              <a:t>Discussion – </a:t>
            </a:r>
            <a:r>
              <a:rPr lang="en-US" dirty="0">
                <a:solidFill>
                  <a:srgbClr val="1F4E79"/>
                </a:solidFill>
                <a:latin typeface="Arial" panose="020B0604020202020204" pitchFamily="34" charset="0"/>
              </a:rPr>
              <a:t>Larger Significance &amp; Applications</a:t>
            </a:r>
            <a:endParaRPr lang="en-US" dirty="0"/>
          </a:p>
        </p:txBody>
      </p:sp>
      <p:pic>
        <p:nvPicPr>
          <p:cNvPr id="5" name="Google Shape;239;p33">
            <a:extLst>
              <a:ext uri="{FF2B5EF4-FFF2-40B4-BE49-F238E27FC236}">
                <a16:creationId xmlns:a16="http://schemas.microsoft.com/office/drawing/2014/main" id="{6F8F2D53-CA6C-6E55-CD82-815F89867704}"/>
              </a:ext>
            </a:extLst>
          </p:cNvPr>
          <p:cNvPicPr preferRelativeResize="0"/>
          <p:nvPr/>
        </p:nvPicPr>
        <p:blipFill rotWithShape="1">
          <a:blip r:embed="rId4">
            <a:alphaModFix/>
          </a:blip>
          <a:srcRect l="56077" t="4998" r="4905" b="19836"/>
          <a:stretch/>
        </p:blipFill>
        <p:spPr>
          <a:xfrm>
            <a:off x="6729725" y="1436200"/>
            <a:ext cx="1801375" cy="281954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43"/>
        <p:cNvGrpSpPr/>
        <p:nvPr/>
      </p:nvGrpSpPr>
      <p:grpSpPr>
        <a:xfrm>
          <a:off x="0" y="0"/>
          <a:ext cx="0" cy="0"/>
          <a:chOff x="0" y="0"/>
          <a:chExt cx="0" cy="0"/>
        </a:xfrm>
      </p:grpSpPr>
      <p:sp>
        <p:nvSpPr>
          <p:cNvPr id="244" name="Google Shape;244;p34"/>
          <p:cNvSpPr txBox="1">
            <a:spLocks noGrp="1"/>
          </p:cNvSpPr>
          <p:nvPr>
            <p:ph type="title"/>
          </p:nvPr>
        </p:nvSpPr>
        <p:spPr>
          <a:xfrm>
            <a:off x="612900" y="143000"/>
            <a:ext cx="82194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t>Literature Cited</a:t>
            </a:r>
            <a:endParaRPr b="1"/>
          </a:p>
        </p:txBody>
      </p:sp>
      <p:sp>
        <p:nvSpPr>
          <p:cNvPr id="245" name="Google Shape;245;p34"/>
          <p:cNvSpPr txBox="1">
            <a:spLocks noGrp="1"/>
          </p:cNvSpPr>
          <p:nvPr>
            <p:ph type="body" idx="1"/>
          </p:nvPr>
        </p:nvSpPr>
        <p:spPr>
          <a:xfrm>
            <a:off x="612900" y="715700"/>
            <a:ext cx="8119500" cy="44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1200"/>
              <a:t>Afton, A. (1979). Time Budget of Breeding Northern shovelers. The Wilson Bulletin. JSTOR, 91, 42–49. http://www.jstor.org/stable/4161165.</a:t>
            </a:r>
            <a:endParaRPr sz="1200"/>
          </a:p>
          <a:p>
            <a:pPr marL="0" lvl="0" indent="0" algn="l" rtl="0">
              <a:spcBef>
                <a:spcPts val="1200"/>
              </a:spcBef>
              <a:spcAft>
                <a:spcPts val="0"/>
              </a:spcAft>
              <a:buClr>
                <a:schemeClr val="dk1"/>
              </a:buClr>
              <a:buSzPts val="1100"/>
              <a:buFont typeface="Arial"/>
              <a:buNone/>
            </a:pPr>
            <a:endParaRPr sz="1200"/>
          </a:p>
          <a:p>
            <a:pPr marL="0" lvl="0" indent="0" algn="l" rtl="0">
              <a:spcBef>
                <a:spcPts val="1200"/>
              </a:spcBef>
              <a:spcAft>
                <a:spcPts val="0"/>
              </a:spcAft>
              <a:buClr>
                <a:schemeClr val="dk1"/>
              </a:buClr>
              <a:buSzPts val="1100"/>
              <a:buFont typeface="Arial"/>
              <a:buNone/>
            </a:pPr>
            <a:r>
              <a:rPr lang="en" sz="1200"/>
              <a:t>Guillemain, M., Fritz, H., Guillon, N. (2000). Foraging Behavior and Habitat Choice of Wintering Northern Shoveler in a Major Wintering Quarter in France. Waterbirds: The International Journal of Waterbird Biolog. JSTOR, 23, 353-363. https://doi.org/10.2307/1522173.</a:t>
            </a:r>
            <a:endParaRPr sz="1200"/>
          </a:p>
          <a:p>
            <a:pPr marL="0" lvl="0" indent="0" algn="l" rtl="0">
              <a:spcBef>
                <a:spcPts val="1200"/>
              </a:spcBef>
              <a:spcAft>
                <a:spcPts val="0"/>
              </a:spcAft>
              <a:buClr>
                <a:schemeClr val="dk1"/>
              </a:buClr>
              <a:buSzPts val="1100"/>
              <a:buFont typeface="Arial"/>
              <a:buNone/>
            </a:pPr>
            <a:endParaRPr sz="1200"/>
          </a:p>
          <a:p>
            <a:pPr marL="0" lvl="0" indent="0" algn="l" rtl="0">
              <a:spcBef>
                <a:spcPts val="1200"/>
              </a:spcBef>
              <a:spcAft>
                <a:spcPts val="0"/>
              </a:spcAft>
              <a:buClr>
                <a:schemeClr val="dk1"/>
              </a:buClr>
              <a:buSzPts val="1100"/>
              <a:buFont typeface="Arial"/>
              <a:buNone/>
            </a:pPr>
            <a:r>
              <a:rPr lang="en" sz="1200"/>
              <a:t>Rose, P.,  Roper, A., Banks, S., Giorgio, C., Timms, M., Vaughan, P., Hatch, S., Halpin, S., Thomas, J., O’Brien, M.(2022). Evaluation of the Time-Activity Budgets of Captive shovelers (Anatidae) Compared to Wild Counterparts. ScienceDirect, 251. https://doi.org/10.1016/j.applanim.2022.105626. </a:t>
            </a:r>
            <a:endParaRPr sz="1200"/>
          </a:p>
          <a:p>
            <a:pPr marL="0" lvl="0" indent="0" algn="l" rtl="0">
              <a:spcBef>
                <a:spcPts val="1200"/>
              </a:spcBef>
              <a:spcAft>
                <a:spcPts val="0"/>
              </a:spcAft>
              <a:buClr>
                <a:schemeClr val="dk1"/>
              </a:buClr>
              <a:buSzPts val="1100"/>
              <a:buFont typeface="Arial"/>
              <a:buNone/>
            </a:pPr>
            <a:endParaRPr sz="1200"/>
          </a:p>
          <a:p>
            <a:pPr marL="0" lvl="0" indent="0" algn="l" rtl="0">
              <a:spcBef>
                <a:spcPts val="1200"/>
              </a:spcBef>
              <a:spcAft>
                <a:spcPts val="1200"/>
              </a:spcAft>
              <a:buNone/>
            </a:pPr>
            <a:r>
              <a:rPr lang="en" sz="1200"/>
              <a:t>Webb, M. and Brotherson, J.D. (1988). Time-Activity Budgets of Drake Gadwall and Northern shovelers on Industrial Cooling Ponds During Late Winter and Early Spring in Central Utah: The Great Basin Naturalist. JSTOR, 48, 280-284. https://www.jstor.org/stable/41712437.</a:t>
            </a:r>
            <a:endParaRPr sz="120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TotalTime>
  <Words>4701</Words>
  <Application>Microsoft Macintosh PowerPoint</Application>
  <PresentationFormat>On-screen Show (16:9)</PresentationFormat>
  <Paragraphs>383</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Wingdings</vt:lpstr>
      <vt:lpstr>Simple Light</vt:lpstr>
      <vt:lpstr>PowerPoint Presentation</vt:lpstr>
      <vt:lpstr>Introduction – Background on the Study Species</vt:lpstr>
      <vt:lpstr>Introduction – Foraging Behaviors</vt:lpstr>
      <vt:lpstr>Significance – Why Does It Matter?</vt:lpstr>
      <vt:lpstr>Research Question – How does foraging behavior differ throughout different times of the day? Is this due to the time of the day, the sex of the bird, or other factors?</vt:lpstr>
      <vt:lpstr>Hypothesis – Due to human interference throughout the day, foraging frequencies of Northern shovelers will be affected regardless of sex.</vt:lpstr>
      <vt:lpstr>Methods</vt:lpstr>
      <vt:lpstr>Predictions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Literature Cited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Luong, Kim Ngoc</cp:lastModifiedBy>
  <cp:revision>7</cp:revision>
  <cp:lastPrinted>2026-05-08T02:10:47Z</cp:lastPrinted>
  <dcterms:modified xsi:type="dcterms:W3CDTF">2026-05-08T02:11:36Z</dcterms:modified>
</cp:coreProperties>
</file>